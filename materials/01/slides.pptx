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Slides/notesSlide1_tf1.xml" ContentType="application/vnd.openxmlformats-officedocument.presentationml.notesSlide+xml"/>
  <Override PartName="/ppt/notesSlides/notesSlide2_tf1.xml" ContentType="application/vnd.openxmlformats-officedocument.presentationml.notesSlide+xml"/>
  <Override PartName="/ppt/notesSlides/notesSlide4_tf1.xml" ContentType="application/vnd.openxmlformats-officedocument.presentationml.notesSlide+xml"/>
  <Override PartName="/ppt/notesSlides/notesSlide5_tf1.xml" ContentType="application/vnd.openxmlformats-officedocument.presentationml.notesSlide+xml"/>
  <Override PartName="/ppt/notesSlides/notesSlide6_tf1.xml" ContentType="application/vnd.openxmlformats-officedocument.presentationml.notesSlide+xml"/>
  <Override PartName="/ppt/notesSlides/notesSlide7_tf1.xml" ContentType="application/vnd.openxmlformats-officedocument.presentationml.notesSlide+xml"/>
  <Override PartName="/ppt/notesSlides/notesSlide8_tf1.xml" ContentType="application/vnd.openxmlformats-officedocument.presentationml.notesSlide+xml"/>
  <Override PartName="/ppt/notesSlides/notesSlide9_tf1.xml" ContentType="application/vnd.openxmlformats-officedocument.presentationml.notesSlide+xml"/>
  <Override PartName="/ppt/notesSlides/notesSlide11_tf1.xml" ContentType="application/vnd.openxmlformats-officedocument.presentationml.notesSlide+xml"/>
  <Override PartName="/ppt/notesSlides/notesSlide12_tf1.xml" ContentType="application/vnd.openxmlformats-officedocument.presentationml.notesSlide+xml"/>
  <Override PartName="/ppt/notesSlides/notesSlide13_tf1.xml" ContentType="application/vnd.openxmlformats-officedocument.presentationml.notesSlide+xml"/>
  <Override PartName="/ppt/notesSlides/notesSlide15_tf1.xml" ContentType="application/vnd.openxmlformats-officedocument.presentationml.notesSlide+xml"/>
  <Override PartName="/ppt/notesSlides/notesSlide17_tf1.xml" ContentType="application/vnd.openxmlformats-officedocument.presentationml.notesSlide+xml"/>
  <Override PartName="/ppt/notesSlides/notesSlide18_tf1.xml" ContentType="application/vnd.openxmlformats-officedocument.presentationml.notesSlide+xml"/>
  <Override PartName="/ppt/notesSlides/notesSlide19_tf1.xml" ContentType="application/vnd.openxmlformats-officedocument.presentationml.notesSlide+xml"/>
  <Override PartName="/ppt/notesSlides/notesSlide21_tf1.xml" ContentType="application/vnd.openxmlformats-officedocument.presentationml.notesSlide+xml"/>
  <Override PartName="/ppt/notesSlides/notesSlide22_tf1.xml" ContentType="application/vnd.openxmlformats-officedocument.presentationml.notesSlide+xml"/>
  <Override PartName="/ppt/notesSlides/notesSlide23_tf1.xml" ContentType="application/vnd.openxmlformats-officedocument.presentationml.notesSlide+xml"/>
  <Override PartName="/ppt/notesSlides/notesSlide24_tf1.xml" ContentType="application/vnd.openxmlformats-officedocument.presentationml.notesSlide+xml"/>
  <Override PartName="/ppt/slides/slide27.xml" ContentType="application/vnd.openxmlformats-officedocument.presentationml.slide+xml"/>
  <Override PartName="/ppt/notesSlides/notesSlide25_tf1.xml" ContentType="application/vnd.openxmlformats-officedocument.presentationml.notesSlide+xml"/>
  <Override PartName="/ppt/slides/slide28.xml" ContentType="application/vnd.openxmlformats-officedocument.presentationml.slide+xml"/>
  <Override PartName="/ppt/notesSlides/notesSlide26_tf1.xml" ContentType="application/vnd.openxmlformats-officedocument.presentationml.notesSlide+xml"/>
  <Override PartName="/ppt/slides/slide29.xml" ContentType="application/vnd.openxmlformats-officedocument.presentationml.slide+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3.xml" ContentType="application/vnd.openxmlformats-officedocument.presentationml.notesSlide+xml"/>
</Types>
</file>

<file path=_rels/.rels><?xml version='1.0' encoding='utf-8'?>
<Relationships xmlns="http://schemas.openxmlformats.org/package/2006/relationships"><Relationship Type="http://schemas.openxmlformats.org/package/2006/relationships/metadata/core-properties" Target="docProps/core.xml" Id="Rf4454f75a5a74f83"/><Relationship Type="http://schemas.openxmlformats.org/officeDocument/2006/relationships/extended-properties" Target="docProps/app.xml" Id="R78dcfdf17a65484c"/><Relationship Type="http://schemas.openxmlformats.org/officeDocument/2006/relationships/officeDocument" Target="ppt/presentation.xml" Id="R2ead707a66784d83"/></Relationships>
</file>

<file path=ppt/presentation.xml><?xml version="1.0" encoding="utf-8"?>
<p:presentation xmlns:p="http://schemas.openxmlformats.org/presentationml/2006/main" xmlns:r="http://schemas.openxmlformats.org/officeDocument/2006/relationships">
  <p:sldMasterIdLst>
    <p:sldMasterId id="2147483648" r:id="R23050bf6361d477d"/>
  </p:sldMasterIdLst>
  <p:notesMasterIdLst>
    <p:notesMasterId r:id="Re723b8f58dc54ff8"/>
  </p:notesMasterIdLst>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theme/theme1.xml" Id="R0e47117861944aa7" /><Relationship Type="http://schemas.openxmlformats.org/officeDocument/2006/relationships/slideMaster" Target="slideMasters/slideMaster1.xml" Id="R23050bf6361d477d" /><Relationship Type="http://schemas.openxmlformats.org/officeDocument/2006/relationships/notesMaster" Target="notesMasters/notesMaster1.xml" Id="Re723b8f58dc54ff8" /><Relationship Type="http://schemas.openxmlformats.org/officeDocument/2006/relationships/presProps" Target="presProps.xml" Id="Ra136ab729d8c49da" /><Relationship Type="http://schemas.openxmlformats.org/officeDocument/2006/relationships/tableStyles" Target="tableStyles.xml" Id="R2f627d2c400c4032" /><Relationship Id="rId1" Type="http://schemas.openxmlformats.org/officeDocument/2006/relationships/slide" Target="slides/slide1.xml" /><Relationship Id="rId2" Type="http://schemas.openxmlformats.org/officeDocument/2006/relationships/slide" Target="slides/slide2.xml" /><Relationship Id="rId3" Type="http://schemas.openxmlformats.org/officeDocument/2006/relationships/slide" Target="slides/slide3.xml" /><Relationship Id="rId4" Type="http://schemas.openxmlformats.org/officeDocument/2006/relationships/slide" Target="slides/slide4.xml" /><Relationship Id="rId5" Type="http://schemas.openxmlformats.org/officeDocument/2006/relationships/slide" Target="slides/slide5.xml" /><Relationship Id="rId6" Type="http://schemas.openxmlformats.org/officeDocument/2006/relationships/slide" Target="slides/slide6.xml" /><Relationship Id="rId7" Type="http://schemas.openxmlformats.org/officeDocument/2006/relationships/slide" Target="slides/slide7.xml" /><Relationship Id="rId8" Type="http://schemas.openxmlformats.org/officeDocument/2006/relationships/slide" Target="slides/slide8.xml" /><Relationship Id="rId9" Type="http://schemas.openxmlformats.org/officeDocument/2006/relationships/slide" Target="slides/slide9.xml" /><Relationship Id="rId10" Type="http://schemas.openxmlformats.org/officeDocument/2006/relationships/slide" Target="slides/slide10.xml" /><Relationship Id="rId11" Type="http://schemas.openxmlformats.org/officeDocument/2006/relationships/slide" Target="slides/slide11.xml" /><Relationship Id="rId12" Type="http://schemas.openxmlformats.org/officeDocument/2006/relationships/slide" Target="slides/slide12.xml" /><Relationship Id="rId13" Type="http://schemas.openxmlformats.org/officeDocument/2006/relationships/slide" Target="slides/slide13.xml" /><Relationship Id="rId14" Type="http://schemas.openxmlformats.org/officeDocument/2006/relationships/slide" Target="slides/slide14.xml" /><Relationship Id="rId15" Type="http://schemas.openxmlformats.org/officeDocument/2006/relationships/slide" Target="slides/slide15.xml" /><Relationship Id="rId16" Type="http://schemas.openxmlformats.org/officeDocument/2006/relationships/slide" Target="slides/slide16.xml" /><Relationship Id="rId17" Type="http://schemas.openxmlformats.org/officeDocument/2006/relationships/slide" Target="slides/slide17.xml" /><Relationship Id="rId18" Type="http://schemas.openxmlformats.org/officeDocument/2006/relationships/slide" Target="slides/slide18.xml" /><Relationship Id="rId19" Type="http://schemas.openxmlformats.org/officeDocument/2006/relationships/slide" Target="slides/slide19.xml" /><Relationship Id="rId20" Type="http://schemas.openxmlformats.org/officeDocument/2006/relationships/slide" Target="slides/slide20.xml" /><Relationship Id="rId21" Type="http://schemas.openxmlformats.org/officeDocument/2006/relationships/slide" Target="slides/slide21.xml" /><Relationship Id="rId22" Type="http://schemas.openxmlformats.org/officeDocument/2006/relationships/slide" Target="slides/slide22.xml" /><Relationship Id="rId23" Type="http://schemas.openxmlformats.org/officeDocument/2006/relationships/slide" Target="slides/slide23.xml" /><Relationship Id="rId24" Type="http://schemas.openxmlformats.org/officeDocument/2006/relationships/slide" Target="slides/slide24.xml" /><Relationship Id="rId25" Type="http://schemas.openxmlformats.org/officeDocument/2006/relationships/slide" Target="slides/slide25.xml" /><Relationship Id="rId26" Type="http://schemas.openxmlformats.org/officeDocument/2006/relationships/slide" Target="slides/slide26.xml" /><Relationship Id="rId27" Type="http://schemas.openxmlformats.org/officeDocument/2006/relationships/slide" Target="slides/slide27.xml" /><Relationship Id="rId28" Type="http://schemas.openxmlformats.org/officeDocument/2006/relationships/slide" Target="slides/slide28.xml" /><Relationship Id="rId29" Type="http://schemas.openxmlformats.org/officeDocument/2006/relationships/slide" Target="slides/slide29.xml" /></Relationships>
</file>

<file path=ppt/notesMasters/_rels/notesMaster1.xml.rels><?xml version='1.0' encoding='utf-8'?>
<Relationships xmlns="http://schemas.openxmlformats.org/package/2006/relationships"><Relationship Type="http://schemas.openxmlformats.org/officeDocument/2006/relationships/theme" Target="theme/theme3.xml" Id="Re54f76ca21f5419e"/></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_tf1.xml.rels><?xml version='1.0' encoding='utf-8'?>
<Relationships xmlns="http://schemas.openxmlformats.org/package/2006/relationships"><Relationship Type="http://schemas.openxmlformats.org/officeDocument/2006/relationships/slide" Target="../slides/slide1.xml" Id="R6ca5fcc17d514f09" /><Relationship Type="http://schemas.openxmlformats.org/officeDocument/2006/relationships/notesMaster" Target="../notesMasters/notesMaster1.xml" Id="R1b513086ec534344" /></Relationships>
</file>

<file path=ppt/notesSlides/_rels/notesSlide2_tf1.xml.rels><?xml version='1.0' encoding='utf-8'?>
<Relationships xmlns="http://schemas.openxmlformats.org/package/2006/relationships"><Relationship Type="http://schemas.openxmlformats.org/officeDocument/2006/relationships/slide" Target="../slides/slide2.xml" Id="R3273adda35054852" /><Relationship Type="http://schemas.openxmlformats.org/officeDocument/2006/relationships/notesMaster" Target="../notesMasters/notesMaster1.xml" Id="R74c0eef5f8914b14"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_tf1.xml.rels><?xml version='1.0' encoding='utf-8'?>
<Relationships xmlns="http://schemas.openxmlformats.org/package/2006/relationships"><Relationship Type="http://schemas.openxmlformats.org/officeDocument/2006/relationships/slide" Target="../slides/slide4.xml" Id="R22708d3659e54c92" /><Relationship Type="http://schemas.openxmlformats.org/officeDocument/2006/relationships/notesMaster" Target="../notesMasters/notesMaster1.xml" Id="R79b30411e4924b99" /></Relationships>
</file>

<file path=ppt/notesSlides/_rels/notesSlide5_tf1.xml.rels><?xml version='1.0' encoding='utf-8'?>
<Relationships xmlns="http://schemas.openxmlformats.org/package/2006/relationships"><Relationship Type="http://schemas.openxmlformats.org/officeDocument/2006/relationships/slide" Target="../slides/slide5.xml" Id="R6aba3c81a7f3488d" /><Relationship Type="http://schemas.openxmlformats.org/officeDocument/2006/relationships/notesMaster" Target="../notesMasters/notesMaster1.xml" Id="R72ad7650a1514f12" /></Relationships>
</file>

<file path=ppt/notesSlides/_rels/notesSlide6_tf1.xml.rels><?xml version='1.0' encoding='utf-8'?>
<Relationships xmlns="http://schemas.openxmlformats.org/package/2006/relationships"><Relationship Type="http://schemas.openxmlformats.org/officeDocument/2006/relationships/slide" Target="../slides/slide6.xml" Id="Re46d234520a9489b" /><Relationship Type="http://schemas.openxmlformats.org/officeDocument/2006/relationships/notesMaster" Target="../notesMasters/notesMaster1.xml" Id="R97db71312eed400d" /></Relationships>
</file>

<file path=ppt/notesSlides/_rels/notesSlide7_tf1.xml.rels><?xml version='1.0' encoding='utf-8'?>
<Relationships xmlns="http://schemas.openxmlformats.org/package/2006/relationships"><Relationship Type="http://schemas.openxmlformats.org/officeDocument/2006/relationships/slide" Target="../slides/slide7.xml" Id="R1765cde16d994acd" /><Relationship Type="http://schemas.openxmlformats.org/officeDocument/2006/relationships/notesMaster" Target="../notesMasters/notesMaster1.xml" Id="R20cf4ac449694750" /></Relationships>
</file>

<file path=ppt/notesSlides/_rels/notesSlide8_tf1.xml.rels><?xml version='1.0' encoding='utf-8'?>
<Relationships xmlns="http://schemas.openxmlformats.org/package/2006/relationships"><Relationship Type="http://schemas.openxmlformats.org/officeDocument/2006/relationships/slide" Target="../slides/slide8.xml" Id="R3e79a9eed0254cc6" /><Relationship Type="http://schemas.openxmlformats.org/officeDocument/2006/relationships/notesMaster" Target="../notesMasters/notesMaster1.xml" Id="R10c519f6e8284f60" /></Relationships>
</file>

<file path=ppt/notesSlides/_rels/notesSlide9_tf1.xml.rels><?xml version='1.0' encoding='utf-8'?>
<Relationships xmlns="http://schemas.openxmlformats.org/package/2006/relationships"><Relationship Type="http://schemas.openxmlformats.org/officeDocument/2006/relationships/slide" Target="../slides/slide9.xml" Id="R1769a4fd971245d7" /><Relationship Type="http://schemas.openxmlformats.org/officeDocument/2006/relationships/notesMaster" Target="../notesMasters/notesMaster1.xml" Id="R1962dca648764221"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1_tf1.xml.rels><?xml version='1.0' encoding='utf-8'?>
<Relationships xmlns="http://schemas.openxmlformats.org/package/2006/relationships"><Relationship Type="http://schemas.openxmlformats.org/officeDocument/2006/relationships/slide" Target="../slides/slide14.xml" Id="R5c6d197ecc1a410b" /><Relationship Type="http://schemas.openxmlformats.org/officeDocument/2006/relationships/notesMaster" Target="../notesMasters/notesMaster1.xml" Id="R1634dc2196664df9"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2_tf1.xml.rels><?xml version='1.0' encoding='utf-8'?>
<Relationships xmlns="http://schemas.openxmlformats.org/package/2006/relationships"><Relationship Type="http://schemas.openxmlformats.org/officeDocument/2006/relationships/slide" Target="../slides/slide15.xml" Id="Rdf91c371ab514c3c" /><Relationship Type="http://schemas.openxmlformats.org/officeDocument/2006/relationships/notesMaster" Target="../notesMasters/notesMaster1.xml" Id="R1b8ce46a81da40ca"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3_tf1.xml.rels><?xml version='1.0' encoding='utf-8'?>
<Relationships xmlns="http://schemas.openxmlformats.org/package/2006/relationships"><Relationship Type="http://schemas.openxmlformats.org/officeDocument/2006/relationships/slide" Target="../slides/slide16.xml" Id="Rfe2f6f3112504c6b" /><Relationship Type="http://schemas.openxmlformats.org/officeDocument/2006/relationships/notesMaster" Target="../notesMasters/notesMaster1.xml" Id="R2eb4d33f43b44205" /></Relationships>
</file>

<file path=ppt/notesSlides/_rels/notesSlide15_tf1.xml.rels><?xml version='1.0' encoding='utf-8'?>
<Relationships xmlns="http://schemas.openxmlformats.org/package/2006/relationships"><Relationship Type="http://schemas.openxmlformats.org/officeDocument/2006/relationships/slide" Target="../slides/slide18.xml" Id="R352f2682b91a4846" /><Relationship Type="http://schemas.openxmlformats.org/officeDocument/2006/relationships/notesMaster" Target="../notesMasters/notesMaster1.xml" Id="Rfbd5c9a87fc94a2b"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7_tf1.xml.rels><?xml version='1.0' encoding='utf-8'?>
<Relationships xmlns="http://schemas.openxmlformats.org/package/2006/relationships"><Relationship Type="http://schemas.openxmlformats.org/officeDocument/2006/relationships/slide" Target="../slides/slide20.xml" Id="Rfa157b4023fd431f" /><Relationship Type="http://schemas.openxmlformats.org/officeDocument/2006/relationships/notesMaster" Target="../notesMasters/notesMaster1.xml" Id="Rbc27b14a66354b92" /></Relationships>
</file>

<file path=ppt/notesSlides/_rels/notesSlide18_tf1.xml.rels><?xml version='1.0' encoding='utf-8'?>
<Relationships xmlns="http://schemas.openxmlformats.org/package/2006/relationships"><Relationship Type="http://schemas.openxmlformats.org/officeDocument/2006/relationships/slide" Target="../slides/slide21.xml" Id="R7ad5678d0ad64844" /><Relationship Type="http://schemas.openxmlformats.org/officeDocument/2006/relationships/notesMaster" Target="../notesMasters/notesMaster1.xml" Id="R32b0d47448cb4e19"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19_tf1.xml.rels><?xml version='1.0' encoding='utf-8'?>
<Relationships xmlns="http://schemas.openxmlformats.org/package/2006/relationships"><Relationship Type="http://schemas.openxmlformats.org/officeDocument/2006/relationships/slide" Target="../slides/slide22.xml" Id="R7be0b3633df04d3a" /><Relationship Type="http://schemas.openxmlformats.org/officeDocument/2006/relationships/notesMaster" Target="../notesMasters/notesMaster1.xml" Id="Ra076ae809b954a83" /></Relationships>
</file>

<file path=ppt/notesSlides/_rels/notesSlide21_tf1.xml.rels><?xml version='1.0' encoding='utf-8'?>
<Relationships xmlns="http://schemas.openxmlformats.org/package/2006/relationships"><Relationship Type="http://schemas.openxmlformats.org/officeDocument/2006/relationships/slide" Target="../slides/slide24.xml" Id="R1cf30ddc61334cd3" /><Relationship Type="http://schemas.openxmlformats.org/officeDocument/2006/relationships/notesMaster" Target="../notesMasters/notesMaster1.xml" Id="Re0413396a6af4dbf" /></Relationships>
</file>

<file path=ppt/notesSlides/_rels/notesSlide22_tf1.xml.rels><?xml version='1.0' encoding='utf-8'?>
<Relationships xmlns="http://schemas.openxmlformats.org/package/2006/relationships"><Relationship Type="http://schemas.openxmlformats.org/officeDocument/2006/relationships/slide" Target="../slides/slide25.xml" Id="R6dde86e8d6b84a9e" /><Relationship Type="http://schemas.openxmlformats.org/officeDocument/2006/relationships/notesMaster" Target="../notesMasters/notesMaster1.xml" Id="Rdd1449c3f09847bc"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3_tf1.xml.rels><?xml version='1.0' encoding='utf-8'?>
<Relationships xmlns="http://schemas.openxmlformats.org/package/2006/relationships"><Relationship Type="http://schemas.openxmlformats.org/officeDocument/2006/relationships/slide" Target="../slides/slide26.xml" Id="Rc12af10d3d5149ad" /><Relationship Type="http://schemas.openxmlformats.org/officeDocument/2006/relationships/notesMaster" Target="../notesMasters/notesMaster1.xml" Id="R9ab09774c7d34f31" /></Relationships>
</file>

<file path=ppt/notesSlides/_rels/notesSlide24_tf1.xml.rels><?xml version='1.0' encoding='utf-8'?>
<Relationships xmlns="http://schemas.openxmlformats.org/package/2006/relationships"><Relationship Type="http://schemas.openxmlformats.org/officeDocument/2006/relationships/slide" Target="../slides/slide27.xml" Id="Raa517d4e9540479d" /><Relationship Type="http://schemas.openxmlformats.org/officeDocument/2006/relationships/notesMaster" Target="../notesMasters/notesMaster1.xml" Id="Rc6c4bf9b576d4ae6" /></Relationships>
</file>

<file path=ppt/notesSlides/_rels/notesSlide25_tf1.xml.rels><?xml version='1.0' encoding='utf-8'?>
<Relationships xmlns="http://schemas.openxmlformats.org/package/2006/relationships"><Relationship Type="http://schemas.openxmlformats.org/officeDocument/2006/relationships/slide" Target="../slides/slide28.xml" Id="Reb732d2ad44b4d70" /><Relationship Type="http://schemas.openxmlformats.org/officeDocument/2006/relationships/notesMaster" Target="../notesMasters/notesMaster1.xml" Id="R4be9889041904334" /></Relationships>
</file>

<file path=ppt/notesSlides/_rels/notesSlide26_tf1.xml.rels><?xml version='1.0' encoding='utf-8'?>
<Relationships xmlns="http://schemas.openxmlformats.org/package/2006/relationships"><Relationship Type="http://schemas.openxmlformats.org/officeDocument/2006/relationships/slide" Target="../slides/slide29.xml" Id="R4511b0eb15c54baa" /><Relationship Type="http://schemas.openxmlformats.org/officeDocument/2006/relationships/notesMaster" Target="../notesMasters/notesMaster1.xml" Id="Ra353136f3c9849e6" /></Relationships>
</file>

<file path=ppt/notesSlides/notesSlide1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ガイダンスは、曹研究室に入るB3学生のための学習案内です。15回を通して、プログラムを動かす基礎、制御と物理シミュレーション、研究への参加、AIを使った小さな比較実験へ進みます。教材を読み、自分で試し、結果を説明することを大切にします。表紙の倒立振子は学習対象を表す概念図で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到達目標は三つです。まず、配布されたプログラムを実行するだけでなく、どこを変更したか、その変更で何が起きたかを説明します。次に、比較の条件をそろえ、結果を図や数値で示します。最後に、結果から言えることと未解決の点を分けて、次の行動を考えます。高度な理論を最初から知っている必要はありません。</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前半ではPythonと制御の共通の道具を学びます。第9回から第11回は業界研究会に参加します。第12回の内容は別途案内します。第13回から第15回はB3のAIプロジェクトです。第1回と第2回はPPT発表を行いません。</a:t>
            </a:r>
          </a:p>
        </p:txBody>
      </p:sp>
    </p:spTree>
  </p:cSld>
  <p:clrMapOvr>
    <a:masterClrMapping/>
  </p:clrMapOvr>
</p:notes>
</file>

<file path=ppt/notesSlides/notesSlide4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研究室の研究を、入門者向けに計測、モデル、制御、学習という働きで整理しています。これは研究分野を四つに限定する分類ではありません。人に接するロボット、身体運動の計測、力学に基づく支援、データからの動作理解など、研究課題に応じて方法を組み合わせます。ここからは、既往研究と現在の取り組みを具体例で見ていきます。</a:t>
            </a:r>
          </a:p>
          <a:p xmlns:a="http://schemas.openxmlformats.org/drawingml/2006/main">
            <a:r>
              <a:t/>
            </a:r>
          </a:p>
          <a:p xmlns:a="http://schemas.openxmlformats.org/drawingml/2006/main">
            <a:r>
              <a:t>出典・教材の根拠</a:t>
            </a:r>
          </a:p>
          <a:p xmlns:a="http://schemas.openxmlformats.org/drawingml/2006/main">
            <a:r>
              <a:t>/home/jason/文档/研究室运营/曹晟研究梳理_2026-09-14/研究全貌.md</a:t>
            </a:r>
          </a:p>
          <a:p xmlns:a="http://schemas.openxmlformats.org/drawingml/2006/main">
            <a:r>
              <a:t>/home/jason/文档/研究室运营/v26_共振結果簡略化/exports/研究シーズ紹介_v26_共振結果簡略化.pptx：実際の第3・46ページ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左右のハンドルを操作し、仮想空間の物体に触れたときの力を手に返す研究です。関節角の計測、仮想環境の接触計算、モータの制御がつながっています。画面にある積み木は元研究の課題の一つです。ここでは装置、課題、基礎実験を紹介しています。患者の回復効果を示すものとして扱いません。初学者は、システムの中をどの情報が流れるかを説明するところから入れます。</a:t>
            </a:r>
          </a:p>
          <a:p xmlns:a="http://schemas.openxmlformats.org/drawingml/2006/main">
            <a:r>
              <a:t/>
            </a:r>
          </a:p>
          <a:p xmlns:a="http://schemas.openxmlformats.org/drawingml/2006/main">
            <a:r>
              <a:t>出典・教材の根拠</a:t>
            </a:r>
          </a:p>
          <a:p xmlns:a="http://schemas.openxmlformats.org/drawingml/2006/main">
            <a:r>
              <a:t>Cao et al., International Journal of Applied Electromagnetics and Mechanics 52 (2016), 943–950. DOI:10.3233/JAE-162088</a:t>
            </a:r>
          </a:p>
          <a:p xmlns:a="http://schemas.openxmlformats.org/drawingml/2006/main">
            <a:r>
              <a:t>/home/jason/文档/研究室运营/v26_共振結果簡略化/exports/研究シーズ紹介_v26_共振結果簡略化.pptx：実際の第22–24ページ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身体を周期的に動かす装置で、肩の動きを動画から調べた研究例です。元映像と、OpenPoseで関節点を推定した画像を並べています。推定した位置を時間順に並べると、揺れ方や周期を調べられます。画像上の位置から得た情報と、力や剛性の推定は区別します。まずは座標の取り出し、欠測の確認、グラフ化という基本作業が入口です。</a:t>
            </a:r>
          </a:p>
          <a:p xmlns:a="http://schemas.openxmlformats.org/drawingml/2006/main">
            <a:r>
              <a:t/>
            </a:r>
          </a:p>
          <a:p xmlns:a="http://schemas.openxmlformats.org/drawingml/2006/main">
            <a:r>
              <a:t>出典・教材の根拠</a:t>
            </a:r>
          </a:p>
          <a:p xmlns:a="http://schemas.openxmlformats.org/drawingml/2006/main">
            <a:r>
              <a:t>本荘友毅『脊椎スティフネスのオンライン推定に関する研究』修士論文 (2023), 第3–4章</a:t>
            </a:r>
          </a:p>
          <a:p xmlns:a="http://schemas.openxmlformats.org/drawingml/2006/main">
            <a:r>
              <a:t>/home/jason/文档/研究室运营/v26_共振結果簡略化/exports/研究シーズ紹介_v26_共振結果簡略化.pptx：実際の第12–14ページ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起立補助を、身体と支援装置を含むモデルで比較した例です。手すりの高さや支える強さを変えると、膝だけでなく肩や手にかかる負担も変化します。したがって、ある一つの量が小さくなっただけで全体がよくなったとは決められません。結果はモデルと設定条件に依存します。全員に最適な高さや、人体で確かめた効果として紹介しないようにします。</a:t>
            </a:r>
          </a:p>
          <a:p xmlns:a="http://schemas.openxmlformats.org/drawingml/2006/main">
            <a:r>
              <a:t/>
            </a:r>
          </a:p>
          <a:p xmlns:a="http://schemas.openxmlformats.org/drawingml/2006/main">
            <a:r>
              <a:t>出典・教材の根拠</a:t>
            </a:r>
          </a:p>
          <a:p xmlns:a="http://schemas.openxmlformats.org/drawingml/2006/main">
            <a:r>
              <a:t>Cao et al., ICICIC 2024, 起立補助の動力学シミュレーション研究</a:t>
            </a:r>
          </a:p>
          <a:p xmlns:a="http://schemas.openxmlformats.org/drawingml/2006/main">
            <a:r>
              <a:t>/home/jason/文档/研究室运营/v26_共振結果簡略化/exports/研究シーズ紹介_v26_共振結果簡略化.pptx：実際の第27–28ページ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適制御では、目標への正確さや動きの滑らかさなど、評価基準を与えて動きを計算します。逆最適制御では向きを変え、観測した動きを説明できる評価基準を調べます。どちらも運動モデルや制約などの仮定が必要です。動きを見れば必ず人の本当の意図が分かる、という意味ではありません。このコースでは、まず自分で制御条件を変えて動きの違いを見ることを学びます。</a:t>
            </a:r>
          </a:p>
          <a:p xmlns:a="http://schemas.openxmlformats.org/drawingml/2006/main">
            <a:r>
              <a:t/>
            </a:r>
          </a:p>
          <a:p xmlns:a="http://schemas.openxmlformats.org/drawingml/2006/main">
            <a:r>
              <a:t>出典・教材の根拠</a:t>
            </a:r>
          </a:p>
          <a:p xmlns:a="http://schemas.openxmlformats.org/drawingml/2006/main">
            <a:r>
              <a:t>/home/jason/文档/研究室运营/v26_共振結果簡略化/exports/研究シーズ紹介_v26_共振結果簡略化.pptx：実際の第38・41–43ページ</a:t>
            </a:r>
          </a:p>
          <a:p xmlns:a="http://schemas.openxmlformats.org/drawingml/2006/main">
            <a:r>
              <a:t>/home/jason/文档/研究室运营/研究原始材料重读_20260915/全部项目详细汇报_20260916.md：SIOC・Online IOC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音声を画像系列に変換してパターンを分類する、既往の共同研究を紹介しています。初学者が注目する点はモデル名の暗記ではなく、何を入力し、何を出力し、何と比較するかです。同じ人の記録が学習側と評価側に混ざらないように分けることも、結果の解釈に関係します。このページはデータセット内での研究例であり、そのまま診断能力を示す説明ではありません。</a:t>
            </a:r>
          </a:p>
          <a:p xmlns:a="http://schemas.openxmlformats.org/drawingml/2006/main">
            <a:r>
              <a:t/>
            </a:r>
          </a:p>
          <a:p xmlns:a="http://schemas.openxmlformats.org/drawingml/2006/main">
            <a:r>
              <a:t>出典・教材の根拠</a:t>
            </a:r>
          </a:p>
          <a:p xmlns:a="http://schemas.openxmlformats.org/drawingml/2006/main">
            <a:r>
              <a:t>Fujita et al., Applied Sciences 11 (2021), 4361</a:t>
            </a:r>
          </a:p>
          <a:p xmlns:a="http://schemas.openxmlformats.org/drawingml/2006/main">
            <a:r>
              <a:t>/home/jason/文档/研究室运营/v26_共振結果簡略化/exports/研究シーズ紹介_v26_共振結果簡略化.pptx：実際の第35–37ページ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研究室のテーマに関わる入口の例です。人体の動きとロボットの違いや、人と装置の接続条件を、再現と比較を通して調べます。これらは第9回から第11回の業界研究会とは別の研究紹介です。具体的な参加方法は関心と準備状況に合わせて相談します。</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大学院では、専門を深めながら研究の経験を積むことができます。福工大大学院の2025年度の公表値では、9割以上が上場およびそれに準する大手・中堅企業に就職しています。これは全専攻の実績であり、個人の就職や、進学による効果を保証する数字ではありません。会社名とともに、自分がどんな開発に関わりたいかを考えてみてください。</a:t>
            </a:r>
          </a:p>
          <a:p>
            <a:pPr/>
            <a:endParaRPr lang="ja-JP" dirty="0"/>
          </a:p>
          <a:p>
            <a:pPr/>
            <a:r>
              <a:rPr lang="ja-JP" dirty="0"/>
              <a:t>出典（2026年9月24日確認）：https://www.grd.fit.ac.jp/syusyoku/jyokyo/</a:t>
            </a:r>
          </a:p>
          <a:p>
            <a:pPr/>
            <a:r>
              <a:rPr lang="ja-JP" dirty="0"/>
              <a:t>大学院での専門性と進路に関する参考：https://www.fit.ac.jp/start/fit_tech/</a:t>
            </a:r>
          </a:p>
        </p:txBody>
      </p:sp>
    </p:spTree>
  </p:cSld>
  <p:clrMapOvr>
    <a:masterClrMapping/>
  </p:clrMapOvr>
</p:notes>
</file>

<file path=ppt/notesSlides/notesSlide11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倒立振子は、状態、入力、モデル、フィードバックを同じ対象で繰り返し確認するための共通題材です。図は小車型を示す概念図で、授業で使うモデルの細部を確定するものではありません。角度だけでなく、位置や速度も必要になることを考えます。最初は動きの観察から始め、制御を加え、条件を変えて比較し、最後は学習した方法との比較へつなげ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a:p xmlns:a="http://schemas.openxmlformats.org/drawingml/2006/main">
            <a:r>
              <a:t>概念イラスト：画像生成による倒立振子の模式図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AIは、自動車の運転支援や日常業務、ソフトウェア開発にも使われています。日産の例は運転者の監視を必要とするL2の試作車です。富士通の例は開発基盤の運用開始を示しており、すべての開発やプログラマが不要になったという意味ではありません。機械や数学、プログラムの基礎を学び、AIの出力を自分で確かめる力を育てましょう。</a:t>
            </a:r>
          </a:p>
          <a:p>
            <a:pPr/>
            <a:endParaRPr lang="ja-JP" dirty="0"/>
          </a:p>
          <a:p>
            <a:pPr/>
            <a:r>
              <a:rPr lang="ja-JP" dirty="0"/>
              <a:t>出典（2026年9月24日確認）：</a:t>
            </a:r>
          </a:p>
          <a:p>
            <a:pPr/>
            <a:r>
              <a:rPr lang="ja-JP" dirty="0"/>
              <a:t>日産：https://www.nissan-global.com/JP/INNOVATION/TECHNOLOGY/ARCHIVE/NEXT_GEN_PROPILOT/</a:t>
            </a:r>
          </a:p>
          <a:p>
            <a:pPr/>
            <a:r>
              <a:rPr lang="ja-JP" dirty="0"/>
              <a:t>LINEヤフー：https://www.lycorp.co.jp/ja/news/release/018121/</a:t>
            </a:r>
          </a:p>
          <a:p>
            <a:pPr/>
            <a:r>
              <a:rPr lang="ja-JP" dirty="0"/>
              <a:t>富士通：https://global.fujitsu/ja-jp/pr/news/2026/02/17-01</a:t>
            </a:r>
          </a:p>
        </p:txBody>
      </p:sp>
    </p:spTree>
  </p:cSld>
  <p:clrMapOvr>
    <a:masterClrMapping/>
  </p:clrMapOvr>
</p:notes>
</file>

<file path=ppt/notesSlides/notesSlide12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abは各自のプログラムと学習記録の入口です。MuJoCoは物理モデルを動かし、制御と応答を比較するために使います。対話的な仮想環境の操作など、必要な回は研究室のPCを利用します。実際のセットアップは配布するNotebookや操作資料に沿って行います。初回はMuJoCoの導入やAI学習まで一度に進めず、Colabと簡単なPythonの理解を優先し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講義を聴いたり試験勉強をしたりすることに苦手意識があっても、ものづくりや試行錯誤に関心がある人は、研究を通して学ぶ面白さを見つけられるかもしれません。大学院にも授業があり、基礎知識は必要ですが、研究では自分のテーマを進めるために必要な知識を主体的に学びます。例えば倒立振子を安定させたいと思ったとき、動きを試し、必要な力学や制御、プログラムを調べ、もう一度確かめます。うまくいかない理由を考え、結果を根拠とともに説明する経験を積んでいきます。</a:t>
            </a:r>
          </a:p>
        </p:txBody>
      </p:sp>
    </p:spTree>
  </p:cSld>
  <p:clrMapOvr>
    <a:masterClrMapping/>
  </p:clrMapOvr>
</p:notes>
</file>

<file path=ppt/notesSlides/notesSlide13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前半の予定です。第1回はColabと簡単なPython、第2回はPythonの基礎を広げてデータと図を扱います。第3回からMuJoCoと倒立振子を使い、毎回、取り組んだ内容を説明します。第4回は状態と無制御の応答をまとめます。第5〜7回でフィードバック、モデルとの関係、条件を変えた比較を進め、第8回に制御の学習をまとめます。具体的な制御手法の難しさは、共通モデルと準備状況に合わせて調整し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のコースは反転学習として進めます。教員が最初から最後まで手順を実演し、全員がそれを写す形式ではありません。授業前に資料を読んで実行を試し、授業では結果や疑問を説明して議論します。分からないときは、何を試し、何が起きたかを伝えます。第1・2回はPPT発表の代わりに、Notebookと学習記録を確認し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第9回から第11回は、それぞれ業界研究会1、2、3に参加します。参加後は、知った技術や仕事、質問したことを記録してください。第12回は内容と提出物が決まり次第案内します。第13回から第15回はAIの小課題に取り組み、比較条件と結果を説明します。</a:t>
            </a:r>
          </a:p>
        </p:txBody>
      </p:sp>
    </p:spTree>
  </p:cSld>
  <p:clrMapOvr>
    <a:masterClrMapping/>
  </p:clrMapOvr>
</p:notes>
</file>

<file path=ppt/notesSlides/notesSlide17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比較実験の例です。ここには実験結果の曲線を載せず、比較の設計だけを示しています。ゲインを比較するときは、初期状態やモデル、時間刻みなどをそろえます。状態の応答と入力を両方記録し、何をもってよいと判断するかを明確にします。大きいゲインが常によいとは限りません。試した条件と観測した結果を残すことが、小さな研究の基本で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a:p xmlns:a="http://schemas.openxmlformats.org/drawingml/2006/main">
            <a:r>
              <a:t>授業用の比較設計例。実測値・シミュレーション結果ではない。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自の学習計画を作ります。最初は、今できることと確認したい基礎を書きます。そのうえで今週の具体的な目標を決め、自習の予定を確保します。相談したい点は、試した内容と合わせて書くと議論しやすくなります。グループで協力しても、自分が変更したコードや、自分の言葉で説明できることを一人ずつ残し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発表では問い、方法、結果、考察、次に試すことを、図や数値と一緒に説明します。短い発表は3枚から5枚を目安にします。第4回、第8回、第15回はまとめの発表です。第12回は別途案内します。</a:t>
            </a:r>
          </a:p>
        </p:txBody>
      </p:sp>
    </p:spTree>
  </p:cSld>
  <p:clrMapOvr>
    <a:masterClrMapping/>
  </p:clrMapOvr>
</p:notes>
</file>

<file path=ppt/notesSlides/notesSlide19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初回はColabと簡単なPythonに取り組みます。配布されたNotebookを開いて個人のコピーを保存し、コードを実行します。変数の値を変える前に、出力がどうなるか予想してください。右の例では秒速1.2メートルで5秒進む距離を計算しています。値を変えて結果を確かめ、単位も含めて説明します。初回にはif、for、カウンタ、変数名と初期化位置のデバッグも含めます。関数、MuJoCo、AIは後続回で扱い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edは秒速1.2メートル、time_sは5秒、distanceは6メートルです。time_sだけを書き換え、再実行して結果を確認します。実行済みの値が残ることがあるため、最後はランタイムを再起動して上から実行します。型の確認、print、代入の意味を隣の人へ説明してください。</a:t>
            </a:r>
          </a:p>
          <a:p xmlns:a="http://schemas.openxmlformats.org/drawingml/2006/main">
            <a:r>
              <a:t/>
            </a:r>
          </a:p>
          <a:p xmlns:a="http://schemas.openxmlformats.org/drawingml/2006/main">
            <a:r>
              <a:t>出典・教材の根拠</a:t>
            </a:r>
          </a:p>
          <a:p xmlns:a="http://schemas.openxmlformats.org/drawingml/2006/main">
            <a:r>
              <a:t>https://docs.python.org/ja/3/tutorial/introduction.html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これは架空の角度データです。先頭の要素は0、要素数は5、平均は2度です。リストの中身を一つ変更し、平均の変化を予想します。空のリストではこの平均式が使えないことも確認課題として扱えます。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ja-JP" dirty="0"/>
              <a:t>最初の20分でコースと研究室、進路の資料を読みます。進路の3ページは合計3分程度が目安です。その後は配布Notebookの例を読み、予想して実行し、確認問題に答えてください。内積はまずNumPyの配列と@で確かめ、他の書き方は参考にします。固有値は図と対角行列の計算を体験し、難しい変式は後で復習します。</a:t>
            </a:r>
          </a:p>
        </p:txBody>
      </p:sp>
    </p:spTree>
  </p:cSld>
  <p:clrMapOvr>
    <a:masterClrMapping/>
  </p:clrMapOvr>
</p:notes>
</file>

<file path=ppt/notesSlides/notesSlide23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条件は絶対値が5より大きい場合です。-6と6はoutside、-5と0と5はinsideです。インデントされた行が条件に応じて実行されます。境界の値で実行することが、プログラムの確認に役立ちます。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出力は2です。カウンタはループの前で初期化し、条件を満たしたときだけ一つ増やします。count=0をループの中へ移すと、値が毎回リセットされることを実際に確かめます。配布学生Notebookの総合問題には、学生が修正する未完成箇所がありま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配布Notebookでは、NameErrorを起こす行は最初コメントになっています。学習時に外してエラーを見て、修正してから提出します。別の課題では例外が出なくてもカウンタの初期化位置が誤っており、答えが違います。両者を区別することが目標で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_tf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に、自分のNotebookで実行、変更、説明の三つができるかを確認します。指定された方法でNotebookと学習メモを提出してください。メモには変更したこと、分かったこと、まだ分からないことを書きます。初回と第2回はPPT発表をせず、この記録で進み具合を確かめます。次回はPythonの基礎を広げ、データを整理して図にする作業へ進みます。</a:t>
            </a:r>
          </a:p>
          <a:p xmlns:a="http://schemas.openxmlformats.org/drawingml/2006/main">
            <a:r>
              <a:t/>
            </a:r>
          </a:p>
          <a:p xmlns:a="http://schemas.openxmlformats.org/drawingml/2006/main">
            <a:r>
              <a:t>出典・教材の根拠</a:t>
            </a:r>
          </a:p>
          <a:p xmlns:a="http://schemas.openxmlformats.org/drawingml/2006/main">
            <a:r>
              <a:t>/home/jason/文档/研究室运营/B3_倒立摆翻转学习_2026秋/B3_课程准备笔记.md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Relationships xmlns="http://schemas.openxmlformats.org/package/2006/relationships"><Relationship Type="http://schemas.openxmlformats.org/officeDocument/2006/relationships/slideMaster" Target="../slideMasters/slideMaster1.xml" Id="R705704f3594447df"/></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Relationships xmlns="http://schemas.openxmlformats.org/package/2006/relationships"><Relationship Type="http://schemas.openxmlformats.org/officeDocument/2006/relationships/theme" Target="theme/theme2.xml" Id="Rf5d21530aa5d4098"/><Relationship Type="http://schemas.openxmlformats.org/officeDocument/2006/relationships/slideLayout" Target="../slideLayouts/slideLayout1.xml" Id="Ra000e291b72e4f3c"/></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00e291b72e4f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Relationships xmlns="http://schemas.openxmlformats.org/package/2006/relationships"><Relationship Type="http://schemas.openxmlformats.org/officeDocument/2006/relationships/slideLayout" Target="../slideLayouts/slideLayout1.xml" Id="R229f298e1d4247c8" /><Relationship Type="http://schemas.openxmlformats.org/officeDocument/2006/relationships/image" Target="../media/image.png" Id="Re20be248382b4179" /><Relationship Type="http://schemas.openxmlformats.org/officeDocument/2006/relationships/notesSlide" Target="../notesSlides/notesSlide1_tf1.xml" Id="R0c9790ac07fe47f4" /></Relationships>
</file>

<file path=ppt/slides/_rels/slide2.xml.rels><?xml version='1.0' encoding='utf-8'?>
<Relationships xmlns="http://schemas.openxmlformats.org/package/2006/relationships"><Relationship Type="http://schemas.openxmlformats.org/officeDocument/2006/relationships/slideLayout" Target="../slideLayouts/slideLayout1.xml" Id="Rc53b4322876a49fb" /><Relationship Type="http://schemas.openxmlformats.org/officeDocument/2006/relationships/notesSlide" Target="../notesSlides/notesSlide2_tf1.xml" Id="R7fa7c9e52ff443b8" /></Relationships>
</file>

<file path=ppt/slides/_rels/slide3.xml.rels><?xml version='1.0' encoding='utf-8'?>
<Relationships xmlns="http://schemas.openxmlformats.org/package/2006/relationships"><Relationship Type="http://schemas.openxmlformats.org/officeDocument/2006/relationships/slideLayout" Target="../slideLayouts/slideLayout1.xml" Id="Rb103219a37fc41df" />  <Relationship Id="rId1" Type="http://schemas.openxmlformats.org/officeDocument/2006/relationships/notesSlide" Target="../notesSlides/notesSlide3.xml"/>
</Relationships>
</file>

<file path=ppt/slides/_rels/slide4.xml.rels><?xml version='1.0' encoding='utf-8'?>
<Relationships xmlns="http://schemas.openxmlformats.org/package/2006/relationships"><Relationship Type="http://schemas.openxmlformats.org/officeDocument/2006/relationships/slideLayout" Target="../slideLayouts/slideLayout1.xml" Id="R3d7f6a6d9020481b" /><Relationship Type="http://schemas.openxmlformats.org/officeDocument/2006/relationships/notesSlide" Target="../notesSlides/notesSlide4_tf1.xml" Id="R013ab7cc8fb64433" /></Relationships>
</file>

<file path=ppt/slides/_rels/slide5.xml.rels><?xml version='1.0' encoding='utf-8'?>
<Relationships xmlns="http://schemas.openxmlformats.org/package/2006/relationships"><Relationship Type="http://schemas.openxmlformats.org/officeDocument/2006/relationships/slideLayout" Target="../slideLayouts/slideLayout1.xml" Id="Reeb57049a6714dd2" /><Relationship Type="http://schemas.openxmlformats.org/officeDocument/2006/relationships/image" Target="../media/image2.png" Id="R9eada70b0cb74bef" /><Relationship Type="http://schemas.openxmlformats.org/officeDocument/2006/relationships/image" Target="../media/image3.png" Id="R131dd1466dc5473c" /><Relationship Type="http://schemas.openxmlformats.org/officeDocument/2006/relationships/notesSlide" Target="../notesSlides/notesSlide5_tf1.xml" Id="Re017b85ca7a64621" /></Relationships>
</file>

<file path=ppt/slides/_rels/slide6.xml.rels><?xml version='1.0' encoding='utf-8'?>
<Relationships xmlns="http://schemas.openxmlformats.org/package/2006/relationships"><Relationship Type="http://schemas.openxmlformats.org/officeDocument/2006/relationships/slideLayout" Target="../slideLayouts/slideLayout1.xml" Id="R9acc698469474999" /><Relationship Type="http://schemas.openxmlformats.org/officeDocument/2006/relationships/image" Target="../media/image4.png" Id="R47fd2a6c1ac048f9" /><Relationship Type="http://schemas.openxmlformats.org/officeDocument/2006/relationships/image" Target="../media/image5.png" Id="R9eaaa0e46c9b46a9" /><Relationship Type="http://schemas.openxmlformats.org/officeDocument/2006/relationships/notesSlide" Target="../notesSlides/notesSlide6_tf1.xml" Id="Rc8e780f323074a7c" /></Relationships>
</file>

<file path=ppt/slides/_rels/slide7.xml.rels><?xml version='1.0' encoding='utf-8'?>
<Relationships xmlns="http://schemas.openxmlformats.org/package/2006/relationships"><Relationship Type="http://schemas.openxmlformats.org/officeDocument/2006/relationships/slideLayout" Target="../slideLayouts/slideLayout1.xml" Id="R2f0c7d69f1cd48d1" /><Relationship Type="http://schemas.openxmlformats.org/officeDocument/2006/relationships/image" Target="../media/image6.png" Id="R22015f1bde234369" /><Relationship Type="http://schemas.openxmlformats.org/officeDocument/2006/relationships/notesSlide" Target="../notesSlides/notesSlide7_tf1.xml" Id="R1d4423758f8e490d" /></Relationships>
</file>

<file path=ppt/slides/_rels/slide8.xml.rels><?xml version='1.0' encoding='utf-8'?>
<Relationships xmlns="http://schemas.openxmlformats.org/package/2006/relationships"><Relationship Type="http://schemas.openxmlformats.org/officeDocument/2006/relationships/slideLayout" Target="../slideLayouts/slideLayout1.xml" Id="R7bbbb8e8e6e942d2" /><Relationship Type="http://schemas.openxmlformats.org/officeDocument/2006/relationships/notesSlide" Target="../notesSlides/notesSlide8_tf1.xml" Id="R41398b8c486940f2" /></Relationships>
</file>

<file path=ppt/slides/_rels/slide9.xml.rels><?xml version='1.0' encoding='utf-8'?>
<Relationships xmlns="http://schemas.openxmlformats.org/package/2006/relationships"><Relationship Type="http://schemas.openxmlformats.org/officeDocument/2006/relationships/slideLayout" Target="../slideLayouts/slideLayout1.xml" Id="R27b5e4ceb62144ce" /><Relationship Type="http://schemas.openxmlformats.org/officeDocument/2006/relationships/image" Target="../media/image7.png" Id="Rf58c88528e784e93" /><Relationship Type="http://schemas.openxmlformats.org/officeDocument/2006/relationships/notesSlide" Target="../notesSlides/notesSlide9_tf1.xml" Id="R41cbb4e65166497a" /></Relationships>
</file>

<file path=ppt/slides/_rels/slide10.xml.rels><?xml version='1.0' encoding='utf-8'?>
<Relationships xmlns="http://schemas.openxmlformats.org/package/2006/relationships"><Relationship Type="http://schemas.openxmlformats.org/officeDocument/2006/relationships/slideLayout" Target="../slideLayouts/slideLayout1.xml" Id="Rf8a6c621e5c94c23" />  <Relationship Id="rId1" Type="http://schemas.openxmlformats.org/officeDocument/2006/relationships/notesSlide" Target="../notesSlides/notesSlide10.xml"/>
</Relationships>
</file>

<file path=ppt/slides/_rels/slide11.xml.rels><?xml version='1.0' encoding='utf-8'?>
<Relationships xmlns="http://schemas.openxmlformats.org/package/2006/relationships"><Relationship Type="http://schemas.openxmlformats.org/officeDocument/2006/relationships/slideLayout" Target="../slideLayouts/slideLayout1.xml" Id="Rf8a6c621e5c94c23" />  <Relationship Id="rId1" Type="http://schemas.openxmlformats.org/officeDocument/2006/relationships/notesSlide" Target="../notesSlides/notesSlide11.xml"/>
</Relationships>
</file>

<file path=ppt/slides/_rels/slide12.xml.rels><?xml version='1.0' encoding='utf-8'?>
<Relationships xmlns="http://schemas.openxmlformats.org/package/2006/relationships"><Relationship Type="http://schemas.openxmlformats.org/officeDocument/2006/relationships/slideLayout" Target="../slideLayouts/slideLayout1.xml" Id="Rf8a6c621e5c94c23" />  <Relationship Id="rId1" Type="http://schemas.openxmlformats.org/officeDocument/2006/relationships/notesSlide" Target="../notesSlides/notesSlide12.xml"/>
</Relationships>
</file>

<file path=ppt/slides/_rels/slide13.xml.rels><?xml version='1.0' encoding='utf-8'?>
<Relationships xmlns="http://schemas.openxmlformats.org/package/2006/relationships"><Relationship Type="http://schemas.openxmlformats.org/officeDocument/2006/relationships/slideLayout" Target="../slideLayouts/slideLayout1.xml" Id="Rf8a6c621e5c94c23" />    <Relationship Id="rId1" Type="http://schemas.openxmlformats.org/officeDocument/2006/relationships/notesSlide" Target="../notesSlides/notesSlide13.xml"/>
</Relationships>
</file>

<file path=ppt/slides/_rels/slide14.xml.rels><?xml version='1.0' encoding='utf-8'?>
<Relationships xmlns="http://schemas.openxmlformats.org/package/2006/relationships"><Relationship Type="http://schemas.openxmlformats.org/officeDocument/2006/relationships/slideLayout" Target="../slideLayouts/slideLayout1.xml" Id="Rf9b885e903e645e5" /><Relationship Type="http://schemas.openxmlformats.org/officeDocument/2006/relationships/image" Target="../media/image8.png" Id="Ra53c2e94b196469e" /><Relationship Type="http://schemas.openxmlformats.org/officeDocument/2006/relationships/notesSlide" Target="../notesSlides/notesSlide11_tf1.xml" Id="Rec96044ffa7e4cab" /></Relationships>
</file>

<file path=ppt/slides/_rels/slide15.xml.rels><?xml version='1.0' encoding='utf-8'?>
<Relationships xmlns="http://schemas.openxmlformats.org/package/2006/relationships"><Relationship Type="http://schemas.openxmlformats.org/officeDocument/2006/relationships/slideLayout" Target="../slideLayouts/slideLayout1.xml" Id="R4a5d6a6b534f4499" /><Relationship Type="http://schemas.openxmlformats.org/officeDocument/2006/relationships/image" Target="../media/image9.png" Id="R927999376d9a40e6" /><Relationship Type="http://schemas.openxmlformats.org/officeDocument/2006/relationships/notesSlide" Target="../notesSlides/notesSlide12_tf1.xml" Id="R21382071c29b4e1f" /></Relationships>
</file>

<file path=ppt/slides/_rels/slide16.xml.rels><?xml version='1.0' encoding='utf-8'?>
<Relationships xmlns="http://schemas.openxmlformats.org/package/2006/relationships"><Relationship Type="http://schemas.openxmlformats.org/officeDocument/2006/relationships/slideLayout" Target="../slideLayouts/slideLayout1.xml" Id="Ra7618993e47c4485" /><Relationship Type="http://schemas.openxmlformats.org/officeDocument/2006/relationships/notesSlide" Target="../notesSlides/notesSlide13_tf1.xml" Id="R51428f68cac14c32" /></Relationships>
</file>

<file path=ppt/slides/_rels/slide17.xml.rels><?xml version='1.0' encoding='utf-8'?>
<Relationships xmlns="http://schemas.openxmlformats.org/package/2006/relationships"><Relationship Type="http://schemas.openxmlformats.org/officeDocument/2006/relationships/slideLayout" Target="../slideLayouts/slideLayout1.xml" Id="R2594c1c3736a4e51" />  <Relationship Id="rId1" Type="http://schemas.openxmlformats.org/officeDocument/2006/relationships/notesSlide" Target="../notesSlides/notesSlide17.xml"/>
</Relationships>
</file>

<file path=ppt/slides/_rels/slide18.xml.rels><?xml version='1.0' encoding='utf-8'?>
<Relationships xmlns="http://schemas.openxmlformats.org/package/2006/relationships"><Relationship Type="http://schemas.openxmlformats.org/officeDocument/2006/relationships/slideLayout" Target="../slideLayouts/slideLayout1.xml" Id="R419051898eee4361" /><Relationship Type="http://schemas.openxmlformats.org/officeDocument/2006/relationships/notesSlide" Target="../notesSlides/notesSlide15_tf1.xml" Id="R5a66fec89a054b79" /></Relationships>
</file>

<file path=ppt/slides/_rels/slide19.xml.rels><?xml version='1.0' encoding='utf-8'?>
<Relationships xmlns="http://schemas.openxmlformats.org/package/2006/relationships"><Relationship Type="http://schemas.openxmlformats.org/officeDocument/2006/relationships/slideLayout" Target="../slideLayouts/slideLayout1.xml" Id="R88d6fac8e0a94807" /><Relationship Type="http://schemas.openxmlformats.org/officeDocument/2006/relationships/image" Target="../media/image10.png" Id="R7b2ea4de4efc4e58" />  <Relationship Id="rId1" Type="http://schemas.openxmlformats.org/officeDocument/2006/relationships/notesSlide" Target="../notesSlides/notesSlide19.xml"/>
</Relationships>
</file>

<file path=ppt/slides/_rels/slide20.xml.rels><?xml version='1.0' encoding='utf-8'?>
<Relationships xmlns="http://schemas.openxmlformats.org/package/2006/relationships"><Relationship Type="http://schemas.openxmlformats.org/officeDocument/2006/relationships/slideLayout" Target="../slideLayouts/slideLayout1.xml" Id="R632a3dd5d39748f9" /><Relationship Type="http://schemas.openxmlformats.org/officeDocument/2006/relationships/notesSlide" Target="../notesSlides/notesSlide17_tf1.xml" Id="R2492972ef2d14b1e" /></Relationships>
</file>

<file path=ppt/slides/_rels/slide21.xml.rels><?xml version='1.0' encoding='utf-8'?>
<Relationships xmlns="http://schemas.openxmlformats.org/package/2006/relationships"><Relationship Type="http://schemas.openxmlformats.org/officeDocument/2006/relationships/slideLayout" Target="../slideLayouts/slideLayout1.xml" Id="R5292a33cafdf4249" /><Relationship Type="http://schemas.openxmlformats.org/officeDocument/2006/relationships/notesSlide" Target="../notesSlides/notesSlide18_tf1.xml" Id="R6848912efcf74baf" /></Relationships>
</file>

<file path=ppt/slides/_rels/slide22.xml.rels><?xml version='1.0' encoding='utf-8'?>
<Relationships xmlns="http://schemas.openxmlformats.org/package/2006/relationships"><Relationship Type="http://schemas.openxmlformats.org/officeDocument/2006/relationships/slideLayout" Target="../slideLayouts/slideLayout1.xml" Id="R3dae07ef09364909" /><Relationship Type="http://schemas.openxmlformats.org/officeDocument/2006/relationships/notesSlide" Target="../notesSlides/notesSlide19_tf1.xml" Id="Rcc3e5087cbfc4858" /></Relationships>
</file>

<file path=ppt/slides/_rels/slide23.xml.rels><?xml version='1.0' encoding='utf-8'?>
<Relationships xmlns="http://schemas.openxmlformats.org/package/2006/relationships"><Relationship Type="http://schemas.openxmlformats.org/officeDocument/2006/relationships/slideLayout" Target="../slideLayouts/slideLayout1.xml" Id="Ra15bf578cd284879" />  <Relationship Id="rId1" Type="http://schemas.openxmlformats.org/officeDocument/2006/relationships/notesSlide" Target="../notesSlides/notesSlide23.xml"/>
</Relationships>
</file>

<file path=ppt/slides/_rels/slide24.xml.rels><?xml version='1.0' encoding='utf-8'?>
<Relationships xmlns="http://schemas.openxmlformats.org/package/2006/relationships"><Relationship Type="http://schemas.openxmlformats.org/officeDocument/2006/relationships/slideLayout" Target="../slideLayouts/slideLayout1.xml" Id="R834e0ae741154186" /><Relationship Type="http://schemas.openxmlformats.org/officeDocument/2006/relationships/notesSlide" Target="../notesSlides/notesSlide21_tf1.xml" Id="Re08c16a0169d4a55" /></Relationships>
</file>

<file path=ppt/slides/_rels/slide25.xml.rels><?xml version='1.0' encoding='utf-8'?>
<Relationships xmlns="http://schemas.openxmlformats.org/package/2006/relationships"><Relationship Type="http://schemas.openxmlformats.org/officeDocument/2006/relationships/slideLayout" Target="../slideLayouts/slideLayout1.xml" Id="Rfdbfffc8b2e54de3" /><Relationship Type="http://schemas.openxmlformats.org/officeDocument/2006/relationships/notesSlide" Target="../notesSlides/notesSlide22_tf1.xml" Id="R5ea307c536aa4270" /></Relationships>
</file>

<file path=ppt/slides/_rels/slide26.xml.rels><?xml version='1.0' encoding='utf-8'?>
<Relationships xmlns="http://schemas.openxmlformats.org/package/2006/relationships"><Relationship Type="http://schemas.openxmlformats.org/officeDocument/2006/relationships/slideLayout" Target="../slideLayouts/slideLayout1.xml" Id="R00dbbb051b814a38" /><Relationship Type="http://schemas.openxmlformats.org/officeDocument/2006/relationships/notesSlide" Target="../notesSlides/notesSlide23_tf1.xml" Id="R98a7b209101949cb" /></Relationships>
</file>

<file path=ppt/slides/_rels/slide27.xml.rels><?xml version='1.0' encoding='utf-8'?>
<Relationships xmlns="http://schemas.openxmlformats.org/package/2006/relationships"><Relationship Type="http://schemas.openxmlformats.org/officeDocument/2006/relationships/slideLayout" Target="../slideLayouts/slideLayout1.xml" Id="Ra2c154b7a33a4040" /><Relationship Type="http://schemas.openxmlformats.org/officeDocument/2006/relationships/notesSlide" Target="../notesSlides/notesSlide24_tf1.xml" Id="Rb2a8ec50c5ac4dda" /></Relationships>
</file>

<file path=ppt/slides/_rels/slide28.xml.rels><?xml version='1.0' encoding='utf-8'?>
<Relationships xmlns="http://schemas.openxmlformats.org/package/2006/relationships"><Relationship Type="http://schemas.openxmlformats.org/officeDocument/2006/relationships/slideLayout" Target="../slideLayouts/slideLayout1.xml" Id="R7a3810d22bea48ab" /><Relationship Type="http://schemas.openxmlformats.org/officeDocument/2006/relationships/notesSlide" Target="../notesSlides/notesSlide25_tf1.xml" Id="R5e015084966b4c58" /></Relationships>
</file>

<file path=ppt/slides/_rels/slide29.xml.rels><?xml version='1.0' encoding='utf-8'?>
<Relationships xmlns="http://schemas.openxmlformats.org/package/2006/relationships"><Relationship Type="http://schemas.openxmlformats.org/officeDocument/2006/relationships/slideLayout" Target="../slideLayouts/slideLayout1.xml" Id="R9162a2f0c54c44a7" /><Relationship Type="http://schemas.openxmlformats.org/officeDocument/2006/relationships/notesSlide" Target="../notesSlides/notesSlide26_tf1.xml" Id="R347c5ab4b53d456b" /></Relationships>
</file>

<file path=ppt/slides/slide1.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20be248382b4179"/>
          <a:srcRect xmlns:a="http://schemas.openxmlformats.org/drawingml/2006/main" l="111" t="0" r="111" b="0"/>
          <a:stretch xmlns:a="http://schemas.openxmlformats.org/drawingml/2006/main">
            <a:fillRect l="0" t="0" r="0" b="0"/>
          </a:stretch>
        </p:blipFill>
        <p:spPr>
          <a:xfrm xmlns:a="http://schemas.openxmlformats.org/drawingml/2006/main">
            <a:off x="6781800" y="0"/>
            <a:ext cx="54102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F213F3-5F6A-4E90-B975-6D45CE1695E0}"/>
              </a:ext>
            </a:extLst>
          </p:cNvPr>
          <p:cNvSpPr>
            <a:spLocks xmlns:a="http://schemas.openxmlformats.org/drawingml/2006/main" noGrp="1"/>
          </p:cNvSpPr>
          <p:nvPr/>
        </p:nvSpPr>
        <p:spPr>
          <a:xfrm xmlns:a="http://schemas.openxmlformats.org/drawingml/2006/main">
            <a:off x="609600" y="733425"/>
            <a:ext cx="704850" cy="47625"/>
          </a:xfrm>
          <a:prstGeom xmlns:a="http://schemas.openxmlformats.org/drawingml/2006/main" prst="rect">
            <a:avLst/>
          </a:prstGeom>
          <a:solidFill xmlns:a="http://schemas.openxmlformats.org/drawingml/2006/main">
            <a:srgbClr val="C9633D"/>
          </a:solidFill>
          <a:ln xmlns:a="http://schemas.openxmlformats.org/drawingml/2006/main" w="0">
            <a:noFill/>
          </a:ln>
        </p:spPr>
      </p:sp>
      <p:sp>
        <p:nvSpPr>
          <p:cNvPr id="3" name="曹研究室">
            <a:extLst xmlns:a="http://schemas.openxmlformats.org/drawingml/2006/main">
              <a:ext uri="{FF2B5EF4-FFF2-40B4-BE49-F238E27FC236}">
                <a16:creationId xmlns:a16="http://schemas.microsoft.com/office/drawing/2014/main" id="{1F02CAA6-8A82-440A-9D50-5FF70EACAD7A}"/>
              </a:ext>
            </a:extLst>
          </p:cNvPr>
          <p:cNvSpPr>
            <a:spLocks xmlns:a="http://schemas.openxmlformats.org/drawingml/2006/main" noGrp="1"/>
          </p:cNvSpPr>
          <p:nvPr/>
        </p:nvSpPr>
        <p:spPr>
          <a:xfrm xmlns:a="http://schemas.openxmlformats.org/drawingml/2006/main">
            <a:off x="609600" y="1257300"/>
            <a:ext cx="628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5250" b="1">
                <a:solidFill>
                  <a:srgbClr val="17323B"/>
                </a:solidFill>
                <a:latin typeface="Noto Sans CJK JP"/>
                <a:ea typeface="Noto Sans CJK JP"/>
                <a:cs typeface="Noto Sans CJK JP"/>
              </a:defRPr>
            </a:pPr>
            <a:r>
              <a:rPr sz="5250" b="1">
                <a:solidFill>
                  <a:srgbClr val="17323B"/>
                </a:solidFill>
                <a:latin typeface="Noto Sans CJK JP"/>
                <a:ea typeface="Noto Sans CJK JP"/>
                <a:cs typeface="Noto Sans CJK JP"/>
              </a:rPr>
              <a:t>曹研究室</a:t>
            </a:r>
          </a:p>
        </p:txBody>
      </p:sp>
      <p:sp>
        <p:nvSpPr>
          <p:cNvPr id="4" name="B3 基礎教育">
            <a:extLst xmlns:a="http://schemas.openxmlformats.org/drawingml/2006/main">
              <a:ext uri="{FF2B5EF4-FFF2-40B4-BE49-F238E27FC236}">
                <a16:creationId xmlns:a16="http://schemas.microsoft.com/office/drawing/2014/main" id="{709C0696-877C-4D4A-BD27-68878A75BEEA}"/>
              </a:ext>
            </a:extLst>
          </p:cNvPr>
          <p:cNvSpPr>
            <a:spLocks xmlns:a="http://schemas.openxmlformats.org/drawingml/2006/main" noGrp="1"/>
          </p:cNvSpPr>
          <p:nvPr/>
        </p:nvSpPr>
        <p:spPr>
          <a:xfrm xmlns:a="http://schemas.openxmlformats.org/drawingml/2006/main">
            <a:off x="609600" y="2200275"/>
            <a:ext cx="6286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4875" b="1">
                <a:solidFill>
                  <a:srgbClr val="17323B"/>
                </a:solidFill>
                <a:latin typeface="Noto Sans CJK JP"/>
                <a:ea typeface="Noto Sans CJK JP"/>
                <a:cs typeface="Noto Sans CJK JP"/>
              </a:defRPr>
            </a:pPr>
            <a:r>
              <a:rPr sz="4875" b="1">
                <a:solidFill>
                  <a:srgbClr val="17323B"/>
                </a:solidFill>
                <a:latin typeface="Noto Sans CJK JP"/>
                <a:ea typeface="Noto Sans CJK JP"/>
                <a:cs typeface="Noto Sans CJK JP"/>
              </a:rPr>
              <a:t>B3 基礎教育</a:t>
            </a:r>
          </a:p>
        </p:txBody>
      </p:sp>
      <p:sp>
        <p:nvSpPr>
          <p:cNvPr id="5" name="ガイダンス">
            <a:extLst xmlns:a="http://schemas.openxmlformats.org/drawingml/2006/main">
              <a:ext uri="{FF2B5EF4-FFF2-40B4-BE49-F238E27FC236}">
                <a16:creationId xmlns:a16="http://schemas.microsoft.com/office/drawing/2014/main" id="{3646F504-A363-4B8B-A79A-34A8CE2DF15A}"/>
              </a:ext>
            </a:extLst>
          </p:cNvPr>
          <p:cNvSpPr>
            <a:spLocks xmlns:a="http://schemas.openxmlformats.org/drawingml/2006/main" noGrp="1"/>
          </p:cNvSpPr>
          <p:nvPr/>
        </p:nvSpPr>
        <p:spPr>
          <a:xfrm xmlns:a="http://schemas.openxmlformats.org/drawingml/2006/main">
            <a:off x="609600" y="3152775"/>
            <a:ext cx="628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750" b="1">
                <a:solidFill>
                  <a:srgbClr val="17323B"/>
                </a:solidFill>
                <a:latin typeface="Noto Sans CJK JP"/>
                <a:ea typeface="Noto Sans CJK JP"/>
                <a:cs typeface="Noto Sans CJK JP"/>
              </a:defRPr>
            </a:pPr>
            <a:r>
              <a:rPr sz="3750" b="1">
                <a:solidFill>
                  <a:srgbClr val="17323B"/>
                </a:solidFill>
                <a:latin typeface="Noto Sans CJK JP"/>
                <a:ea typeface="Noto Sans CJK JP"/>
                <a:cs typeface="Noto Sans CJK JP"/>
              </a:rPr>
              <a:t>ガイダンス</a:t>
            </a:r>
          </a:p>
        </p:txBody>
      </p:sp>
      <p:sp>
        <p:nvSpPr>
          <p:cNvPr id="6" name="Python・制御・シミュレーション&#10;から研究へ">
            <a:extLst xmlns:a="http://schemas.openxmlformats.org/drawingml/2006/main">
              <a:ext uri="{FF2B5EF4-FFF2-40B4-BE49-F238E27FC236}">
                <a16:creationId xmlns:a16="http://schemas.microsoft.com/office/drawing/2014/main" id="{B185A2DB-21A4-4358-9443-DF08ADA5F910}"/>
              </a:ext>
            </a:extLst>
          </p:cNvPr>
          <p:cNvSpPr>
            <a:spLocks xmlns:a="http://schemas.openxmlformats.org/drawingml/2006/main" noGrp="1"/>
          </p:cNvSpPr>
          <p:nvPr/>
        </p:nvSpPr>
        <p:spPr>
          <a:xfrm xmlns:a="http://schemas.openxmlformats.org/drawingml/2006/main">
            <a:off x="647700" y="4276725"/>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Python・制御・シミュレーション</a:t>
            </a:r>
          </a:p>
          <a:p xmlns:a="http://schemas.openxmlformats.org/drawingml/2006/main">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から研究へ</a:t>
            </a:r>
          </a:p>
        </p:txBody>
      </p:sp>
      <p:sp>
        <p:nvSpPr>
          <p:cNvPr id="7" name="全15回　各180分">
            <a:extLst xmlns:a="http://schemas.openxmlformats.org/drawingml/2006/main">
              <a:ext uri="{FF2B5EF4-FFF2-40B4-BE49-F238E27FC236}">
                <a16:creationId xmlns:a16="http://schemas.microsoft.com/office/drawing/2014/main" id="{193D9DEE-04E9-460D-BEEA-6C4A288E584C}"/>
              </a:ext>
            </a:extLst>
          </p:cNvPr>
          <p:cNvSpPr>
            <a:spLocks xmlns:a="http://schemas.openxmlformats.org/drawingml/2006/main" noGrp="1"/>
          </p:cNvSpPr>
          <p:nvPr/>
        </p:nvSpPr>
        <p:spPr>
          <a:xfrm xmlns:a="http://schemas.openxmlformats.org/drawingml/2006/main">
            <a:off x="647700" y="529590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全15回　各180分</a:t>
            </a:r>
          </a:p>
        </p:txBody>
      </p:sp>
      <p:sp>
        <p:nvSpPr>
          <p:cNvPr id="8" name="曹 晟">
            <a:extLst xmlns:a="http://schemas.openxmlformats.org/drawingml/2006/main">
              <a:ext uri="{FF2B5EF4-FFF2-40B4-BE49-F238E27FC236}">
                <a16:creationId xmlns:a16="http://schemas.microsoft.com/office/drawing/2014/main" id="{F4D389DC-74B6-4BCD-875B-3F3862DB12B1}"/>
              </a:ext>
            </a:extLst>
          </p:cNvPr>
          <p:cNvSpPr>
            <a:spLocks xmlns:a="http://schemas.openxmlformats.org/drawingml/2006/main" noGrp="1"/>
          </p:cNvSpPr>
          <p:nvPr/>
        </p:nvSpPr>
        <p:spPr>
          <a:xfrm xmlns:a="http://schemas.openxmlformats.org/drawingml/2006/main">
            <a:off x="647700" y="62293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曹 晟</a:t>
            </a:r>
          </a:p>
        </p:txBody>
      </p:sp>
    </p:spTree>
    <p:extLst>
      <p:ext uri="{BB962C8B-B14F-4D97-AF65-F5344CB8AC3E}">
        <p14:creationId xmlns:p14="http://schemas.microsoft.com/office/powerpoint/2010/main" val="50806842"/>
      </p:ext>
    </p:extLst>
  </p:cSld>
</p:sld>
</file>

<file path=ppt/slides/slide2.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9" name="コースガイダンス">
            <a:extLst xmlns:a="http://schemas.openxmlformats.org/drawingml/2006/main">
              <a:ext uri="{FF2B5EF4-FFF2-40B4-BE49-F238E27FC236}">
                <a16:creationId xmlns:a16="http://schemas.microsoft.com/office/drawing/2014/main" id="{6058D061-4223-458B-9A3D-47DFBA218382}"/>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コースガイダンス</a:t>
            </a:r>
          </a:p>
        </p:txBody>
      </p:sp>
      <p:sp>
        <p:nvSpPr>
          <p:cNvPr id="2" name="15回で身につけること">
            <a:extLst xmlns:a="http://schemas.openxmlformats.org/drawingml/2006/main">
              <a:ext uri="{FF2B5EF4-FFF2-40B4-BE49-F238E27FC236}">
                <a16:creationId xmlns:a16="http://schemas.microsoft.com/office/drawing/2014/main" id="{BA875C06-2188-48BC-AFE7-E3924464E17B}"/>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15回で身につけること</a:t>
            </a:r>
          </a:p>
        </p:txBody>
      </p:sp>
      <p:sp>
        <p:nvSpPr>
          <p:cNvPr id="3" name="自分で試した結果を、自分の言葉で説明できること">
            <a:extLst xmlns:a="http://schemas.openxmlformats.org/drawingml/2006/main">
              <a:ext uri="{FF2B5EF4-FFF2-40B4-BE49-F238E27FC236}">
                <a16:creationId xmlns:a16="http://schemas.microsoft.com/office/drawing/2014/main" id="{CB41A62F-03E8-41DF-BAEA-23194BB33FC1}"/>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自分で試した結果を、自分の言葉で説明できること</a:t>
            </a:r>
          </a:p>
        </p:txBody>
      </p:sp>
      <p:sp>
        <p:nvSpPr>
          <p:cNvPr id="4" name="02">
            <a:extLst xmlns:a="http://schemas.openxmlformats.org/drawingml/2006/main">
              <a:ext uri="{FF2B5EF4-FFF2-40B4-BE49-F238E27FC236}">
                <a16:creationId xmlns:a16="http://schemas.microsoft.com/office/drawing/2014/main" id="{7A1EF8D5-DAD8-403B-9AC7-700DA5637AB5}"/>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02</a:t>
            </a:r>
          </a:p>
        </p:txBody>
      </p:sp>
      <p:sp>
        <p:nvSpPr>
          <p:cNvPr id="5" name="01">
            <a:extLst xmlns:a="http://schemas.openxmlformats.org/drawingml/2006/main">
              <a:ext uri="{FF2B5EF4-FFF2-40B4-BE49-F238E27FC236}">
                <a16:creationId xmlns:a16="http://schemas.microsoft.com/office/drawing/2014/main" id="{D78787BA-5853-47F5-937B-15FCF3BF13BF}"/>
              </a:ext>
            </a:extLst>
          </p:cNvPr>
          <p:cNvSpPr>
            <a:spLocks xmlns:a="http://schemas.openxmlformats.org/drawingml/2006/main" noGrp="1"/>
          </p:cNvSpPr>
          <p:nvPr/>
        </p:nvSpPr>
        <p:spPr>
          <a:xfrm xmlns:a="http://schemas.openxmlformats.org/drawingml/2006/main">
            <a:off x="609600" y="2038350"/>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600" b="1">
                <a:solidFill>
                  <a:srgbClr val="247C7A"/>
                </a:solidFill>
                <a:latin typeface="Noto Sans CJK JP"/>
                <a:ea typeface="Noto Sans CJK JP"/>
                <a:cs typeface="Noto Sans CJK JP"/>
              </a:defRPr>
            </a:pPr>
            <a:r>
              <a:rPr sz="3600" b="1">
                <a:solidFill>
                  <a:srgbClr val="247C7A"/>
                </a:solidFill>
                <a:latin typeface="Noto Sans CJK JP"/>
                <a:ea typeface="Noto Sans CJK JP"/>
                <a:cs typeface="Noto Sans CJK JP"/>
              </a:rPr>
              <a:t>01</a:t>
            </a:r>
          </a:p>
        </p:txBody>
      </p:sp>
      <p:sp>
        <p:nvSpPr>
          <p:cNvPr id="6" name="プログラムを動かし、変更を説明する">
            <a:extLst xmlns:a="http://schemas.openxmlformats.org/drawingml/2006/main">
              <a:ext uri="{FF2B5EF4-FFF2-40B4-BE49-F238E27FC236}">
                <a16:creationId xmlns:a16="http://schemas.microsoft.com/office/drawing/2014/main" id="{248DCAC0-0845-4789-9A97-9026BC0F55CB}"/>
              </a:ext>
            </a:extLst>
          </p:cNvPr>
          <p:cNvSpPr>
            <a:spLocks xmlns:a="http://schemas.openxmlformats.org/drawingml/2006/main" noGrp="1"/>
          </p:cNvSpPr>
          <p:nvPr/>
        </p:nvSpPr>
        <p:spPr>
          <a:xfrm xmlns:a="http://schemas.openxmlformats.org/drawingml/2006/main">
            <a:off x="1752600" y="2038350"/>
            <a:ext cx="895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17323B"/>
                </a:solidFill>
                <a:latin typeface="Noto Sans CJK JP"/>
                <a:ea typeface="Noto Sans CJK JP"/>
                <a:cs typeface="Noto Sans CJK JP"/>
              </a:defRPr>
            </a:pPr>
            <a:r>
              <a:rPr sz="2325" b="1">
                <a:solidFill>
                  <a:srgbClr val="17323B"/>
                </a:solidFill>
                <a:latin typeface="Noto Sans CJK JP"/>
                <a:ea typeface="Noto Sans CJK JP"/>
                <a:cs typeface="Noto Sans CJK JP"/>
              </a:rPr>
              <a:t>プログラムを動かし、変更を説明する</a:t>
            </a:r>
          </a:p>
        </p:txBody>
      </p:sp>
      <p:sp>
        <p:nvSpPr>
          <p:cNvPr id="7" name="配布コードの意味を読み、数値や処理を変えて確かめる。">
            <a:extLst xmlns:a="http://schemas.openxmlformats.org/drawingml/2006/main">
              <a:ext uri="{FF2B5EF4-FFF2-40B4-BE49-F238E27FC236}">
                <a16:creationId xmlns:a16="http://schemas.microsoft.com/office/drawing/2014/main" id="{5C0842C2-8B42-4F86-A4DC-4565F2C44B70}"/>
              </a:ext>
            </a:extLst>
          </p:cNvPr>
          <p:cNvSpPr>
            <a:spLocks xmlns:a="http://schemas.openxmlformats.org/drawingml/2006/main" noGrp="1"/>
          </p:cNvSpPr>
          <p:nvPr/>
        </p:nvSpPr>
        <p:spPr>
          <a:xfrm xmlns:a="http://schemas.openxmlformats.org/drawingml/2006/main">
            <a:off x="1752600" y="2495550"/>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配布コードの意味を読み、数値や処理を変えて確かめる。</a:t>
            </a:r>
          </a:p>
        </p:txBody>
      </p:sp>
      <p:sp>
        <p:nvSpPr>
          <p:cNvPr id="8" name="コード＋変更した理由">
            <a:extLst xmlns:a="http://schemas.openxmlformats.org/drawingml/2006/main">
              <a:ext uri="{FF2B5EF4-FFF2-40B4-BE49-F238E27FC236}">
                <a16:creationId xmlns:a16="http://schemas.microsoft.com/office/drawing/2014/main" id="{1E8EF3F8-E7D8-41A0-B0D3-92B2088644B9}"/>
              </a:ext>
            </a:extLst>
          </p:cNvPr>
          <p:cNvSpPr>
            <a:spLocks xmlns:a="http://schemas.openxmlformats.org/drawingml/2006/main" noGrp="1"/>
          </p:cNvSpPr>
          <p:nvPr/>
        </p:nvSpPr>
        <p:spPr>
          <a:xfrm xmlns:a="http://schemas.openxmlformats.org/drawingml/2006/main">
            <a:off x="1752600" y="2867025"/>
            <a:ext cx="885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425" b="0">
                <a:solidFill>
                  <a:srgbClr val="5C6B6B"/>
                </a:solidFill>
                <a:latin typeface="Noto Sans CJK JP"/>
                <a:ea typeface="Noto Sans CJK JP"/>
                <a:cs typeface="Noto Sans CJK JP"/>
              </a:defRPr>
            </a:pPr>
            <a:r>
              <a:rPr sz="1425" b="0">
                <a:solidFill>
                  <a:srgbClr val="5C6B6B"/>
                </a:solidFill>
                <a:latin typeface="Noto Sans CJK JP"/>
                <a:ea typeface="Noto Sans CJK JP"/>
                <a:cs typeface="Noto Sans CJK JP"/>
              </a:rPr>
              <a:t>コード＋変更した理由</a:t>
            </a:r>
          </a:p>
        </p:txBody>
      </p:sp>
      <p:sp>
        <p:nvSpPr>
          <p:cNvPr id="9" name="">
            <a:extLst xmlns:a="http://schemas.openxmlformats.org/drawingml/2006/main">
              <a:ext uri="{FF2B5EF4-FFF2-40B4-BE49-F238E27FC236}">
                <a16:creationId xmlns:a16="http://schemas.microsoft.com/office/drawing/2014/main" id="{FAC5C35E-FB70-47E9-BEC1-342B1CCFC974}"/>
              </a:ext>
            </a:extLst>
          </p:cNvPr>
          <p:cNvSpPr>
            <a:spLocks xmlns:a="http://schemas.openxmlformats.org/drawingml/2006/main" noGrp="1"/>
          </p:cNvSpPr>
          <p:nvPr/>
        </p:nvSpPr>
        <p:spPr>
          <a:xfrm xmlns:a="http://schemas.openxmlformats.org/drawingml/2006/main">
            <a:off x="1752600" y="3143250"/>
            <a:ext cx="9829800" cy="952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B486A6A2-FCE5-47D1-92AB-FC84F6A04F02}"/>
              </a:ext>
            </a:extLst>
          </p:cNvPr>
          <p:cNvSpPr>
            <a:spLocks xmlns:a="http://schemas.openxmlformats.org/drawingml/2006/main" noGrp="1"/>
          </p:cNvSpPr>
          <p:nvPr/>
        </p:nvSpPr>
        <p:spPr>
          <a:xfrm xmlns:a="http://schemas.openxmlformats.org/drawingml/2006/main">
            <a:off x="609600" y="3228975"/>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600" b="1">
                <a:solidFill>
                  <a:srgbClr val="247C7A"/>
                </a:solidFill>
                <a:latin typeface="Noto Sans CJK JP"/>
                <a:ea typeface="Noto Sans CJK JP"/>
                <a:cs typeface="Noto Sans CJK JP"/>
              </a:defRPr>
            </a:pPr>
            <a:r>
              <a:rPr sz="3600" b="1">
                <a:solidFill>
                  <a:srgbClr val="247C7A"/>
                </a:solidFill>
                <a:latin typeface="Noto Sans CJK JP"/>
                <a:ea typeface="Noto Sans CJK JP"/>
                <a:cs typeface="Noto Sans CJK JP"/>
              </a:rPr>
              <a:t>02</a:t>
            </a:r>
          </a:p>
        </p:txBody>
      </p:sp>
      <p:sp>
        <p:nvSpPr>
          <p:cNvPr id="11" name="条件をそろえて、結果を比較する">
            <a:extLst xmlns:a="http://schemas.openxmlformats.org/drawingml/2006/main">
              <a:ext uri="{FF2B5EF4-FFF2-40B4-BE49-F238E27FC236}">
                <a16:creationId xmlns:a16="http://schemas.microsoft.com/office/drawing/2014/main" id="{9A774469-AECC-45BF-8BF6-6F86724D11D9}"/>
              </a:ext>
            </a:extLst>
          </p:cNvPr>
          <p:cNvSpPr>
            <a:spLocks xmlns:a="http://schemas.openxmlformats.org/drawingml/2006/main" noGrp="1"/>
          </p:cNvSpPr>
          <p:nvPr/>
        </p:nvSpPr>
        <p:spPr>
          <a:xfrm xmlns:a="http://schemas.openxmlformats.org/drawingml/2006/main">
            <a:off x="1752600" y="3228975"/>
            <a:ext cx="895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17323B"/>
                </a:solidFill>
                <a:latin typeface="Noto Sans CJK JP"/>
                <a:ea typeface="Noto Sans CJK JP"/>
                <a:cs typeface="Noto Sans CJK JP"/>
              </a:defRPr>
            </a:pPr>
            <a:r>
              <a:rPr sz="2325" b="1">
                <a:solidFill>
                  <a:srgbClr val="17323B"/>
                </a:solidFill>
                <a:latin typeface="Noto Sans CJK JP"/>
                <a:ea typeface="Noto Sans CJK JP"/>
                <a:cs typeface="Noto Sans CJK JP"/>
              </a:rPr>
              <a:t>条件をそろえて、結果を比較する</a:t>
            </a:r>
          </a:p>
        </p:txBody>
      </p:sp>
      <p:sp>
        <p:nvSpPr>
          <p:cNvPr id="12" name="制御や仮説の違いを、同じ条件のもとで調べる。">
            <a:extLst xmlns:a="http://schemas.openxmlformats.org/drawingml/2006/main">
              <a:ext uri="{FF2B5EF4-FFF2-40B4-BE49-F238E27FC236}">
                <a16:creationId xmlns:a16="http://schemas.microsoft.com/office/drawing/2014/main" id="{E9CD5F17-FD9C-4783-9DC0-2014D05B1E41}"/>
              </a:ext>
            </a:extLst>
          </p:cNvPr>
          <p:cNvSpPr>
            <a:spLocks xmlns:a="http://schemas.openxmlformats.org/drawingml/2006/main" noGrp="1"/>
          </p:cNvSpPr>
          <p:nvPr/>
        </p:nvSpPr>
        <p:spPr>
          <a:xfrm xmlns:a="http://schemas.openxmlformats.org/drawingml/2006/main">
            <a:off x="1752600" y="3686175"/>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制御や仮説の違いを、同じ条件のもとで調べる。</a:t>
            </a:r>
          </a:p>
        </p:txBody>
      </p:sp>
      <p:sp>
        <p:nvSpPr>
          <p:cNvPr id="13" name="比較条件＋結果の図">
            <a:extLst xmlns:a="http://schemas.openxmlformats.org/drawingml/2006/main">
              <a:ext uri="{FF2B5EF4-FFF2-40B4-BE49-F238E27FC236}">
                <a16:creationId xmlns:a16="http://schemas.microsoft.com/office/drawing/2014/main" id="{07A76F24-4FBC-4C96-97AD-386CE5FE7193}"/>
              </a:ext>
            </a:extLst>
          </p:cNvPr>
          <p:cNvSpPr>
            <a:spLocks xmlns:a="http://schemas.openxmlformats.org/drawingml/2006/main" noGrp="1"/>
          </p:cNvSpPr>
          <p:nvPr/>
        </p:nvSpPr>
        <p:spPr>
          <a:xfrm xmlns:a="http://schemas.openxmlformats.org/drawingml/2006/main">
            <a:off x="1752600" y="4057650"/>
            <a:ext cx="885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425" b="0">
                <a:solidFill>
                  <a:srgbClr val="5C6B6B"/>
                </a:solidFill>
                <a:latin typeface="Noto Sans CJK JP"/>
                <a:ea typeface="Noto Sans CJK JP"/>
                <a:cs typeface="Noto Sans CJK JP"/>
              </a:defRPr>
            </a:pPr>
            <a:r>
              <a:rPr sz="1425" b="0">
                <a:solidFill>
                  <a:srgbClr val="5C6B6B"/>
                </a:solidFill>
                <a:latin typeface="Noto Sans CJK JP"/>
                <a:ea typeface="Noto Sans CJK JP"/>
                <a:cs typeface="Noto Sans CJK JP"/>
              </a:rPr>
              <a:t>比較条件＋結果の図</a:t>
            </a:r>
          </a:p>
        </p:txBody>
      </p:sp>
      <p:sp>
        <p:nvSpPr>
          <p:cNvPr id="14" name="">
            <a:extLst xmlns:a="http://schemas.openxmlformats.org/drawingml/2006/main">
              <a:ext uri="{FF2B5EF4-FFF2-40B4-BE49-F238E27FC236}">
                <a16:creationId xmlns:a16="http://schemas.microsoft.com/office/drawing/2014/main" id="{652F41DA-EB56-4353-A975-D70C15D919FE}"/>
              </a:ext>
            </a:extLst>
          </p:cNvPr>
          <p:cNvSpPr>
            <a:spLocks xmlns:a="http://schemas.openxmlformats.org/drawingml/2006/main" noGrp="1"/>
          </p:cNvSpPr>
          <p:nvPr/>
        </p:nvSpPr>
        <p:spPr>
          <a:xfrm xmlns:a="http://schemas.openxmlformats.org/drawingml/2006/main">
            <a:off x="1752600" y="4333875"/>
            <a:ext cx="9829800" cy="952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15" name="03">
            <a:extLst xmlns:a="http://schemas.openxmlformats.org/drawingml/2006/main">
              <a:ext uri="{FF2B5EF4-FFF2-40B4-BE49-F238E27FC236}">
                <a16:creationId xmlns:a16="http://schemas.microsoft.com/office/drawing/2014/main" id="{4ADCDB05-8309-4E0E-B781-152CB5986829}"/>
              </a:ext>
            </a:extLst>
          </p:cNvPr>
          <p:cNvSpPr>
            <a:spLocks xmlns:a="http://schemas.openxmlformats.org/drawingml/2006/main" noGrp="1"/>
          </p:cNvSpPr>
          <p:nvPr/>
        </p:nvSpPr>
        <p:spPr>
          <a:xfrm xmlns:a="http://schemas.openxmlformats.org/drawingml/2006/main">
            <a:off x="609600" y="4419600"/>
            <a:ext cx="895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600" b="1">
                <a:solidFill>
                  <a:srgbClr val="247C7A"/>
                </a:solidFill>
                <a:latin typeface="Noto Sans CJK JP"/>
                <a:ea typeface="Noto Sans CJK JP"/>
                <a:cs typeface="Noto Sans CJK JP"/>
              </a:defRPr>
            </a:pPr>
            <a:r>
              <a:rPr sz="3600" b="1">
                <a:solidFill>
                  <a:srgbClr val="247C7A"/>
                </a:solidFill>
                <a:latin typeface="Noto Sans CJK JP"/>
                <a:ea typeface="Noto Sans CJK JP"/>
                <a:cs typeface="Noto Sans CJK JP"/>
              </a:rPr>
              <a:t>03</a:t>
            </a:r>
          </a:p>
        </p:txBody>
      </p:sp>
      <p:sp>
        <p:nvSpPr>
          <p:cNvPr id="16" name="根拠を示して、次の課題を考える">
            <a:extLst xmlns:a="http://schemas.openxmlformats.org/drawingml/2006/main">
              <a:ext uri="{FF2B5EF4-FFF2-40B4-BE49-F238E27FC236}">
                <a16:creationId xmlns:a16="http://schemas.microsoft.com/office/drawing/2014/main" id="{C23036C9-CF65-4857-8697-3B89D305F31A}"/>
              </a:ext>
            </a:extLst>
          </p:cNvPr>
          <p:cNvSpPr>
            <a:spLocks xmlns:a="http://schemas.openxmlformats.org/drawingml/2006/main" noGrp="1"/>
          </p:cNvSpPr>
          <p:nvPr/>
        </p:nvSpPr>
        <p:spPr>
          <a:xfrm xmlns:a="http://schemas.openxmlformats.org/drawingml/2006/main">
            <a:off x="1752600" y="4419600"/>
            <a:ext cx="8953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17323B"/>
                </a:solidFill>
                <a:latin typeface="Noto Sans CJK JP"/>
                <a:ea typeface="Noto Sans CJK JP"/>
                <a:cs typeface="Noto Sans CJK JP"/>
              </a:defRPr>
            </a:pPr>
            <a:r>
              <a:rPr sz="2325" b="1">
                <a:solidFill>
                  <a:srgbClr val="17323B"/>
                </a:solidFill>
                <a:latin typeface="Noto Sans CJK JP"/>
                <a:ea typeface="Noto Sans CJK JP"/>
                <a:cs typeface="Noto Sans CJK JP"/>
              </a:rPr>
              <a:t>根拠を示して、次の課題を考える</a:t>
            </a:r>
          </a:p>
        </p:txBody>
      </p:sp>
      <p:sp>
        <p:nvSpPr>
          <p:cNvPr id="17" name="分かったことと、まだ分からないことを区別する。">
            <a:extLst xmlns:a="http://schemas.openxmlformats.org/drawingml/2006/main">
              <a:ext uri="{FF2B5EF4-FFF2-40B4-BE49-F238E27FC236}">
                <a16:creationId xmlns:a16="http://schemas.microsoft.com/office/drawing/2014/main" id="{B1D7EC39-27A9-495F-BBA8-E1E24BB6F69C}"/>
              </a:ext>
            </a:extLst>
          </p:cNvPr>
          <p:cNvSpPr>
            <a:spLocks xmlns:a="http://schemas.openxmlformats.org/drawingml/2006/main" noGrp="1"/>
          </p:cNvSpPr>
          <p:nvPr/>
        </p:nvSpPr>
        <p:spPr>
          <a:xfrm xmlns:a="http://schemas.openxmlformats.org/drawingml/2006/main">
            <a:off x="1752600" y="4876800"/>
            <a:ext cx="9525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分かったことと、まだ分からないことを区別する。</a:t>
            </a:r>
          </a:p>
        </p:txBody>
      </p:sp>
      <p:sp>
        <p:nvSpPr>
          <p:cNvPr id="18" name="発表＋次に試すこと">
            <a:extLst xmlns:a="http://schemas.openxmlformats.org/drawingml/2006/main">
              <a:ext uri="{FF2B5EF4-FFF2-40B4-BE49-F238E27FC236}">
                <a16:creationId xmlns:a16="http://schemas.microsoft.com/office/drawing/2014/main" id="{0C5566C5-ACD5-4FC7-AC18-AE971F1A4E83}"/>
              </a:ext>
            </a:extLst>
          </p:cNvPr>
          <p:cNvSpPr>
            <a:spLocks xmlns:a="http://schemas.openxmlformats.org/drawingml/2006/main" noGrp="1"/>
          </p:cNvSpPr>
          <p:nvPr/>
        </p:nvSpPr>
        <p:spPr>
          <a:xfrm xmlns:a="http://schemas.openxmlformats.org/drawingml/2006/main">
            <a:off x="1752600" y="5248275"/>
            <a:ext cx="8858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425" b="0">
                <a:solidFill>
                  <a:srgbClr val="5C6B6B"/>
                </a:solidFill>
                <a:latin typeface="Noto Sans CJK JP"/>
                <a:ea typeface="Noto Sans CJK JP"/>
                <a:cs typeface="Noto Sans CJK JP"/>
              </a:defRPr>
            </a:pPr>
            <a:r>
              <a:rPr sz="1425" b="0">
                <a:solidFill>
                  <a:srgbClr val="5C6B6B"/>
                </a:solidFill>
                <a:latin typeface="Noto Sans CJK JP"/>
                <a:ea typeface="Noto Sans CJK JP"/>
                <a:cs typeface="Noto Sans CJK JP"/>
              </a:rPr>
              <a:t>発表＋次に試すこと</a:t>
            </a:r>
          </a:p>
        </p:txBody>
      </p:sp>
    </p:spTree>
    <p:extLst>
      <p:ext uri="{BB962C8B-B14F-4D97-AF65-F5344CB8AC3E}">
        <p14:creationId xmlns:p14="http://schemas.microsoft.com/office/powerpoint/2010/main" val="1873925429"/>
      </p:ext>
    </p:extLst>
  </p:cSld>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34" name="コースガイダンス">
            <a:extLst>
              <a:ext uri="{FF2B5EF4-FFF2-40B4-BE49-F238E27FC236}">
                <a16:creationId id="{68479E44-68B4-47D0-B1FA-1FF092C86523}"/>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コースガイダンス</a:t>
            </a:r>
          </a:p>
        </p:txBody>
      </p:sp>
      <p:sp>
        <p:nvSpPr>
          <p:cNvPr id="2" name="基礎から研究へ進む15回">
            <a:extLst>
              <a:ext uri="{FF2B5EF4-FFF2-40B4-BE49-F238E27FC236}">
                <a16:creationId id="{177F8A8C-2575-4271-A380-3F951B632E9F}"/>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基礎から研究へ進む15回</a:t>
            </a:r>
          </a:p>
        </p:txBody>
      </p:sp>
      <p:sp>
        <p:nvSpPr>
          <p:cNvPr id="3" name="前半で共通の道具を学び、後半で研究に使う"/>
          <p:cNvSpPr/>
          <p:nvPr/>
        </p:nvSpPr>
        <p:spPr>
          <a:xfrm>
            <a:off x="609600" y="1323975"/>
            <a:ext cx="10972800" cy="400050"/>
          </a:xfrm>
          <a:prstGeom prst="rect">
            <a:avLst/>
          </a:prstGeom>
          <a:noFill/>
          <a:ln>
            <a:noFill/>
          </a:ln>
        </p:spPr>
        <p:txBody>
          <a:bodyPr wrap="none" lIns="0" tIns="0" rIns="0" bIns="0" anchor="t" anchorCtr="0">
            <a:noAutofit/>
          </a:bodyPr>
          <a:lstStyle/>
          <a:p>
            <a:pPr algn="l"/>
            <a:r>
              <a:rPr lang="ja-JP" sz="1800" dirty="0">
                <a:solidFill>
                  <a:srgbClr val="5C6B6B"/>
                </a:solidFill>
                <a:latin typeface="Noto Sans CJK JP"/>
                <a:ea typeface="Noto Sans CJK JP"/>
                <a:cs typeface="Noto Sans CJK JP"/>
              </a:rPr>
              <a:t>基礎を学び、業界を知り、AIの小課題に取り組む</a:t>
            </a:r>
          </a:p>
        </p:txBody>
      </p:sp>
      <p:sp>
        <p:nvSpPr>
          <p:cNvPr id="4" name="03">
            <a:extLst>
              <a:ext uri="{FF2B5EF4-FFF2-40B4-BE49-F238E27FC236}">
                <a16:creationId id="{3BBC63CC-C7A7-421D-A400-1204943BDD8E}"/>
              </a:ext>
            </a:extLst>
          </p:cNvPr>
          <p:cNvSpPr>
            <a:spLocks noGrp="1"/>
          </p:cNvSpPr>
          <p:nvPr/>
        </p:nvSpPr>
        <p:spPr>
          <a:xfrm>
            <a:off x="11049000" y="6362700"/>
            <a:ext cx="523875" cy="285750"/>
          </a:xfrm>
          <a:prstGeom prst="rect">
            <a:avLst/>
          </a:prstGeom>
          <a:noFill/>
          <a:ln w="0">
            <a:noFill/>
          </a:ln>
        </p:spPr>
        <p:txBody>
          <a:bodyPr wrap="square" lIns="0" tIns="0" rIns="0" bIns="0" anchor="t">
            <a:noAutofit/>
          </a:bodyPr>
          <a:lstStyle/>
          <a:p>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03</a:t>
            </a:r>
          </a:p>
        </p:txBody>
      </p:sp>
      <p:sp>
        <p:nvSpPr>
          <p:cNvPr id="5" name="01–02">
            <a:extLst>
              <a:ext uri="{FF2B5EF4-FFF2-40B4-BE49-F238E27FC236}">
                <a16:creationId id="{D1A21376-DAA3-4C86-B858-82C2439AD9FD}"/>
              </a:ext>
            </a:extLst>
          </p:cNvPr>
          <p:cNvSpPr>
            <a:spLocks noGrp="1"/>
          </p:cNvSpPr>
          <p:nvPr/>
        </p:nvSpPr>
        <p:spPr>
          <a:xfrm>
            <a:off x="609600" y="2305050"/>
            <a:ext cx="2647950" cy="666750"/>
          </a:xfrm>
          <a:prstGeom prst="rect">
            <a:avLst/>
          </a:prstGeom>
          <a:noFill/>
          <a:ln w="0">
            <a:noFill/>
          </a:ln>
        </p:spPr>
        <p:txBody>
          <a:bodyPr wrap="square" lIns="0" tIns="0" rIns="0" bIns="0" anchor="t">
            <a:noAutofit/>
          </a:bodyPr>
          <a:lstStyle/>
          <a:p>
            <a:pPr algn="l">
              <a:lnSpc>
                <a:spcPct val="118000"/>
              </a:lnSpc>
              <a:buNone/>
              <a:defRPr sz="3825" b="1">
                <a:solidFill>
                  <a:srgbClr val="247C7A"/>
                </a:solidFill>
                <a:latin typeface="Noto Sans CJK JP"/>
                <a:ea typeface="Noto Sans CJK JP"/>
                <a:cs typeface="Noto Sans CJK JP"/>
              </a:defRPr>
            </a:pPr>
            <a:r>
              <a:rPr sz="3825" b="1">
                <a:solidFill>
                  <a:srgbClr val="247C7A"/>
                </a:solidFill>
                <a:latin typeface="Noto Sans CJK JP"/>
                <a:ea typeface="Noto Sans CJK JP"/>
                <a:cs typeface="Noto Sans CJK JP"/>
              </a:rPr>
              <a:t>01–02</a:t>
            </a:r>
          </a:p>
        </p:txBody>
      </p:sp>
      <p:sp>
        <p:nvSpPr>
          <p:cNvPr id="6" name="Python / Colab">
            <a:extLst>
              <a:ext uri="{FF2B5EF4-FFF2-40B4-BE49-F238E27FC236}">
                <a16:creationId id="{1BA464F1-028A-45C6-9CA9-4AE84017591B}"/>
              </a:ext>
            </a:extLst>
          </p:cNvPr>
          <p:cNvSpPr>
            <a:spLocks noGrp="1"/>
          </p:cNvSpPr>
          <p:nvPr/>
        </p:nvSpPr>
        <p:spPr>
          <a:xfrm>
            <a:off x="609600" y="3105150"/>
            <a:ext cx="2647950" cy="457200"/>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Python / Colab</a:t>
            </a:r>
          </a:p>
        </p:txBody>
      </p:sp>
      <p:sp>
        <p:nvSpPr>
          <p:cNvPr id="7" name="自分で動かす">
            <a:extLst>
              <a:ext uri="{FF2B5EF4-FFF2-40B4-BE49-F238E27FC236}">
                <a16:creationId id="{316653BB-52C5-4C09-90EA-EA36BF112C01}"/>
              </a:ext>
            </a:extLst>
          </p:cNvPr>
          <p:cNvSpPr>
            <a:spLocks noGrp="1"/>
          </p:cNvSpPr>
          <p:nvPr/>
        </p:nvSpPr>
        <p:spPr>
          <a:xfrm>
            <a:off x="609600" y="3733800"/>
            <a:ext cx="2628900" cy="6286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自分で動かす</a:t>
            </a:r>
          </a:p>
        </p:txBody>
      </p:sp>
      <p:sp>
        <p:nvSpPr>
          <p:cNvPr id="8" name="">
            <a:extLst>
              <a:ext uri="{FF2B5EF4-FFF2-40B4-BE49-F238E27FC236}">
                <a16:creationId id="{7978B504-3A28-4397-9017-28044C8A3C85}"/>
              </a:ext>
            </a:extLst>
          </p:cNvPr>
          <p:cNvSpPr>
            <a:spLocks noGrp="1"/>
          </p:cNvSpPr>
          <p:nvPr/>
        </p:nvSpPr>
        <p:spPr>
          <a:xfrm>
            <a:off x="609600" y="4533900"/>
            <a:ext cx="2457450" cy="28575"/>
          </a:xfrm>
          <a:prstGeom prst="rect">
            <a:avLst/>
          </a:prstGeom>
          <a:solidFill>
            <a:srgbClr val="247C7A"/>
          </a:solidFill>
          <a:ln w="0">
            <a:noFill/>
          </a:ln>
        </p:spPr>
      </p:sp>
      <p:sp>
        <p:nvSpPr>
          <p:cNvPr id="9" name="成果">
            <a:extLst>
              <a:ext uri="{FF2B5EF4-FFF2-40B4-BE49-F238E27FC236}">
                <a16:creationId id="{15E72931-766E-46DC-B1CA-1F07A019D7DF}"/>
              </a:ext>
            </a:extLst>
          </p:cNvPr>
          <p:cNvSpPr>
            <a:spLocks noGrp="1"/>
          </p:cNvSpPr>
          <p:nvPr/>
        </p:nvSpPr>
        <p:spPr>
          <a:xfrm>
            <a:off x="609600" y="4724400"/>
            <a:ext cx="2476500" cy="247650"/>
          </a:xfrm>
          <a:prstGeom prst="rect">
            <a:avLst/>
          </a:prstGeom>
          <a:noFill/>
          <a:ln w="0">
            <a:noFill/>
          </a:ln>
        </p:spPr>
        <p:txBody>
          <a:bodyPr wrap="square" lIns="0" tIns="0" rIns="0" bIns="0" anchor="t">
            <a:noAutofit/>
          </a:bodyPr>
          <a:lstStyle/>
          <a:p>
            <a:pPr algn="l">
              <a:lnSpc>
                <a:spcPct val="118000"/>
              </a:lnSpc>
              <a:buNone/>
              <a:defRPr sz="1275" b="0">
                <a:solidFill>
                  <a:srgbClr val="5C6B6B"/>
                </a:solidFill>
                <a:latin typeface="Noto Sans CJK JP"/>
                <a:ea typeface="Noto Sans CJK JP"/>
                <a:cs typeface="Noto Sans CJK JP"/>
              </a:defRPr>
            </a:pPr>
            <a:r>
              <a:rPr sz="1275" b="0">
                <a:solidFill>
                  <a:srgbClr val="5C6B6B"/>
                </a:solidFill>
                <a:latin typeface="Noto Sans CJK JP"/>
                <a:ea typeface="Noto Sans CJK JP"/>
                <a:cs typeface="Noto Sans CJK JP"/>
              </a:rPr>
              <a:t>成果</a:t>
            </a:r>
          </a:p>
        </p:txBody>
      </p:sp>
      <p:sp>
        <p:nvSpPr>
          <p:cNvPr id="10" name="Notebook">
            <a:extLst>
              <a:ext uri="{FF2B5EF4-FFF2-40B4-BE49-F238E27FC236}">
                <a16:creationId id="{13CBEC80-35A9-4F19-AC38-FCEFD6077E25}"/>
              </a:ext>
            </a:extLst>
          </p:cNvPr>
          <p:cNvSpPr>
            <a:spLocks noGrp="1"/>
          </p:cNvSpPr>
          <p:nvPr/>
        </p:nvSpPr>
        <p:spPr>
          <a:xfrm>
            <a:off x="609600" y="5057775"/>
            <a:ext cx="2562225" cy="409575"/>
          </a:xfrm>
          <a:prstGeom prst="rect">
            <a:avLst/>
          </a:prstGeom>
          <a:noFill/>
          <a:ln w="0">
            <a:noFill/>
          </a:ln>
        </p:spPr>
        <p:txBody>
          <a:bodyPr wrap="square" lIns="0" tIns="0" rIns="0" bIns="0" anchor="t">
            <a:noAutofit/>
          </a:bodyPr>
          <a:lstStyle/>
          <a:p>
            <a:pPr algn="l">
              <a:lnSpc>
                <a:spcPct val="118000"/>
              </a:lnSpc>
              <a:buNone/>
              <a:defRPr sz="1650" b="0">
                <a:solidFill>
                  <a:srgbClr val="17323B"/>
                </a:solidFill>
                <a:latin typeface="Noto Sans CJK JP"/>
                <a:ea typeface="Noto Sans CJK JP"/>
                <a:cs typeface="Noto Sans CJK JP"/>
              </a:defRPr>
            </a:pPr>
            <a:r>
              <a:rPr sz="1650" b="0">
                <a:solidFill>
                  <a:srgbClr val="17323B"/>
                </a:solidFill>
                <a:latin typeface="Noto Sans CJK JP"/>
                <a:ea typeface="Noto Sans CJK JP"/>
                <a:cs typeface="Noto Sans CJK JP"/>
              </a:rPr>
              <a:t>Notebook</a:t>
            </a:r>
          </a:p>
        </p:txBody>
      </p:sp>
      <p:sp>
        <p:nvSpPr>
          <p:cNvPr id="11" name="">
            <a:extLst>
              <a:ext uri="{FF2B5EF4-FFF2-40B4-BE49-F238E27FC236}">
                <a16:creationId id="{914A4D00-E892-4F48-9C11-FAE1D43B394E}"/>
              </a:ext>
            </a:extLst>
          </p:cNvPr>
          <p:cNvSpPr>
            <a:spLocks noGrp="1"/>
          </p:cNvSpPr>
          <p:nvPr/>
        </p:nvSpPr>
        <p:spPr>
          <a:xfrm>
            <a:off x="2895600" y="2647950"/>
            <a:ext cx="361950" cy="161925"/>
          </a:xfrm>
          <a:prstGeom prst="rightArrow">
            <a:avLst/>
          </a:prstGeom>
          <a:solidFill>
            <a:srgbClr val="C8D4D0"/>
          </a:solidFill>
          <a:ln w="0">
            <a:noFill/>
          </a:ln>
        </p:spPr>
      </p:sp>
      <p:sp>
        <p:nvSpPr>
          <p:cNvPr id="12" name="03–08">
            <a:extLst>
              <a:ext uri="{FF2B5EF4-FFF2-40B4-BE49-F238E27FC236}">
                <a16:creationId id="{AAD4E112-5132-4454-B8DE-D20E0EE9E47F}"/>
              </a:ext>
            </a:extLst>
          </p:cNvPr>
          <p:cNvSpPr>
            <a:spLocks noGrp="1"/>
          </p:cNvSpPr>
          <p:nvPr/>
        </p:nvSpPr>
        <p:spPr>
          <a:xfrm>
            <a:off x="3381375" y="2305050"/>
            <a:ext cx="2647950" cy="666750"/>
          </a:xfrm>
          <a:prstGeom prst="rect">
            <a:avLst/>
          </a:prstGeom>
          <a:noFill/>
          <a:ln w="0">
            <a:noFill/>
          </a:ln>
        </p:spPr>
        <p:txBody>
          <a:bodyPr wrap="square" lIns="0" tIns="0" rIns="0" bIns="0" anchor="t">
            <a:noAutofit/>
          </a:bodyPr>
          <a:lstStyle/>
          <a:p>
            <a:pPr algn="l">
              <a:lnSpc>
                <a:spcPct val="118000"/>
              </a:lnSpc>
              <a:buNone/>
              <a:defRPr sz="3825" b="1">
                <a:solidFill>
                  <a:srgbClr val="247C7A"/>
                </a:solidFill>
                <a:latin typeface="Noto Sans CJK JP"/>
                <a:ea typeface="Noto Sans CJK JP"/>
                <a:cs typeface="Noto Sans CJK JP"/>
              </a:defRPr>
            </a:pPr>
            <a:r>
              <a:rPr sz="3825" b="1">
                <a:solidFill>
                  <a:srgbClr val="247C7A"/>
                </a:solidFill>
                <a:latin typeface="Noto Sans CJK JP"/>
                <a:ea typeface="Noto Sans CJK JP"/>
                <a:cs typeface="Noto Sans CJK JP"/>
              </a:rPr>
              <a:t>03–08</a:t>
            </a:r>
          </a:p>
        </p:txBody>
      </p:sp>
      <p:sp>
        <p:nvSpPr>
          <p:cNvPr id="13" name="制御 / MuJoCo">
            <a:extLst>
              <a:ext uri="{FF2B5EF4-FFF2-40B4-BE49-F238E27FC236}">
                <a16:creationId id="{01683F71-B9A4-49C6-94FA-95A97A38BFCA}"/>
              </a:ext>
            </a:extLst>
          </p:cNvPr>
          <p:cNvSpPr>
            <a:spLocks noGrp="1"/>
          </p:cNvSpPr>
          <p:nvPr/>
        </p:nvSpPr>
        <p:spPr>
          <a:xfrm>
            <a:off x="3381375" y="3105150"/>
            <a:ext cx="2647950" cy="457200"/>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制御 / MuJoCo</a:t>
            </a:r>
          </a:p>
        </p:txBody>
      </p:sp>
      <p:sp>
        <p:nvSpPr>
          <p:cNvPr id="14" name="条件を変えて比較する">
            <a:extLst>
              <a:ext uri="{FF2B5EF4-FFF2-40B4-BE49-F238E27FC236}">
                <a16:creationId id="{9355BE33-F6C9-402B-977C-484F0F2DBE63}"/>
              </a:ext>
            </a:extLst>
          </p:cNvPr>
          <p:cNvSpPr>
            <a:spLocks noGrp="1"/>
          </p:cNvSpPr>
          <p:nvPr/>
        </p:nvSpPr>
        <p:spPr>
          <a:xfrm>
            <a:off x="3381375" y="3733800"/>
            <a:ext cx="2628900" cy="6286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条件を変えて比較する</a:t>
            </a:r>
          </a:p>
        </p:txBody>
      </p:sp>
      <p:sp>
        <p:nvSpPr>
          <p:cNvPr id="15" name="">
            <a:extLst>
              <a:ext uri="{FF2B5EF4-FFF2-40B4-BE49-F238E27FC236}">
                <a16:creationId id="{5DED3939-8F19-45E9-9871-5F7B3CCEFE8A}"/>
              </a:ext>
            </a:extLst>
          </p:cNvPr>
          <p:cNvSpPr>
            <a:spLocks noGrp="1"/>
          </p:cNvSpPr>
          <p:nvPr/>
        </p:nvSpPr>
        <p:spPr>
          <a:xfrm>
            <a:off x="3381375" y="4533900"/>
            <a:ext cx="2457450" cy="28575"/>
          </a:xfrm>
          <a:prstGeom prst="rect">
            <a:avLst/>
          </a:prstGeom>
          <a:solidFill>
            <a:srgbClr val="247C7A"/>
          </a:solidFill>
          <a:ln w="0">
            <a:noFill/>
          </a:ln>
        </p:spPr>
      </p:sp>
      <p:sp>
        <p:nvSpPr>
          <p:cNvPr id="16" name="成果">
            <a:extLst>
              <a:ext uri="{FF2B5EF4-FFF2-40B4-BE49-F238E27FC236}">
                <a16:creationId id="{4ADE6B2C-5AC8-4224-8BE6-FF91E7D98709}"/>
              </a:ext>
            </a:extLst>
          </p:cNvPr>
          <p:cNvSpPr>
            <a:spLocks noGrp="1"/>
          </p:cNvSpPr>
          <p:nvPr/>
        </p:nvSpPr>
        <p:spPr>
          <a:xfrm>
            <a:off x="3381375" y="4724400"/>
            <a:ext cx="2476500" cy="247650"/>
          </a:xfrm>
          <a:prstGeom prst="rect">
            <a:avLst/>
          </a:prstGeom>
          <a:noFill/>
          <a:ln w="0">
            <a:noFill/>
          </a:ln>
        </p:spPr>
        <p:txBody>
          <a:bodyPr wrap="square" lIns="0" tIns="0" rIns="0" bIns="0" anchor="t">
            <a:noAutofit/>
          </a:bodyPr>
          <a:lstStyle/>
          <a:p>
            <a:pPr algn="l">
              <a:lnSpc>
                <a:spcPct val="118000"/>
              </a:lnSpc>
              <a:buNone/>
              <a:defRPr sz="1275" b="0">
                <a:solidFill>
                  <a:srgbClr val="5C6B6B"/>
                </a:solidFill>
                <a:latin typeface="Noto Sans CJK JP"/>
                <a:ea typeface="Noto Sans CJK JP"/>
                <a:cs typeface="Noto Sans CJK JP"/>
              </a:defRPr>
            </a:pPr>
            <a:r>
              <a:rPr sz="1275" b="0">
                <a:solidFill>
                  <a:srgbClr val="5C6B6B"/>
                </a:solidFill>
                <a:latin typeface="Noto Sans CJK JP"/>
                <a:ea typeface="Noto Sans CJK JP"/>
                <a:cs typeface="Noto Sans CJK JP"/>
              </a:rPr>
              <a:t>成果</a:t>
            </a:r>
          </a:p>
        </p:txBody>
      </p:sp>
      <p:sp>
        <p:nvSpPr>
          <p:cNvPr id="17" name="制御の比較結果">
            <a:extLst>
              <a:ext uri="{FF2B5EF4-FFF2-40B4-BE49-F238E27FC236}">
                <a16:creationId id="{184282F4-3459-4377-A015-3EB52A7CFD49}"/>
              </a:ext>
            </a:extLst>
          </p:cNvPr>
          <p:cNvSpPr>
            <a:spLocks noGrp="1"/>
          </p:cNvSpPr>
          <p:nvPr/>
        </p:nvSpPr>
        <p:spPr>
          <a:xfrm>
            <a:off x="3381375" y="5057775"/>
            <a:ext cx="2562225" cy="409575"/>
          </a:xfrm>
          <a:prstGeom prst="rect">
            <a:avLst/>
          </a:prstGeom>
          <a:noFill/>
          <a:ln w="0">
            <a:noFill/>
          </a:ln>
        </p:spPr>
        <p:txBody>
          <a:bodyPr wrap="square" lIns="0" tIns="0" rIns="0" bIns="0" anchor="t">
            <a:noAutofit/>
          </a:bodyPr>
          <a:lstStyle/>
          <a:p>
            <a:pPr algn="l">
              <a:lnSpc>
                <a:spcPct val="118000"/>
              </a:lnSpc>
              <a:buNone/>
              <a:defRPr sz="1650" b="0">
                <a:solidFill>
                  <a:srgbClr val="17323B"/>
                </a:solidFill>
                <a:latin typeface="Noto Sans CJK JP"/>
                <a:ea typeface="Noto Sans CJK JP"/>
                <a:cs typeface="Noto Sans CJK JP"/>
              </a:defRPr>
            </a:pPr>
            <a:r>
              <a:rPr sz="1650" b="0">
                <a:solidFill>
                  <a:srgbClr val="17323B"/>
                </a:solidFill>
                <a:latin typeface="Noto Sans CJK JP"/>
                <a:ea typeface="Noto Sans CJK JP"/>
                <a:cs typeface="Noto Sans CJK JP"/>
              </a:rPr>
              <a:t>制御の比較結果</a:t>
            </a:r>
          </a:p>
        </p:txBody>
      </p:sp>
      <p:sp>
        <p:nvSpPr>
          <p:cNvPr id="18" name="">
            <a:extLst>
              <a:ext uri="{FF2B5EF4-FFF2-40B4-BE49-F238E27FC236}">
                <a16:creationId id="{F2D3BF57-94A7-4427-AE45-2E63218E0140}"/>
              </a:ext>
            </a:extLst>
          </p:cNvPr>
          <p:cNvSpPr>
            <a:spLocks noGrp="1"/>
          </p:cNvSpPr>
          <p:nvPr/>
        </p:nvSpPr>
        <p:spPr>
          <a:xfrm>
            <a:off x="5667375" y="2647950"/>
            <a:ext cx="361950" cy="161925"/>
          </a:xfrm>
          <a:prstGeom prst="rightArrow">
            <a:avLst/>
          </a:prstGeom>
          <a:solidFill>
            <a:srgbClr val="C8D4D0"/>
          </a:solidFill>
          <a:ln w="0">
            <a:noFill/>
          </a:ln>
        </p:spPr>
      </p:sp>
      <p:sp>
        <p:nvSpPr>
          <p:cNvPr id="19" name="09–12">
            <a:extLst>
              <a:ext uri="{FF2B5EF4-FFF2-40B4-BE49-F238E27FC236}">
                <a16:creationId id="{55B14BF2-9DB1-4FB8-B5F1-96AEC6F3E762}"/>
              </a:ext>
            </a:extLst>
          </p:cNvPr>
          <p:cNvSpPr>
            <a:spLocks noGrp="1"/>
          </p:cNvSpPr>
          <p:nvPr/>
        </p:nvSpPr>
        <p:spPr>
          <a:xfrm>
            <a:off x="6153150" y="2305050"/>
            <a:ext cx="2647950" cy="666750"/>
          </a:xfrm>
          <a:prstGeom prst="rect">
            <a:avLst/>
          </a:prstGeom>
          <a:noFill/>
          <a:ln w="0">
            <a:noFill/>
          </a:ln>
        </p:spPr>
        <p:txBody>
          <a:bodyPr wrap="square" lIns="0" tIns="0" rIns="0" bIns="0" anchor="t">
            <a:noAutofit/>
          </a:bodyPr>
          <a:lstStyle/>
          <a:p>
            <a:pPr algn="l">
              <a:lnSpc>
                <a:spcPct val="118000"/>
              </a:lnSpc>
              <a:buNone/>
              <a:defRPr sz="3825" b="1">
                <a:solidFill>
                  <a:srgbClr val="247C7A"/>
                </a:solidFill>
                <a:latin typeface="Noto Sans CJK JP"/>
                <a:ea typeface="Noto Sans CJK JP"/>
                <a:cs typeface="Noto Sans CJK JP"/>
              </a:defRPr>
            </a:pPr>
            <a:r>
              <a:rPr sz="3825" b="1">
                <a:solidFill>
                  <a:srgbClr val="247C7A"/>
                </a:solidFill>
                <a:latin typeface="Noto Sans CJK JP"/>
                <a:ea typeface="Noto Sans CJK JP"/>
                <a:cs typeface="Noto Sans CJK JP"/>
              </a:rPr>
              <a:t>09–12</a:t>
            </a:r>
          </a:p>
        </p:txBody>
      </p:sp>
      <p:sp>
        <p:nvSpPr>
          <p:cNvPr id="20" name="先輩の研究"/>
          <p:cNvSpPr/>
          <p:nvPr/>
        </p:nvSpPr>
        <p:spPr>
          <a:xfrm>
            <a:off x="6153150" y="3105150"/>
            <a:ext cx="2647950" cy="457200"/>
          </a:xfrm>
          <a:prstGeom prst="rect">
            <a:avLst/>
          </a:prstGeom>
          <a:noFill/>
          <a:ln>
            <a:noFill/>
          </a:ln>
        </p:spPr>
        <p:txBody>
          <a:bodyPr wrap="none" lIns="0" tIns="0" rIns="0" bIns="0" anchor="t" anchorCtr="0">
            <a:noAutofit/>
          </a:bodyPr>
          <a:lstStyle/>
          <a:p>
            <a:pPr algn="l"/>
            <a:r>
              <a:rPr lang="ja-JP" sz="2100" b="1" dirty="0">
                <a:solidFill>
                  <a:srgbClr val="17323B"/>
                </a:solidFill>
                <a:latin typeface="Noto Sans CJK JP"/>
                <a:ea typeface="Noto Sans CJK JP"/>
                <a:cs typeface="Noto Sans CJK JP"/>
              </a:rPr>
              <a:t>業界研究・進路</a:t>
            </a:r>
          </a:p>
        </p:txBody>
      </p:sp>
      <p:sp>
        <p:nvSpPr>
          <p:cNvPr id="21" name="役割を持って参加する"/>
          <p:cNvSpPr/>
          <p:nvPr/>
        </p:nvSpPr>
        <p:spPr>
          <a:xfrm>
            <a:off x="6153150" y="3733800"/>
            <a:ext cx="2628900" cy="628650"/>
          </a:xfrm>
          <a:prstGeom prst="rect">
            <a:avLst/>
          </a:prstGeom>
          <a:noFill/>
          <a:ln>
            <a:noFill/>
          </a:ln>
        </p:spPr>
        <p:txBody>
          <a:bodyPr wrap="none" lIns="0" tIns="0" rIns="0" bIns="0" anchor="t" anchorCtr="0">
            <a:noAutofit/>
          </a:bodyPr>
          <a:lstStyle/>
          <a:p>
            <a:pPr algn="l"/>
            <a:r>
              <a:rPr lang="ja-JP" sz="1720" dirty="0">
                <a:solidFill>
                  <a:srgbClr val="17323B"/>
                </a:solidFill>
                <a:latin typeface="Noto Sans CJK JP"/>
                <a:ea typeface="Noto Sans CJK JP"/>
                <a:cs typeface="Noto Sans CJK JP"/>
              </a:rPr>
              <a:t>第9–11回：研究会参加</a:t>
            </a:r>
          </a:p>
        </p:txBody>
      </p:sp>
      <p:sp>
        <p:nvSpPr>
          <p:cNvPr id="22" name="">
            <a:extLst>
              <a:ext uri="{FF2B5EF4-FFF2-40B4-BE49-F238E27FC236}">
                <a16:creationId id="{AA3350C9-18CE-4F03-911A-32660546C43C}"/>
              </a:ext>
            </a:extLst>
          </p:cNvPr>
          <p:cNvSpPr>
            <a:spLocks noGrp="1"/>
          </p:cNvSpPr>
          <p:nvPr/>
        </p:nvSpPr>
        <p:spPr>
          <a:xfrm>
            <a:off x="6153150" y="4533900"/>
            <a:ext cx="2457450" cy="28575"/>
          </a:xfrm>
          <a:prstGeom prst="rect">
            <a:avLst/>
          </a:prstGeom>
          <a:solidFill>
            <a:srgbClr val="247C7A"/>
          </a:solidFill>
          <a:ln w="0">
            <a:noFill/>
          </a:ln>
        </p:spPr>
      </p:sp>
      <p:sp>
        <p:nvSpPr>
          <p:cNvPr id="23" name="成果">
            <a:extLst>
              <a:ext uri="{FF2B5EF4-FFF2-40B4-BE49-F238E27FC236}">
                <a16:creationId id="{D267BE98-F0E8-4EEB-8523-2A04F217CF06}"/>
              </a:ext>
            </a:extLst>
          </p:cNvPr>
          <p:cNvSpPr>
            <a:spLocks noGrp="1"/>
          </p:cNvSpPr>
          <p:nvPr/>
        </p:nvSpPr>
        <p:spPr>
          <a:xfrm>
            <a:off x="6153150" y="4724400"/>
            <a:ext cx="2476500" cy="247650"/>
          </a:xfrm>
          <a:prstGeom prst="rect">
            <a:avLst/>
          </a:prstGeom>
          <a:noFill/>
          <a:ln w="0">
            <a:noFill/>
          </a:ln>
        </p:spPr>
        <p:txBody>
          <a:bodyPr wrap="square" lIns="0" tIns="0" rIns="0" bIns="0" anchor="t">
            <a:noAutofit/>
          </a:bodyPr>
          <a:lstStyle/>
          <a:p>
            <a:pPr algn="l">
              <a:lnSpc>
                <a:spcPct val="118000"/>
              </a:lnSpc>
              <a:buNone/>
              <a:defRPr sz="1275" b="0">
                <a:solidFill>
                  <a:srgbClr val="5C6B6B"/>
                </a:solidFill>
                <a:latin typeface="Noto Sans CJK JP"/>
                <a:ea typeface="Noto Sans CJK JP"/>
                <a:cs typeface="Noto Sans CJK JP"/>
              </a:defRPr>
            </a:pPr>
            <a:r>
              <a:rPr sz="1275" b="0">
                <a:solidFill>
                  <a:srgbClr val="5C6B6B"/>
                </a:solidFill>
                <a:latin typeface="Noto Sans CJK JP"/>
                <a:ea typeface="Noto Sans CJK JP"/>
                <a:cs typeface="Noto Sans CJK JP"/>
              </a:rPr>
              <a:t>成果</a:t>
            </a:r>
          </a:p>
        </p:txBody>
      </p:sp>
      <p:sp>
        <p:nvSpPr>
          <p:cNvPr id="24" name="参加した研究の報告"/>
          <p:cNvSpPr/>
          <p:nvPr/>
        </p:nvSpPr>
        <p:spPr>
          <a:xfrm>
            <a:off x="6153150" y="5057775"/>
            <a:ext cx="2562225" cy="409575"/>
          </a:xfrm>
          <a:prstGeom prst="rect">
            <a:avLst/>
          </a:prstGeom>
          <a:noFill/>
          <a:ln>
            <a:noFill/>
          </a:ln>
        </p:spPr>
        <p:txBody>
          <a:bodyPr wrap="none" lIns="0" tIns="0" rIns="0" bIns="0" anchor="t" anchorCtr="0">
            <a:noAutofit/>
          </a:bodyPr>
          <a:lstStyle/>
          <a:p>
            <a:pPr algn="l"/>
            <a:r>
              <a:rPr lang="ja-JP" sz="1650" dirty="0">
                <a:solidFill>
                  <a:srgbClr val="17323B"/>
                </a:solidFill>
                <a:latin typeface="Noto Sans CJK JP"/>
                <a:ea typeface="Noto Sans CJK JP"/>
                <a:cs typeface="Noto Sans CJK JP"/>
              </a:rPr>
              <a:t>参加記録／第12回未定</a:t>
            </a:r>
          </a:p>
        </p:txBody>
      </p:sp>
      <p:sp>
        <p:nvSpPr>
          <p:cNvPr id="25" name="">
            <a:extLst>
              <a:ext uri="{FF2B5EF4-FFF2-40B4-BE49-F238E27FC236}">
                <a16:creationId id="{E00A6AC3-75C9-481E-8935-E574F0F6888B}"/>
              </a:ext>
            </a:extLst>
          </p:cNvPr>
          <p:cNvSpPr>
            <a:spLocks noGrp="1"/>
          </p:cNvSpPr>
          <p:nvPr/>
        </p:nvSpPr>
        <p:spPr>
          <a:xfrm>
            <a:off x="8439150" y="2647950"/>
            <a:ext cx="361950" cy="161925"/>
          </a:xfrm>
          <a:prstGeom prst="rightArrow">
            <a:avLst/>
          </a:prstGeom>
          <a:solidFill>
            <a:srgbClr val="C8D4D0"/>
          </a:solidFill>
          <a:ln w="0">
            <a:noFill/>
          </a:ln>
        </p:spPr>
      </p:sp>
      <p:sp>
        <p:nvSpPr>
          <p:cNvPr id="26" name="13–15">
            <a:extLst>
              <a:ext uri="{FF2B5EF4-FFF2-40B4-BE49-F238E27FC236}">
                <a16:creationId id="{28D4F485-1D3D-43B9-9D67-292686C8EBDB}"/>
              </a:ext>
            </a:extLst>
          </p:cNvPr>
          <p:cNvSpPr>
            <a:spLocks noGrp="1"/>
          </p:cNvSpPr>
          <p:nvPr/>
        </p:nvSpPr>
        <p:spPr>
          <a:xfrm>
            <a:off x="8924925" y="2305050"/>
            <a:ext cx="2647950" cy="666750"/>
          </a:xfrm>
          <a:prstGeom prst="rect">
            <a:avLst/>
          </a:prstGeom>
          <a:noFill/>
          <a:ln w="0">
            <a:noFill/>
          </a:ln>
        </p:spPr>
        <p:txBody>
          <a:bodyPr wrap="square" lIns="0" tIns="0" rIns="0" bIns="0" anchor="t">
            <a:noAutofit/>
          </a:bodyPr>
          <a:lstStyle/>
          <a:p>
            <a:pPr algn="l">
              <a:lnSpc>
                <a:spcPct val="118000"/>
              </a:lnSpc>
              <a:buNone/>
              <a:defRPr sz="3825" b="1">
                <a:solidFill>
                  <a:srgbClr val="C9633D"/>
                </a:solidFill>
                <a:latin typeface="Noto Sans CJK JP"/>
                <a:ea typeface="Noto Sans CJK JP"/>
                <a:cs typeface="Noto Sans CJK JP"/>
              </a:defRPr>
            </a:pPr>
            <a:r>
              <a:rPr sz="3825" b="1">
                <a:solidFill>
                  <a:srgbClr val="C9633D"/>
                </a:solidFill>
                <a:latin typeface="Noto Sans CJK JP"/>
                <a:ea typeface="Noto Sans CJK JP"/>
                <a:cs typeface="Noto Sans CJK JP"/>
              </a:rPr>
              <a:t>13–15</a:t>
            </a:r>
          </a:p>
        </p:txBody>
      </p:sp>
      <p:sp>
        <p:nvSpPr>
          <p:cNvPr id="27" name="AIプロジェクト">
            <a:extLst>
              <a:ext uri="{FF2B5EF4-FFF2-40B4-BE49-F238E27FC236}">
                <a16:creationId id="{E0BA48B0-1A9E-48DA-B86B-693A50143B13}"/>
              </a:ext>
            </a:extLst>
          </p:cNvPr>
          <p:cNvSpPr>
            <a:spLocks noGrp="1"/>
          </p:cNvSpPr>
          <p:nvPr/>
        </p:nvSpPr>
        <p:spPr>
          <a:xfrm>
            <a:off x="8924925" y="3105150"/>
            <a:ext cx="2647950" cy="457200"/>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AIプロジェクト</a:t>
            </a:r>
          </a:p>
        </p:txBody>
      </p:sp>
      <p:sp>
        <p:nvSpPr>
          <p:cNvPr id="28" name="基準と比べて評価する">
            <a:extLst>
              <a:ext uri="{FF2B5EF4-FFF2-40B4-BE49-F238E27FC236}">
                <a16:creationId id="{4FD5D99D-E567-4DAE-90E7-5B2DB69A9A15}"/>
              </a:ext>
            </a:extLst>
          </p:cNvPr>
          <p:cNvSpPr>
            <a:spLocks noGrp="1"/>
          </p:cNvSpPr>
          <p:nvPr/>
        </p:nvSpPr>
        <p:spPr>
          <a:xfrm>
            <a:off x="8924925" y="3733800"/>
            <a:ext cx="2628900" cy="6286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基準と比べて評価する</a:t>
            </a:r>
          </a:p>
        </p:txBody>
      </p:sp>
      <p:sp>
        <p:nvSpPr>
          <p:cNvPr id="29" name="">
            <a:extLst>
              <a:ext uri="{FF2B5EF4-FFF2-40B4-BE49-F238E27FC236}">
                <a16:creationId id="{7599C591-EB6E-4A7C-94E8-A9272F9A88E2}"/>
              </a:ext>
            </a:extLst>
          </p:cNvPr>
          <p:cNvSpPr>
            <a:spLocks noGrp="1"/>
          </p:cNvSpPr>
          <p:nvPr/>
        </p:nvSpPr>
        <p:spPr>
          <a:xfrm>
            <a:off x="8924925" y="4533900"/>
            <a:ext cx="2457450" cy="28575"/>
          </a:xfrm>
          <a:prstGeom prst="rect">
            <a:avLst/>
          </a:prstGeom>
          <a:solidFill>
            <a:srgbClr val="247C7A"/>
          </a:solidFill>
          <a:ln w="0">
            <a:noFill/>
          </a:ln>
        </p:spPr>
      </p:sp>
      <p:sp>
        <p:nvSpPr>
          <p:cNvPr id="30" name="成果">
            <a:extLst>
              <a:ext uri="{FF2B5EF4-FFF2-40B4-BE49-F238E27FC236}">
                <a16:creationId id="{81B1EC7D-D967-470F-8141-B679A1EF92E9}"/>
              </a:ext>
            </a:extLst>
          </p:cNvPr>
          <p:cNvSpPr>
            <a:spLocks noGrp="1"/>
          </p:cNvSpPr>
          <p:nvPr/>
        </p:nvSpPr>
        <p:spPr>
          <a:xfrm>
            <a:off x="8924925" y="4724400"/>
            <a:ext cx="2476500" cy="247650"/>
          </a:xfrm>
          <a:prstGeom prst="rect">
            <a:avLst/>
          </a:prstGeom>
          <a:noFill/>
          <a:ln w="0">
            <a:noFill/>
          </a:ln>
        </p:spPr>
        <p:txBody>
          <a:bodyPr wrap="square" lIns="0" tIns="0" rIns="0" bIns="0" anchor="t">
            <a:noAutofit/>
          </a:bodyPr>
          <a:lstStyle/>
          <a:p>
            <a:pPr algn="l">
              <a:lnSpc>
                <a:spcPct val="118000"/>
              </a:lnSpc>
              <a:buNone/>
              <a:defRPr sz="1275" b="0">
                <a:solidFill>
                  <a:srgbClr val="5C6B6B"/>
                </a:solidFill>
                <a:latin typeface="Noto Sans CJK JP"/>
                <a:ea typeface="Noto Sans CJK JP"/>
                <a:cs typeface="Noto Sans CJK JP"/>
              </a:defRPr>
            </a:pPr>
            <a:r>
              <a:rPr sz="1275" b="0">
                <a:solidFill>
                  <a:srgbClr val="5C6B6B"/>
                </a:solidFill>
                <a:latin typeface="Noto Sans CJK JP"/>
                <a:ea typeface="Noto Sans CJK JP"/>
                <a:cs typeface="Noto Sans CJK JP"/>
              </a:rPr>
              <a:t>成果</a:t>
            </a:r>
          </a:p>
        </p:txBody>
      </p:sp>
      <p:sp>
        <p:nvSpPr>
          <p:cNvPr id="31" name="AI実験と最終発表">
            <a:extLst>
              <a:ext uri="{FF2B5EF4-FFF2-40B4-BE49-F238E27FC236}">
                <a16:creationId id="{98F6F7E2-C923-4EB4-A831-E37E8F27C59A}"/>
              </a:ext>
            </a:extLst>
          </p:cNvPr>
          <p:cNvSpPr>
            <a:spLocks noGrp="1"/>
          </p:cNvSpPr>
          <p:nvPr/>
        </p:nvSpPr>
        <p:spPr>
          <a:xfrm>
            <a:off x="8924925" y="5057775"/>
            <a:ext cx="2562225" cy="409575"/>
          </a:xfrm>
          <a:prstGeom prst="rect">
            <a:avLst/>
          </a:prstGeom>
          <a:noFill/>
          <a:ln w="0">
            <a:noFill/>
          </a:ln>
        </p:spPr>
        <p:txBody>
          <a:bodyPr wrap="square" lIns="0" tIns="0" rIns="0" bIns="0" anchor="t">
            <a:noAutofit/>
          </a:bodyPr>
          <a:lstStyle/>
          <a:p>
            <a:pPr algn="l">
              <a:lnSpc>
                <a:spcPct val="118000"/>
              </a:lnSpc>
              <a:buNone/>
              <a:defRPr sz="1650" b="0">
                <a:solidFill>
                  <a:srgbClr val="17323B"/>
                </a:solidFill>
                <a:latin typeface="Noto Sans CJK JP"/>
                <a:ea typeface="Noto Sans CJK JP"/>
                <a:cs typeface="Noto Sans CJK JP"/>
              </a:defRPr>
            </a:pPr>
            <a:r>
              <a:rPr sz="1650" b="0">
                <a:solidFill>
                  <a:srgbClr val="17323B"/>
                </a:solidFill>
                <a:latin typeface="Noto Sans CJK JP"/>
                <a:ea typeface="Noto Sans CJK JP"/>
                <a:cs typeface="Noto Sans CJK JP"/>
              </a:rPr>
              <a:t>AI実験と最終発表</a:t>
            </a:r>
          </a:p>
        </p:txBody>
      </p:sp>
      <p:sp>
        <p:nvSpPr>
          <p:cNvPr id="32" name="">
            <a:extLst>
              <a:ext uri="{FF2B5EF4-FFF2-40B4-BE49-F238E27FC236}">
                <a16:creationId id="{53B6A6EF-1495-4526-A062-C1F22B40A6B0}"/>
              </a:ext>
            </a:extLst>
          </p:cNvPr>
          <p:cNvSpPr>
            <a:spLocks noGrp="1"/>
          </p:cNvSpPr>
          <p:nvPr/>
        </p:nvSpPr>
        <p:spPr>
          <a:xfrm>
            <a:off x="609600" y="5791200"/>
            <a:ext cx="10972800" cy="457200"/>
          </a:xfrm>
          <a:prstGeom prst="rect">
            <a:avLst/>
          </a:prstGeom>
          <a:solidFill>
            <a:srgbClr val="17323B"/>
          </a:solidFill>
          <a:ln w="0">
            <a:noFill/>
          </a:ln>
        </p:spPr>
      </p:sp>
      <p:sp>
        <p:nvSpPr>
          <p:cNvPr id="33" name="第1・2回はPPT発表なし。第3回から、毎回発表。"/>
          <p:cNvSpPr/>
          <p:nvPr/>
        </p:nvSpPr>
        <p:spPr>
          <a:xfrm>
            <a:off x="800100" y="5857875"/>
            <a:ext cx="10591800" cy="342900"/>
          </a:xfrm>
          <a:prstGeom prst="rect">
            <a:avLst/>
          </a:prstGeom>
          <a:noFill/>
          <a:ln>
            <a:noFill/>
          </a:ln>
        </p:spPr>
        <p:txBody>
          <a:bodyPr wrap="none" lIns="0" tIns="0" rIns="0" bIns="0" anchor="t" anchorCtr="0">
            <a:noAutofit/>
          </a:bodyPr>
          <a:lstStyle/>
          <a:p>
            <a:pPr algn="l"/>
            <a:r>
              <a:rPr lang="ja-JP" sz="1880" b="1" dirty="0">
                <a:solidFill>
                  <a:srgbClr val="FFFFFF"/>
                </a:solidFill>
                <a:latin typeface="Noto Sans CJK JP"/>
                <a:ea typeface="Noto Sans CJK JP"/>
                <a:cs typeface="Noto Sans CJK JP"/>
              </a:rPr>
              <a:t>第3回から発表。第9–11回は業界研究会に参加。第12回は別途案内。</a:t>
            </a:r>
          </a:p>
        </p:txBody>
      </p:sp>
    </p:spTree>
    <p:extLst>
      <p:ext uri="{BB962C8B-B14F-4D97-AF65-F5344CB8AC3E}">
        <p14:creationId val="377505268"/>
      </p:ext>
    </p:extLst>
  </p:cSld>
</p:sld>
</file>

<file path=ppt/slides/slide4.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研究室紹介">
            <a:extLst xmlns:a="http://schemas.openxmlformats.org/drawingml/2006/main">
              <a:ext uri="{FF2B5EF4-FFF2-40B4-BE49-F238E27FC236}">
                <a16:creationId xmlns:a16="http://schemas.microsoft.com/office/drawing/2014/main" id="{AB4F3796-5499-47F4-8CE6-6532270C8434}"/>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曹研究室の研究">
            <a:extLst xmlns:a="http://schemas.openxmlformats.org/drawingml/2006/main">
              <a:ext uri="{FF2B5EF4-FFF2-40B4-BE49-F238E27FC236}">
                <a16:creationId xmlns:a16="http://schemas.microsoft.com/office/drawing/2014/main" id="{005FAFA2-C67D-42CD-9E76-ACAB43B6A2F0}"/>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曹研究室の研究</a:t>
            </a:r>
          </a:p>
        </p:txBody>
      </p:sp>
      <p:sp>
        <p:nvSpPr>
          <p:cNvPr id="3" name="人の動きを測り、仕組みを考え、ロボットの動きや支援を設計する">
            <a:extLst xmlns:a="http://schemas.openxmlformats.org/drawingml/2006/main">
              <a:ext uri="{FF2B5EF4-FFF2-40B4-BE49-F238E27FC236}">
                <a16:creationId xmlns:a16="http://schemas.microsoft.com/office/drawing/2014/main" id="{04A6294F-75FF-4BEF-98B9-94129E14166A}"/>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人の動きを測り、仕組みを考え、ロボットの動きや支援を設計する</a:t>
            </a:r>
          </a:p>
        </p:txBody>
      </p:sp>
      <p:sp>
        <p:nvSpPr>
          <p:cNvPr id="4" name="04">
            <a:extLst xmlns:a="http://schemas.openxmlformats.org/drawingml/2006/main">
              <a:ext uri="{FF2B5EF4-FFF2-40B4-BE49-F238E27FC236}">
                <a16:creationId xmlns:a16="http://schemas.microsoft.com/office/drawing/2014/main" id="{E8DB2E48-C5F6-4E6D-A4CD-3AB71C435B8A}"/>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04</a:t>
            </a:r>
          </a:p>
        </p:txBody>
      </p:sp>
      <p:sp>
        <p:nvSpPr>
          <p:cNvPr id="5" name="人の動きと&#10;ロボットの支援">
            <a:extLst xmlns:a="http://schemas.openxmlformats.org/drawingml/2006/main">
              <a:ext uri="{FF2B5EF4-FFF2-40B4-BE49-F238E27FC236}">
                <a16:creationId xmlns:a16="http://schemas.microsoft.com/office/drawing/2014/main" id="{370EF088-2027-4253-932A-58E11CACC7F8}"/>
              </a:ext>
            </a:extLst>
          </p:cNvPr>
          <p:cNvSpPr>
            <a:spLocks xmlns:a="http://schemas.openxmlformats.org/drawingml/2006/main" noGrp="1"/>
          </p:cNvSpPr>
          <p:nvPr/>
        </p:nvSpPr>
        <p:spPr>
          <a:xfrm xmlns:a="http://schemas.openxmlformats.org/drawingml/2006/main">
            <a:off x="609600" y="2409825"/>
            <a:ext cx="51625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600" b="1">
                <a:solidFill>
                  <a:srgbClr val="17323B"/>
                </a:solidFill>
                <a:latin typeface="Noto Sans CJK JP"/>
                <a:ea typeface="Noto Sans CJK JP"/>
                <a:cs typeface="Noto Sans CJK JP"/>
              </a:defRPr>
            </a:pPr>
            <a:r>
              <a:rPr sz="3600" b="1">
                <a:solidFill>
                  <a:srgbClr val="17323B"/>
                </a:solidFill>
                <a:latin typeface="Noto Sans CJK JP"/>
                <a:ea typeface="Noto Sans CJK JP"/>
                <a:cs typeface="Noto Sans CJK JP"/>
              </a:rPr>
              <a:t>人の動きと</a:t>
            </a:r>
          </a:p>
          <a:p xmlns:a="http://schemas.openxmlformats.org/drawingml/2006/main">
            <a:pPr algn="l">
              <a:lnSpc>
                <a:spcPct val="118000"/>
              </a:lnSpc>
              <a:buNone/>
              <a:defRPr sz="3600" b="1">
                <a:solidFill>
                  <a:srgbClr val="17323B"/>
                </a:solidFill>
                <a:latin typeface="Noto Sans CJK JP"/>
                <a:ea typeface="Noto Sans CJK JP"/>
                <a:cs typeface="Noto Sans CJK JP"/>
              </a:defRPr>
            </a:pPr>
            <a:r>
              <a:rPr sz="3600" b="1">
                <a:solidFill>
                  <a:srgbClr val="17323B"/>
                </a:solidFill>
                <a:latin typeface="Noto Sans CJK JP"/>
                <a:ea typeface="Noto Sans CJK JP"/>
                <a:cs typeface="Noto Sans CJK JP"/>
              </a:rPr>
              <a:t>ロボットの支援</a:t>
            </a:r>
          </a:p>
        </p:txBody>
      </p:sp>
      <p:sp>
        <p:nvSpPr>
          <p:cNvPr id="6" name="人と接するロボットから、&#10;動作の解析や学習まで。">
            <a:extLst xmlns:a="http://schemas.openxmlformats.org/drawingml/2006/main">
              <a:ext uri="{FF2B5EF4-FFF2-40B4-BE49-F238E27FC236}">
                <a16:creationId xmlns:a16="http://schemas.microsoft.com/office/drawing/2014/main" id="{C46DC2FF-F1BE-4473-BD29-1FCA11D1476D}"/>
              </a:ext>
            </a:extLst>
          </p:cNvPr>
          <p:cNvSpPr>
            <a:spLocks xmlns:a="http://schemas.openxmlformats.org/drawingml/2006/main" noGrp="1"/>
          </p:cNvSpPr>
          <p:nvPr/>
        </p:nvSpPr>
        <p:spPr>
          <a:xfrm xmlns:a="http://schemas.openxmlformats.org/drawingml/2006/main">
            <a:off x="638175" y="4362450"/>
            <a:ext cx="4857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0">
                <a:solidFill>
                  <a:srgbClr val="5C6B6B"/>
                </a:solidFill>
                <a:latin typeface="Noto Sans CJK JP"/>
                <a:ea typeface="Noto Sans CJK JP"/>
                <a:cs typeface="Noto Sans CJK JP"/>
              </a:defRPr>
            </a:pPr>
            <a:r>
              <a:rPr sz="2100" b="0">
                <a:solidFill>
                  <a:srgbClr val="5C6B6B"/>
                </a:solidFill>
                <a:latin typeface="Noto Sans CJK JP"/>
                <a:ea typeface="Noto Sans CJK JP"/>
                <a:cs typeface="Noto Sans CJK JP"/>
              </a:rPr>
              <a:t>人と接するロボットから、</a:t>
            </a:r>
          </a:p>
          <a:p xmlns:a="http://schemas.openxmlformats.org/drawingml/2006/main">
            <a:pPr algn="l">
              <a:lnSpc>
                <a:spcPct val="118000"/>
              </a:lnSpc>
              <a:buNone/>
              <a:defRPr sz="2100" b="0">
                <a:solidFill>
                  <a:srgbClr val="5C6B6B"/>
                </a:solidFill>
                <a:latin typeface="Noto Sans CJK JP"/>
                <a:ea typeface="Noto Sans CJK JP"/>
                <a:cs typeface="Noto Sans CJK JP"/>
              </a:defRPr>
            </a:pPr>
            <a:r>
              <a:rPr sz="2100" b="0">
                <a:solidFill>
                  <a:srgbClr val="5C6B6B"/>
                </a:solidFill>
                <a:latin typeface="Noto Sans CJK JP"/>
                <a:ea typeface="Noto Sans CJK JP"/>
                <a:cs typeface="Noto Sans CJK JP"/>
              </a:rPr>
              <a:t>動作の解析や学習まで。</a:t>
            </a:r>
          </a:p>
        </p:txBody>
      </p:sp>
      <p:sp>
        <p:nvSpPr>
          <p:cNvPr id="7" name="">
            <a:extLst xmlns:a="http://schemas.openxmlformats.org/drawingml/2006/main">
              <a:ext uri="{FF2B5EF4-FFF2-40B4-BE49-F238E27FC236}">
                <a16:creationId xmlns:a16="http://schemas.microsoft.com/office/drawing/2014/main" id="{7C1CE6A5-5C54-44EB-9F41-C51AF3C0B9BF}"/>
              </a:ext>
            </a:extLst>
          </p:cNvPr>
          <p:cNvSpPr>
            <a:spLocks xmlns:a="http://schemas.openxmlformats.org/drawingml/2006/main" noGrp="1"/>
          </p:cNvSpPr>
          <p:nvPr/>
        </p:nvSpPr>
        <p:spPr>
          <a:xfrm xmlns:a="http://schemas.openxmlformats.org/drawingml/2006/main">
            <a:off x="5953125" y="2047875"/>
            <a:ext cx="19050" cy="357187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8" name="計測">
            <a:extLst xmlns:a="http://schemas.openxmlformats.org/drawingml/2006/main">
              <a:ext uri="{FF2B5EF4-FFF2-40B4-BE49-F238E27FC236}">
                <a16:creationId xmlns:a16="http://schemas.microsoft.com/office/drawing/2014/main" id="{24BEBAFA-ABC4-4487-B18A-DF8DCF29557F}"/>
              </a:ext>
            </a:extLst>
          </p:cNvPr>
          <p:cNvSpPr>
            <a:spLocks xmlns:a="http://schemas.openxmlformats.org/drawingml/2006/main" noGrp="1"/>
          </p:cNvSpPr>
          <p:nvPr/>
        </p:nvSpPr>
        <p:spPr>
          <a:xfrm xmlns:a="http://schemas.openxmlformats.org/drawingml/2006/main">
            <a:off x="6419850" y="20288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計測</a:t>
            </a:r>
          </a:p>
        </p:txBody>
      </p:sp>
      <p:sp>
        <p:nvSpPr>
          <p:cNvPr id="9" name="動きや力を、比べられるデータにする">
            <a:extLst xmlns:a="http://schemas.openxmlformats.org/drawingml/2006/main">
              <a:ext uri="{FF2B5EF4-FFF2-40B4-BE49-F238E27FC236}">
                <a16:creationId xmlns:a16="http://schemas.microsoft.com/office/drawing/2014/main" id="{119E68AB-1683-4D4F-B2CD-D12CB143A2C3}"/>
              </a:ext>
            </a:extLst>
          </p:cNvPr>
          <p:cNvSpPr>
            <a:spLocks xmlns:a="http://schemas.openxmlformats.org/drawingml/2006/main" noGrp="1"/>
          </p:cNvSpPr>
          <p:nvPr/>
        </p:nvSpPr>
        <p:spPr>
          <a:xfrm xmlns:a="http://schemas.openxmlformats.org/drawingml/2006/main">
            <a:off x="6419850" y="246697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動きや力を、比べられるデータにする</a:t>
            </a:r>
          </a:p>
        </p:txBody>
      </p:sp>
      <p:sp>
        <p:nvSpPr>
          <p:cNvPr id="10" name="モデル">
            <a:extLst xmlns:a="http://schemas.openxmlformats.org/drawingml/2006/main">
              <a:ext uri="{FF2B5EF4-FFF2-40B4-BE49-F238E27FC236}">
                <a16:creationId xmlns:a16="http://schemas.microsoft.com/office/drawing/2014/main" id="{4967A5B5-8C5D-45C4-8B5F-8BAD42A6897B}"/>
              </a:ext>
            </a:extLst>
          </p:cNvPr>
          <p:cNvSpPr>
            <a:spLocks xmlns:a="http://schemas.openxmlformats.org/drawingml/2006/main" noGrp="1"/>
          </p:cNvSpPr>
          <p:nvPr/>
        </p:nvSpPr>
        <p:spPr>
          <a:xfrm xmlns:a="http://schemas.openxmlformats.org/drawingml/2006/main">
            <a:off x="6419850" y="30003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モデル</a:t>
            </a:r>
          </a:p>
        </p:txBody>
      </p:sp>
      <p:sp>
        <p:nvSpPr>
          <p:cNvPr id="11" name="身体や機械の動きを、式や仮想環境で表す">
            <a:extLst xmlns:a="http://schemas.openxmlformats.org/drawingml/2006/main">
              <a:ext uri="{FF2B5EF4-FFF2-40B4-BE49-F238E27FC236}">
                <a16:creationId xmlns:a16="http://schemas.microsoft.com/office/drawing/2014/main" id="{C5F16F8D-C231-4BDF-92FF-2A3150EEFF01}"/>
              </a:ext>
            </a:extLst>
          </p:cNvPr>
          <p:cNvSpPr>
            <a:spLocks xmlns:a="http://schemas.openxmlformats.org/drawingml/2006/main" noGrp="1"/>
          </p:cNvSpPr>
          <p:nvPr/>
        </p:nvSpPr>
        <p:spPr>
          <a:xfrm xmlns:a="http://schemas.openxmlformats.org/drawingml/2006/main">
            <a:off x="6419850" y="34385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身体や機械の動きを、式や仮想環境で表す</a:t>
            </a:r>
          </a:p>
        </p:txBody>
      </p:sp>
      <p:sp>
        <p:nvSpPr>
          <p:cNvPr id="12" name="制御">
            <a:extLst xmlns:a="http://schemas.openxmlformats.org/drawingml/2006/main">
              <a:ext uri="{FF2B5EF4-FFF2-40B4-BE49-F238E27FC236}">
                <a16:creationId xmlns:a16="http://schemas.microsoft.com/office/drawing/2014/main" id="{91355A8E-6AB8-4371-8DA8-99ECF4F489C5}"/>
              </a:ext>
            </a:extLst>
          </p:cNvPr>
          <p:cNvSpPr>
            <a:spLocks xmlns:a="http://schemas.openxmlformats.org/drawingml/2006/main" noGrp="1"/>
          </p:cNvSpPr>
          <p:nvPr/>
        </p:nvSpPr>
        <p:spPr>
          <a:xfrm xmlns:a="http://schemas.openxmlformats.org/drawingml/2006/main">
            <a:off x="6419850" y="397192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制御</a:t>
            </a:r>
          </a:p>
        </p:txBody>
      </p:sp>
      <p:sp>
        <p:nvSpPr>
          <p:cNvPr id="13" name="目的と制約に合わせて、入力を決める">
            <a:extLst xmlns:a="http://schemas.openxmlformats.org/drawingml/2006/main">
              <a:ext uri="{FF2B5EF4-FFF2-40B4-BE49-F238E27FC236}">
                <a16:creationId xmlns:a16="http://schemas.microsoft.com/office/drawing/2014/main" id="{E2A65161-29F1-4779-8C36-B1DDCA86685B}"/>
              </a:ext>
            </a:extLst>
          </p:cNvPr>
          <p:cNvSpPr>
            <a:spLocks xmlns:a="http://schemas.openxmlformats.org/drawingml/2006/main" noGrp="1"/>
          </p:cNvSpPr>
          <p:nvPr/>
        </p:nvSpPr>
        <p:spPr>
          <a:xfrm xmlns:a="http://schemas.openxmlformats.org/drawingml/2006/main">
            <a:off x="6419850" y="441007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目的と制約に合わせて、入力を決める</a:t>
            </a:r>
          </a:p>
        </p:txBody>
      </p:sp>
      <p:sp>
        <p:nvSpPr>
          <p:cNvPr id="14" name="学習">
            <a:extLst xmlns:a="http://schemas.openxmlformats.org/drawingml/2006/main">
              <a:ext uri="{FF2B5EF4-FFF2-40B4-BE49-F238E27FC236}">
                <a16:creationId xmlns:a16="http://schemas.microsoft.com/office/drawing/2014/main" id="{4A106DDA-491B-48DC-AC6E-69AF28DF1179}"/>
              </a:ext>
            </a:extLst>
          </p:cNvPr>
          <p:cNvSpPr>
            <a:spLocks xmlns:a="http://schemas.openxmlformats.org/drawingml/2006/main" noGrp="1"/>
          </p:cNvSpPr>
          <p:nvPr/>
        </p:nvSpPr>
        <p:spPr>
          <a:xfrm xmlns:a="http://schemas.openxmlformats.org/drawingml/2006/main">
            <a:off x="6419850" y="49434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学習</a:t>
            </a:r>
          </a:p>
        </p:txBody>
      </p:sp>
      <p:sp>
        <p:nvSpPr>
          <p:cNvPr id="15" name="データから特徴や動きの関係を調べる">
            <a:extLst xmlns:a="http://schemas.openxmlformats.org/drawingml/2006/main">
              <a:ext uri="{FF2B5EF4-FFF2-40B4-BE49-F238E27FC236}">
                <a16:creationId xmlns:a16="http://schemas.microsoft.com/office/drawing/2014/main" id="{49C555A4-92D7-4E47-B529-41BA1FE23EFF}"/>
              </a:ext>
            </a:extLst>
          </p:cNvPr>
          <p:cNvSpPr>
            <a:spLocks xmlns:a="http://schemas.openxmlformats.org/drawingml/2006/main" noGrp="1"/>
          </p:cNvSpPr>
          <p:nvPr/>
        </p:nvSpPr>
        <p:spPr>
          <a:xfrm xmlns:a="http://schemas.openxmlformats.org/drawingml/2006/main">
            <a:off x="6419850" y="53816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データから特徴や動きの関係を調べる</a:t>
            </a:r>
          </a:p>
        </p:txBody>
      </p:sp>
    </p:spTree>
    <p:extLst>
      <p:ext uri="{BB962C8B-B14F-4D97-AF65-F5344CB8AC3E}">
        <p14:creationId xmlns:p14="http://schemas.microsoft.com/office/powerpoint/2010/main" val="186764260"/>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6" name="研究室紹介">
            <a:extLst xmlns:a="http://schemas.openxmlformats.org/drawingml/2006/main">
              <a:ext uri="{FF2B5EF4-FFF2-40B4-BE49-F238E27FC236}">
                <a16:creationId xmlns:a16="http://schemas.microsoft.com/office/drawing/2014/main" id="{C57CB2C0-1FA6-4B18-AC0D-662A432670B6}"/>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人とロボットが一緒に動く">
            <a:extLst xmlns:a="http://schemas.openxmlformats.org/drawingml/2006/main">
              <a:ext uri="{FF2B5EF4-FFF2-40B4-BE49-F238E27FC236}">
                <a16:creationId xmlns:a16="http://schemas.microsoft.com/office/drawing/2014/main" id="{5D672F15-97D4-4E0D-8315-E6CCFFBD75BC}"/>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人とロボットが一緒に動く</a:t>
            </a:r>
          </a:p>
        </p:txBody>
      </p:sp>
      <p:sp>
        <p:nvSpPr>
          <p:cNvPr id="3" name="両手協調ロボットと力覚提示">
            <a:extLst xmlns:a="http://schemas.openxmlformats.org/drawingml/2006/main">
              <a:ext uri="{FF2B5EF4-FFF2-40B4-BE49-F238E27FC236}">
                <a16:creationId xmlns:a16="http://schemas.microsoft.com/office/drawing/2014/main" id="{5A60DA26-646B-4A15-A58C-B17B70181AAC}"/>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両手協調ロボットと力覚提示</a:t>
            </a:r>
          </a:p>
        </p:txBody>
      </p:sp>
      <p:sp>
        <p:nvSpPr>
          <p:cNvPr id="4" name="Cao et al., IJAEM 52 (2016), 9">
            <a:extLst xmlns:a="http://schemas.openxmlformats.org/drawingml/2006/main">
              <a:ext uri="{FF2B5EF4-FFF2-40B4-BE49-F238E27FC236}">
                <a16:creationId xmlns:a16="http://schemas.microsoft.com/office/drawing/2014/main" id="{0FAE7A1C-B466-480E-A57C-B674BEBC279E}"/>
              </a:ext>
            </a:extLst>
          </p:cNvPr>
          <p:cNvSpPr>
            <a:spLocks xmlns:a="http://schemas.openxmlformats.org/drawingml/2006/main" noGrp="1"/>
          </p:cNvSpPr>
          <p:nvPr/>
        </p:nvSpPr>
        <p:spPr>
          <a:xfrm xmlns:a="http://schemas.openxmlformats.org/drawingml/2006/main">
            <a:off x="609600" y="6400800"/>
            <a:ext cx="10334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C6B6B"/>
                </a:solidFill>
                <a:latin typeface="Noto Sans CJK JP"/>
                <a:ea typeface="Noto Sans CJK JP"/>
                <a:cs typeface="Noto Sans CJK JP"/>
              </a:defRPr>
            </a:pPr>
            <a:r>
              <a:rPr sz="1125" b="0">
                <a:solidFill>
                  <a:srgbClr val="5C6B6B"/>
                </a:solidFill>
                <a:latin typeface="Noto Sans CJK JP"/>
                <a:ea typeface="Noto Sans CJK JP"/>
                <a:cs typeface="Noto Sans CJK JP"/>
              </a:rPr>
              <a:t>Cao et al., IJAEM 52 (2016), 943–950 ／ 装置と基礎実験</a:t>
            </a:r>
          </a:p>
        </p:txBody>
      </p:sp>
      <p:sp>
        <p:nvSpPr>
          <p:cNvPr id="5" name="05">
            <a:extLst xmlns:a="http://schemas.openxmlformats.org/drawingml/2006/main">
              <a:ext uri="{FF2B5EF4-FFF2-40B4-BE49-F238E27FC236}">
                <a16:creationId xmlns:a16="http://schemas.microsoft.com/office/drawing/2014/main" id="{35FB7DD9-31EC-4E20-92DE-92B47C6B571F}"/>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05</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9eada70b0cb74bef"/>
          <a:stretch xmlns:a="http://schemas.openxmlformats.org/drawingml/2006/main"/>
        </p:blipFill>
        <p:spPr>
          <a:xfrm xmlns:a="http://schemas.openxmlformats.org/drawingml/2006/main">
            <a:off x="609600" y="1925879"/>
            <a:ext cx="5619750" cy="3158642"/>
          </a:xfrm>
          <a:prstGeom xmlns:a="http://schemas.openxmlformats.org/drawingml/2006/main" prst="rect">
            <a:avLst/>
          </a:prstGeom>
        </p:spPr>
      </p:pic>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131dd1466dc5473c"/>
          <a:stretch xmlns:a="http://schemas.openxmlformats.org/drawingml/2006/main"/>
        </p:blipFill>
        <p:spPr>
          <a:xfrm xmlns:a="http://schemas.openxmlformats.org/drawingml/2006/main">
            <a:off x="612161" y="5229225"/>
            <a:ext cx="1195028" cy="885825"/>
          </a:xfrm>
          <a:prstGeom xmlns:a="http://schemas.openxmlformats.org/drawingml/2006/main" prst="rect">
            <a:avLst/>
          </a:prstGeom>
        </p:spPr>
      </p:pic>
      <p:sp>
        <p:nvSpPr>
          <p:cNvPr id="8" name="両手で共通の仮想物体を操作し、&#10;接触に応じた力を手に返す。">
            <a:extLst xmlns:a="http://schemas.openxmlformats.org/drawingml/2006/main">
              <a:ext uri="{FF2B5EF4-FFF2-40B4-BE49-F238E27FC236}">
                <a16:creationId xmlns:a16="http://schemas.microsoft.com/office/drawing/2014/main" id="{68F8A804-27C1-40ED-BE89-30E0AAD16092}"/>
              </a:ext>
            </a:extLst>
          </p:cNvPr>
          <p:cNvSpPr>
            <a:spLocks xmlns:a="http://schemas.openxmlformats.org/drawingml/2006/main" noGrp="1"/>
          </p:cNvSpPr>
          <p:nvPr/>
        </p:nvSpPr>
        <p:spPr>
          <a:xfrm xmlns:a="http://schemas.openxmlformats.org/drawingml/2006/main">
            <a:off x="2066925" y="5314950"/>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両手で共通の仮想物体を操作し、</a:t>
            </a:r>
          </a:p>
          <a:p xmlns:a="http://schemas.openxmlformats.org/drawingml/2006/main">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接触に応じた力を手に返す。</a:t>
            </a:r>
          </a:p>
        </p:txBody>
      </p:sp>
      <p:sp>
        <p:nvSpPr>
          <p:cNvPr id="9" name="研究の問い">
            <a:extLst xmlns:a="http://schemas.openxmlformats.org/drawingml/2006/main">
              <a:ext uri="{FF2B5EF4-FFF2-40B4-BE49-F238E27FC236}">
                <a16:creationId xmlns:a16="http://schemas.microsoft.com/office/drawing/2014/main" id="{B8785948-5D92-4A24-8E99-74D92BBEE22F}"/>
              </a:ext>
            </a:extLst>
          </p:cNvPr>
          <p:cNvSpPr>
            <a:spLocks xmlns:a="http://schemas.openxmlformats.org/drawingml/2006/main" noGrp="1"/>
          </p:cNvSpPr>
          <p:nvPr/>
        </p:nvSpPr>
        <p:spPr>
          <a:xfrm xmlns:a="http://schemas.openxmlformats.org/drawingml/2006/main">
            <a:off x="6800850" y="1952625"/>
            <a:ext cx="478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研究の問い</a:t>
            </a:r>
          </a:p>
        </p:txBody>
      </p:sp>
      <p:sp>
        <p:nvSpPr>
          <p:cNvPr id="10" name="課題と力の返し方によって、&#10;両手の協調はどう変わるか。">
            <a:extLst xmlns:a="http://schemas.openxmlformats.org/drawingml/2006/main">
              <a:ext uri="{FF2B5EF4-FFF2-40B4-BE49-F238E27FC236}">
                <a16:creationId xmlns:a16="http://schemas.microsoft.com/office/drawing/2014/main" id="{E528B9C6-E23B-4765-8819-A027C4764853}"/>
              </a:ext>
            </a:extLst>
          </p:cNvPr>
          <p:cNvSpPr>
            <a:spLocks xmlns:a="http://schemas.openxmlformats.org/drawingml/2006/main" noGrp="1"/>
          </p:cNvSpPr>
          <p:nvPr/>
        </p:nvSpPr>
        <p:spPr>
          <a:xfrm xmlns:a="http://schemas.openxmlformats.org/drawingml/2006/main">
            <a:off x="6800850" y="2419350"/>
            <a:ext cx="4781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課題と力の返し方によって、</a:t>
            </a:r>
          </a:p>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両手の協調はどう変わるか。</a:t>
            </a:r>
          </a:p>
        </p:txBody>
      </p:sp>
      <p:sp>
        <p:nvSpPr>
          <p:cNvPr id="11" name="">
            <a:extLst xmlns:a="http://schemas.openxmlformats.org/drawingml/2006/main">
              <a:ext uri="{FF2B5EF4-FFF2-40B4-BE49-F238E27FC236}">
                <a16:creationId xmlns:a16="http://schemas.microsoft.com/office/drawing/2014/main" id="{6307258C-C00F-4743-9662-3E490C1C95B6}"/>
              </a:ext>
            </a:extLst>
          </p:cNvPr>
          <p:cNvSpPr>
            <a:spLocks xmlns:a="http://schemas.openxmlformats.org/drawingml/2006/main" noGrp="1"/>
          </p:cNvSpPr>
          <p:nvPr/>
        </p:nvSpPr>
        <p:spPr>
          <a:xfrm xmlns:a="http://schemas.openxmlformats.org/drawingml/2006/main">
            <a:off x="6800850" y="3381375"/>
            <a:ext cx="4781550" cy="952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12" name="方法">
            <a:extLst xmlns:a="http://schemas.openxmlformats.org/drawingml/2006/main">
              <a:ext uri="{FF2B5EF4-FFF2-40B4-BE49-F238E27FC236}">
                <a16:creationId xmlns:a16="http://schemas.microsoft.com/office/drawing/2014/main" id="{EDA912D4-7733-43A7-95F2-1F06CB8BA506}"/>
              </a:ext>
            </a:extLst>
          </p:cNvPr>
          <p:cNvSpPr>
            <a:spLocks xmlns:a="http://schemas.openxmlformats.org/drawingml/2006/main" noGrp="1"/>
          </p:cNvSpPr>
          <p:nvPr/>
        </p:nvSpPr>
        <p:spPr>
          <a:xfrm xmlns:a="http://schemas.openxmlformats.org/drawingml/2006/main">
            <a:off x="6800850" y="3619500"/>
            <a:ext cx="4781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方法</a:t>
            </a:r>
          </a:p>
        </p:txBody>
      </p:sp>
      <p:sp>
        <p:nvSpPr>
          <p:cNvPr id="13" name="関節角を測り、仮想接触を計算。&#10;計算した力をモータで返す。">
            <a:extLst xmlns:a="http://schemas.openxmlformats.org/drawingml/2006/main">
              <a:ext uri="{FF2B5EF4-FFF2-40B4-BE49-F238E27FC236}">
                <a16:creationId xmlns:a16="http://schemas.microsoft.com/office/drawing/2014/main" id="{1930E5DB-BAF3-4632-958C-105925F473DB}"/>
              </a:ext>
            </a:extLst>
          </p:cNvPr>
          <p:cNvSpPr>
            <a:spLocks xmlns:a="http://schemas.openxmlformats.org/drawingml/2006/main" noGrp="1"/>
          </p:cNvSpPr>
          <p:nvPr/>
        </p:nvSpPr>
        <p:spPr>
          <a:xfrm xmlns:a="http://schemas.openxmlformats.org/drawingml/2006/main">
            <a:off x="6800850" y="4086225"/>
            <a:ext cx="47815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関節角を測り、仮想接触を計算。</a:t>
            </a:r>
          </a:p>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計算した力をモータで返す。</a:t>
            </a:r>
          </a:p>
        </p:txBody>
      </p:sp>
      <p:sp>
        <p:nvSpPr>
          <p:cNvPr id="14" name="B3の入口">
            <a:extLst xmlns:a="http://schemas.openxmlformats.org/drawingml/2006/main">
              <a:ext uri="{FF2B5EF4-FFF2-40B4-BE49-F238E27FC236}">
                <a16:creationId xmlns:a16="http://schemas.microsoft.com/office/drawing/2014/main" id="{095D032D-91EC-4711-8F64-34BE60DA4C12}"/>
              </a:ext>
            </a:extLst>
          </p:cNvPr>
          <p:cNvSpPr>
            <a:spLocks xmlns:a="http://schemas.openxmlformats.org/drawingml/2006/main" noGrp="1"/>
          </p:cNvSpPr>
          <p:nvPr/>
        </p:nvSpPr>
        <p:spPr>
          <a:xfrm xmlns:a="http://schemas.openxmlformats.org/drawingml/2006/main">
            <a:off x="6800850" y="5257800"/>
            <a:ext cx="478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950" b="1">
                <a:solidFill>
                  <a:srgbClr val="C9633D"/>
                </a:solidFill>
                <a:latin typeface="Noto Sans CJK JP"/>
                <a:ea typeface="Noto Sans CJK JP"/>
                <a:cs typeface="Noto Sans CJK JP"/>
              </a:defRPr>
            </a:pPr>
            <a:r>
              <a:rPr sz="1950" b="1">
                <a:solidFill>
                  <a:srgbClr val="C9633D"/>
                </a:solidFill>
                <a:latin typeface="Noto Sans CJK JP"/>
                <a:ea typeface="Noto Sans CJK JP"/>
                <a:cs typeface="Noto Sans CJK JP"/>
              </a:rPr>
              <a:t>B3の入口</a:t>
            </a:r>
          </a:p>
        </p:txBody>
      </p:sp>
      <p:sp>
        <p:nvSpPr>
          <p:cNvPr id="15" name="機構・仮想環境・制御のつながりを説明する。">
            <a:extLst xmlns:a="http://schemas.openxmlformats.org/drawingml/2006/main">
              <a:ext uri="{FF2B5EF4-FFF2-40B4-BE49-F238E27FC236}">
                <a16:creationId xmlns:a16="http://schemas.microsoft.com/office/drawing/2014/main" id="{0B083FCE-1CB1-4E28-B021-0D01DA214E8D}"/>
              </a:ext>
            </a:extLst>
          </p:cNvPr>
          <p:cNvSpPr>
            <a:spLocks xmlns:a="http://schemas.openxmlformats.org/drawingml/2006/main" noGrp="1"/>
          </p:cNvSpPr>
          <p:nvPr/>
        </p:nvSpPr>
        <p:spPr>
          <a:xfrm xmlns:a="http://schemas.openxmlformats.org/drawingml/2006/main">
            <a:off x="6800850" y="5705475"/>
            <a:ext cx="47815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機構・仮想環境・制御のつながりを説明する。</a:t>
            </a:r>
          </a:p>
        </p:txBody>
      </p:sp>
    </p:spTree>
    <p:extLst>
      <p:ext uri="{BB962C8B-B14F-4D97-AF65-F5344CB8AC3E}">
        <p14:creationId xmlns:p14="http://schemas.microsoft.com/office/powerpoint/2010/main" val="201189420"/>
      </p:ext>
    </p:extLst>
  </p:cSld>
</p:sld>
</file>

<file path=ppt/slides/slide6.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2" name="研究室紹介">
            <a:extLst xmlns:a="http://schemas.openxmlformats.org/drawingml/2006/main">
              <a:ext uri="{FF2B5EF4-FFF2-40B4-BE49-F238E27FC236}">
                <a16:creationId xmlns:a16="http://schemas.microsoft.com/office/drawing/2014/main" id="{E8F271D5-B1DE-4019-A120-E0B1A73D4D8F}"/>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映像を、比較できるデータにする">
            <a:extLst xmlns:a="http://schemas.openxmlformats.org/drawingml/2006/main">
              <a:ext uri="{FF2B5EF4-FFF2-40B4-BE49-F238E27FC236}">
                <a16:creationId xmlns:a16="http://schemas.microsoft.com/office/drawing/2014/main" id="{7375EA19-28B0-401B-BF72-22C0DF581224}"/>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映像を、比較できるデータにする</a:t>
            </a:r>
          </a:p>
        </p:txBody>
      </p:sp>
      <p:sp>
        <p:nvSpPr>
          <p:cNvPr id="3" name="OpenPoseを使った身体の揺れの計測">
            <a:extLst xmlns:a="http://schemas.openxmlformats.org/drawingml/2006/main">
              <a:ext uri="{FF2B5EF4-FFF2-40B4-BE49-F238E27FC236}">
                <a16:creationId xmlns:a16="http://schemas.microsoft.com/office/drawing/2014/main" id="{4C2C5A19-5D3F-45C8-9C0D-ACDD4B23A383}"/>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OpenPoseを使った身体の揺れの計測</a:t>
            </a:r>
          </a:p>
        </p:txBody>
      </p:sp>
      <p:sp>
        <p:nvSpPr>
          <p:cNvPr id="4" name="本荘友毅 修士論文 (2023) ／ 身体の共振周波数を調べ">
            <a:extLst xmlns:a="http://schemas.openxmlformats.org/drawingml/2006/main">
              <a:ext uri="{FF2B5EF4-FFF2-40B4-BE49-F238E27FC236}">
                <a16:creationId xmlns:a16="http://schemas.microsoft.com/office/drawing/2014/main" id="{B27BB194-830E-4FD2-97E0-5267780F976F}"/>
              </a:ext>
            </a:extLst>
          </p:cNvPr>
          <p:cNvSpPr>
            <a:spLocks xmlns:a="http://schemas.openxmlformats.org/drawingml/2006/main" noGrp="1"/>
          </p:cNvSpPr>
          <p:nvPr/>
        </p:nvSpPr>
        <p:spPr>
          <a:xfrm xmlns:a="http://schemas.openxmlformats.org/drawingml/2006/main">
            <a:off x="609600" y="6400800"/>
            <a:ext cx="10334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C6B6B"/>
                </a:solidFill>
                <a:latin typeface="Noto Sans CJK JP"/>
                <a:ea typeface="Noto Sans CJK JP"/>
                <a:cs typeface="Noto Sans CJK JP"/>
              </a:defRPr>
            </a:pPr>
            <a:r>
              <a:rPr sz="1125" b="0">
                <a:solidFill>
                  <a:srgbClr val="5C6B6B"/>
                </a:solidFill>
                <a:latin typeface="Noto Sans CJK JP"/>
                <a:ea typeface="Noto Sans CJK JP"/>
                <a:cs typeface="Noto Sans CJK JP"/>
              </a:rPr>
              <a:t>本荘友毅 修士論文 (2023) ／ 身体の共振周波数を調べる研究</a:t>
            </a:r>
          </a:p>
        </p:txBody>
      </p:sp>
      <p:sp>
        <p:nvSpPr>
          <p:cNvPr id="5" name="06">
            <a:extLst xmlns:a="http://schemas.openxmlformats.org/drawingml/2006/main">
              <a:ext uri="{FF2B5EF4-FFF2-40B4-BE49-F238E27FC236}">
                <a16:creationId xmlns:a16="http://schemas.microsoft.com/office/drawing/2014/main" id="{4B516160-F7B1-4288-983C-F043B584B2AF}"/>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06</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47fd2a6c1ac048f9"/>
          <a:stretch xmlns:a="http://schemas.openxmlformats.org/drawingml/2006/main"/>
        </p:blipFill>
        <p:spPr>
          <a:xfrm xmlns:a="http://schemas.openxmlformats.org/drawingml/2006/main">
            <a:off x="609600" y="2043152"/>
            <a:ext cx="2019300" cy="3171746"/>
          </a:xfrm>
          <a:prstGeom xmlns:a="http://schemas.openxmlformats.org/drawingml/2006/main" prst="rect">
            <a:avLst/>
          </a:prstGeom>
        </p:spPr>
      </p:pic>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9eaaa0e46c9b46a9"/>
          <a:stretch xmlns:a="http://schemas.openxmlformats.org/drawingml/2006/main"/>
        </p:blipFill>
        <p:spPr>
          <a:xfrm xmlns:a="http://schemas.openxmlformats.org/drawingml/2006/main">
            <a:off x="2879020" y="2038350"/>
            <a:ext cx="2014359" cy="3181350"/>
          </a:xfrm>
          <a:prstGeom xmlns:a="http://schemas.openxmlformats.org/drawingml/2006/main" prst="rect">
            <a:avLst/>
          </a:prstGeom>
        </p:spPr>
      </p:pic>
      <p:sp>
        <p:nvSpPr>
          <p:cNvPr id="8" name="撮影した映像">
            <a:extLst xmlns:a="http://schemas.openxmlformats.org/drawingml/2006/main">
              <a:ext uri="{FF2B5EF4-FFF2-40B4-BE49-F238E27FC236}">
                <a16:creationId xmlns:a16="http://schemas.microsoft.com/office/drawing/2014/main" id="{727764F7-07E4-4630-95C9-91EB7021DFB3}"/>
              </a:ext>
            </a:extLst>
          </p:cNvPr>
          <p:cNvSpPr>
            <a:spLocks xmlns:a="http://schemas.openxmlformats.org/drawingml/2006/main" noGrp="1"/>
          </p:cNvSpPr>
          <p:nvPr/>
        </p:nvSpPr>
        <p:spPr>
          <a:xfrm xmlns:a="http://schemas.openxmlformats.org/drawingml/2006/main">
            <a:off x="609600" y="5362575"/>
            <a:ext cx="2019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撮影した映像</a:t>
            </a:r>
          </a:p>
        </p:txBody>
      </p:sp>
      <p:sp>
        <p:nvSpPr>
          <p:cNvPr id="9" name="推定した関節点">
            <a:extLst xmlns:a="http://schemas.openxmlformats.org/drawingml/2006/main">
              <a:ext uri="{FF2B5EF4-FFF2-40B4-BE49-F238E27FC236}">
                <a16:creationId xmlns:a16="http://schemas.microsoft.com/office/drawing/2014/main" id="{5B741BE8-B5B6-4243-A8F0-B42465432D50}"/>
              </a:ext>
            </a:extLst>
          </p:cNvPr>
          <p:cNvSpPr>
            <a:spLocks xmlns:a="http://schemas.openxmlformats.org/drawingml/2006/main" noGrp="1"/>
          </p:cNvSpPr>
          <p:nvPr/>
        </p:nvSpPr>
        <p:spPr>
          <a:xfrm xmlns:a="http://schemas.openxmlformats.org/drawingml/2006/main">
            <a:off x="2876550" y="5362575"/>
            <a:ext cx="2019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推定した関節点</a:t>
            </a:r>
          </a:p>
        </p:txBody>
      </p:sp>
      <p:sp>
        <p:nvSpPr>
          <p:cNvPr id="10" name="1">
            <a:extLst xmlns:a="http://schemas.openxmlformats.org/drawingml/2006/main">
              <a:ext uri="{FF2B5EF4-FFF2-40B4-BE49-F238E27FC236}">
                <a16:creationId xmlns:a16="http://schemas.microsoft.com/office/drawing/2014/main" id="{2C5A9F11-1197-458C-A712-BB15D97AE8DC}"/>
              </a:ext>
            </a:extLst>
          </p:cNvPr>
          <p:cNvSpPr>
            <a:spLocks xmlns:a="http://schemas.openxmlformats.org/drawingml/2006/main" noGrp="1"/>
          </p:cNvSpPr>
          <p:nvPr/>
        </p:nvSpPr>
        <p:spPr>
          <a:xfrm xmlns:a="http://schemas.openxmlformats.org/drawingml/2006/main">
            <a:off x="5372100" y="203835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550" b="1">
                <a:solidFill>
                  <a:srgbClr val="C9633D"/>
                </a:solidFill>
                <a:latin typeface="Noto Sans CJK JP"/>
                <a:ea typeface="Noto Sans CJK JP"/>
                <a:cs typeface="Noto Sans CJK JP"/>
              </a:defRPr>
            </a:pPr>
            <a:r>
              <a:rPr sz="2550" b="1">
                <a:solidFill>
                  <a:srgbClr val="C9633D"/>
                </a:solidFill>
                <a:latin typeface="Noto Sans CJK JP"/>
                <a:ea typeface="Noto Sans CJK JP"/>
                <a:cs typeface="Noto Sans CJK JP"/>
              </a:rPr>
              <a:t>1</a:t>
            </a:r>
          </a:p>
        </p:txBody>
      </p:sp>
      <p:sp>
        <p:nvSpPr>
          <p:cNvPr id="11" name="肩の位置を取り出す">
            <a:extLst xmlns:a="http://schemas.openxmlformats.org/drawingml/2006/main">
              <a:ext uri="{FF2B5EF4-FFF2-40B4-BE49-F238E27FC236}">
                <a16:creationId xmlns:a16="http://schemas.microsoft.com/office/drawing/2014/main" id="{8D22BACB-8413-4222-B526-A525617F4E40}"/>
              </a:ext>
            </a:extLst>
          </p:cNvPr>
          <p:cNvSpPr>
            <a:spLocks xmlns:a="http://schemas.openxmlformats.org/drawingml/2006/main" noGrp="1"/>
          </p:cNvSpPr>
          <p:nvPr/>
        </p:nvSpPr>
        <p:spPr>
          <a:xfrm xmlns:a="http://schemas.openxmlformats.org/drawingml/2006/main">
            <a:off x="6029325" y="2038350"/>
            <a:ext cx="557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肩の位置を取り出す</a:t>
            </a:r>
          </a:p>
        </p:txBody>
      </p:sp>
      <p:sp>
        <p:nvSpPr>
          <p:cNvPr id="12" name="画像上の位置を、フレームごとに記録する。">
            <a:extLst xmlns:a="http://schemas.openxmlformats.org/drawingml/2006/main">
              <a:ext uri="{FF2B5EF4-FFF2-40B4-BE49-F238E27FC236}">
                <a16:creationId xmlns:a16="http://schemas.microsoft.com/office/drawing/2014/main" id="{1559AFBD-E4F3-4FF4-8B12-5A37D5F945E6}"/>
              </a:ext>
            </a:extLst>
          </p:cNvPr>
          <p:cNvSpPr>
            <a:spLocks xmlns:a="http://schemas.openxmlformats.org/drawingml/2006/main" noGrp="1"/>
          </p:cNvSpPr>
          <p:nvPr/>
        </p:nvSpPr>
        <p:spPr>
          <a:xfrm xmlns:a="http://schemas.openxmlformats.org/drawingml/2006/main">
            <a:off x="6029325" y="2505075"/>
            <a:ext cx="5572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画像上の位置を、フレームごとに記録する。</a:t>
            </a:r>
          </a:p>
        </p:txBody>
      </p:sp>
      <p:sp>
        <p:nvSpPr>
          <p:cNvPr id="13" name="">
            <a:extLst xmlns:a="http://schemas.openxmlformats.org/drawingml/2006/main">
              <a:ext uri="{FF2B5EF4-FFF2-40B4-BE49-F238E27FC236}">
                <a16:creationId xmlns:a16="http://schemas.microsoft.com/office/drawing/2014/main" id="{65ED692A-A47E-41C1-A8F6-BB78228465C3}"/>
              </a:ext>
            </a:extLst>
          </p:cNvPr>
          <p:cNvSpPr>
            <a:spLocks xmlns:a="http://schemas.openxmlformats.org/drawingml/2006/main" noGrp="1"/>
          </p:cNvSpPr>
          <p:nvPr/>
        </p:nvSpPr>
        <p:spPr>
          <a:xfrm xmlns:a="http://schemas.openxmlformats.org/drawingml/2006/main">
            <a:off x="6029325" y="3067050"/>
            <a:ext cx="5534025" cy="952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14" name="2">
            <a:extLst xmlns:a="http://schemas.openxmlformats.org/drawingml/2006/main">
              <a:ext uri="{FF2B5EF4-FFF2-40B4-BE49-F238E27FC236}">
                <a16:creationId xmlns:a16="http://schemas.microsoft.com/office/drawing/2014/main" id="{E0518E72-22F4-40C6-BD95-32FEA321C7CA}"/>
              </a:ext>
            </a:extLst>
          </p:cNvPr>
          <p:cNvSpPr>
            <a:spLocks xmlns:a="http://schemas.openxmlformats.org/drawingml/2006/main" noGrp="1"/>
          </p:cNvSpPr>
          <p:nvPr/>
        </p:nvSpPr>
        <p:spPr>
          <a:xfrm xmlns:a="http://schemas.openxmlformats.org/drawingml/2006/main">
            <a:off x="5372100" y="322897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550" b="1">
                <a:solidFill>
                  <a:srgbClr val="C9633D"/>
                </a:solidFill>
                <a:latin typeface="Noto Sans CJK JP"/>
                <a:ea typeface="Noto Sans CJK JP"/>
                <a:cs typeface="Noto Sans CJK JP"/>
              </a:defRPr>
            </a:pPr>
            <a:r>
              <a:rPr sz="2550" b="1">
                <a:solidFill>
                  <a:srgbClr val="C9633D"/>
                </a:solidFill>
                <a:latin typeface="Noto Sans CJK JP"/>
                <a:ea typeface="Noto Sans CJK JP"/>
                <a:cs typeface="Noto Sans CJK JP"/>
              </a:rPr>
              <a:t>2</a:t>
            </a:r>
          </a:p>
        </p:txBody>
      </p:sp>
      <p:sp>
        <p:nvSpPr>
          <p:cNvPr id="15" name="時系列にする">
            <a:extLst xmlns:a="http://schemas.openxmlformats.org/drawingml/2006/main">
              <a:ext uri="{FF2B5EF4-FFF2-40B4-BE49-F238E27FC236}">
                <a16:creationId xmlns:a16="http://schemas.microsoft.com/office/drawing/2014/main" id="{5B46E16C-04AF-4B93-8F2B-3647572FBD94}"/>
              </a:ext>
            </a:extLst>
          </p:cNvPr>
          <p:cNvSpPr>
            <a:spLocks xmlns:a="http://schemas.openxmlformats.org/drawingml/2006/main" noGrp="1"/>
          </p:cNvSpPr>
          <p:nvPr/>
        </p:nvSpPr>
        <p:spPr>
          <a:xfrm xmlns:a="http://schemas.openxmlformats.org/drawingml/2006/main">
            <a:off x="6029325" y="3228975"/>
            <a:ext cx="557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時系列にする</a:t>
            </a:r>
          </a:p>
        </p:txBody>
      </p:sp>
      <p:sp>
        <p:nvSpPr>
          <p:cNvPr id="16" name="位置が時間とともにどう変わるかを調べる。">
            <a:extLst xmlns:a="http://schemas.openxmlformats.org/drawingml/2006/main">
              <a:ext uri="{FF2B5EF4-FFF2-40B4-BE49-F238E27FC236}">
                <a16:creationId xmlns:a16="http://schemas.microsoft.com/office/drawing/2014/main" id="{2255C021-FE30-441B-85C9-D72F204C8CD2}"/>
              </a:ext>
            </a:extLst>
          </p:cNvPr>
          <p:cNvSpPr>
            <a:spLocks xmlns:a="http://schemas.openxmlformats.org/drawingml/2006/main" noGrp="1"/>
          </p:cNvSpPr>
          <p:nvPr/>
        </p:nvSpPr>
        <p:spPr>
          <a:xfrm xmlns:a="http://schemas.openxmlformats.org/drawingml/2006/main">
            <a:off x="6029325" y="3695700"/>
            <a:ext cx="5572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位置が時間とともにどう変わるかを調べる。</a:t>
            </a:r>
          </a:p>
        </p:txBody>
      </p:sp>
      <p:sp>
        <p:nvSpPr>
          <p:cNvPr id="17" name="">
            <a:extLst xmlns:a="http://schemas.openxmlformats.org/drawingml/2006/main">
              <a:ext uri="{FF2B5EF4-FFF2-40B4-BE49-F238E27FC236}">
                <a16:creationId xmlns:a16="http://schemas.microsoft.com/office/drawing/2014/main" id="{9DC6EC52-FEAB-48EF-8F5C-FCD574E47B82}"/>
              </a:ext>
            </a:extLst>
          </p:cNvPr>
          <p:cNvSpPr>
            <a:spLocks xmlns:a="http://schemas.openxmlformats.org/drawingml/2006/main" noGrp="1"/>
          </p:cNvSpPr>
          <p:nvPr/>
        </p:nvSpPr>
        <p:spPr>
          <a:xfrm xmlns:a="http://schemas.openxmlformats.org/drawingml/2006/main">
            <a:off x="6029325" y="4257675"/>
            <a:ext cx="5534025" cy="952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18" name="3">
            <a:extLst xmlns:a="http://schemas.openxmlformats.org/drawingml/2006/main">
              <a:ext uri="{FF2B5EF4-FFF2-40B4-BE49-F238E27FC236}">
                <a16:creationId xmlns:a16="http://schemas.microsoft.com/office/drawing/2014/main" id="{034E9AF2-C793-4D14-BD4F-BC3F2FAB5233}"/>
              </a:ext>
            </a:extLst>
          </p:cNvPr>
          <p:cNvSpPr>
            <a:spLocks xmlns:a="http://schemas.openxmlformats.org/drawingml/2006/main" noGrp="1"/>
          </p:cNvSpPr>
          <p:nvPr/>
        </p:nvSpPr>
        <p:spPr>
          <a:xfrm xmlns:a="http://schemas.openxmlformats.org/drawingml/2006/main">
            <a:off x="5372100" y="44196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550" b="1">
                <a:solidFill>
                  <a:srgbClr val="C9633D"/>
                </a:solidFill>
                <a:latin typeface="Noto Sans CJK JP"/>
                <a:ea typeface="Noto Sans CJK JP"/>
                <a:cs typeface="Noto Sans CJK JP"/>
              </a:defRPr>
            </a:pPr>
            <a:r>
              <a:rPr sz="2550" b="1">
                <a:solidFill>
                  <a:srgbClr val="C9633D"/>
                </a:solidFill>
                <a:latin typeface="Noto Sans CJK JP"/>
                <a:ea typeface="Noto Sans CJK JP"/>
                <a:cs typeface="Noto Sans CJK JP"/>
              </a:rPr>
              <a:t>3</a:t>
            </a:r>
          </a:p>
        </p:txBody>
      </p:sp>
      <p:sp>
        <p:nvSpPr>
          <p:cNvPr id="19" name="条件を比べる">
            <a:extLst xmlns:a="http://schemas.openxmlformats.org/drawingml/2006/main">
              <a:ext uri="{FF2B5EF4-FFF2-40B4-BE49-F238E27FC236}">
                <a16:creationId xmlns:a16="http://schemas.microsoft.com/office/drawing/2014/main" id="{BB908059-36C5-4925-9499-5BF0A303F5A5}"/>
              </a:ext>
            </a:extLst>
          </p:cNvPr>
          <p:cNvSpPr>
            <a:spLocks xmlns:a="http://schemas.openxmlformats.org/drawingml/2006/main" noGrp="1"/>
          </p:cNvSpPr>
          <p:nvPr/>
        </p:nvSpPr>
        <p:spPr>
          <a:xfrm xmlns:a="http://schemas.openxmlformats.org/drawingml/2006/main">
            <a:off x="6029325" y="4419600"/>
            <a:ext cx="5572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条件を比べる</a:t>
            </a:r>
          </a:p>
        </p:txBody>
      </p:sp>
      <p:sp>
        <p:nvSpPr>
          <p:cNvPr id="20" name="装置の回転数を変え、揺れの特徴を比べる。">
            <a:extLst xmlns:a="http://schemas.openxmlformats.org/drawingml/2006/main">
              <a:ext uri="{FF2B5EF4-FFF2-40B4-BE49-F238E27FC236}">
                <a16:creationId xmlns:a16="http://schemas.microsoft.com/office/drawing/2014/main" id="{A9C86577-5821-462F-8129-5C13532F7A7D}"/>
              </a:ext>
            </a:extLst>
          </p:cNvPr>
          <p:cNvSpPr>
            <a:spLocks xmlns:a="http://schemas.openxmlformats.org/drawingml/2006/main" noGrp="1"/>
          </p:cNvSpPr>
          <p:nvPr/>
        </p:nvSpPr>
        <p:spPr>
          <a:xfrm xmlns:a="http://schemas.openxmlformats.org/drawingml/2006/main">
            <a:off x="6029325" y="4886325"/>
            <a:ext cx="55721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装置の回転数を変え、揺れの特徴を比べる。</a:t>
            </a:r>
          </a:p>
        </p:txBody>
      </p:sp>
      <p:sp>
        <p:nvSpPr>
          <p:cNvPr id="21" name="B3の入口：データを取り出し、欠けた点やばらつきを確認する。">
            <a:extLst xmlns:a="http://schemas.openxmlformats.org/drawingml/2006/main">
              <a:ext uri="{FF2B5EF4-FFF2-40B4-BE49-F238E27FC236}">
                <a16:creationId xmlns:a16="http://schemas.microsoft.com/office/drawing/2014/main" id="{8EFCE219-1B15-4A5F-993D-769955BA08BC}"/>
              </a:ext>
            </a:extLst>
          </p:cNvPr>
          <p:cNvSpPr>
            <a:spLocks xmlns:a="http://schemas.openxmlformats.org/drawingml/2006/main" noGrp="1"/>
          </p:cNvSpPr>
          <p:nvPr/>
        </p:nvSpPr>
        <p:spPr>
          <a:xfrm xmlns:a="http://schemas.openxmlformats.org/drawingml/2006/main">
            <a:off x="609600" y="588645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1">
                <a:solidFill>
                  <a:srgbClr val="247C7A"/>
                </a:solidFill>
                <a:latin typeface="Noto Sans CJK JP"/>
                <a:ea typeface="Noto Sans CJK JP"/>
                <a:cs typeface="Noto Sans CJK JP"/>
              </a:defRPr>
            </a:pPr>
            <a:r>
              <a:rPr sz="1800" b="1">
                <a:solidFill>
                  <a:srgbClr val="247C7A"/>
                </a:solidFill>
                <a:latin typeface="Noto Sans CJK JP"/>
                <a:ea typeface="Noto Sans CJK JP"/>
                <a:cs typeface="Noto Sans CJK JP"/>
              </a:rPr>
              <a:t>B3の入口：データを取り出し、欠けた点やばらつきを確認する。</a:t>
            </a:r>
          </a:p>
        </p:txBody>
      </p:sp>
    </p:spTree>
    <p:extLst>
      <p:ext uri="{BB962C8B-B14F-4D97-AF65-F5344CB8AC3E}">
        <p14:creationId xmlns:p14="http://schemas.microsoft.com/office/powerpoint/2010/main" val="1947474152"/>
      </p:ext>
    </p:extLst>
  </p:cSld>
</p:sld>
</file>

<file path=ppt/slides/slide7.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研究室紹介">
            <a:extLst xmlns:a="http://schemas.openxmlformats.org/drawingml/2006/main">
              <a:ext uri="{FF2B5EF4-FFF2-40B4-BE49-F238E27FC236}">
                <a16:creationId xmlns:a16="http://schemas.microsoft.com/office/drawing/2014/main" id="{631CF48C-B3A9-4E04-8131-D3DD8CEAC6C0}"/>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シミュレーションで条件を変える">
            <a:extLst xmlns:a="http://schemas.openxmlformats.org/drawingml/2006/main">
              <a:ext uri="{FF2B5EF4-FFF2-40B4-BE49-F238E27FC236}">
                <a16:creationId xmlns:a16="http://schemas.microsoft.com/office/drawing/2014/main" id="{5887A996-9C61-4AE1-A5E5-DABFEA7C7CEF}"/>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シミュレーションで条件を変える</a:t>
            </a:r>
          </a:p>
        </p:txBody>
      </p:sp>
      <p:sp>
        <p:nvSpPr>
          <p:cNvPr id="3" name="起立補助では、膝と肩の負担を合わせて考える">
            <a:extLst xmlns:a="http://schemas.openxmlformats.org/drawingml/2006/main">
              <a:ext uri="{FF2B5EF4-FFF2-40B4-BE49-F238E27FC236}">
                <a16:creationId xmlns:a16="http://schemas.microsoft.com/office/drawing/2014/main" id="{699F1C88-B430-40EA-91CA-1FD6A6712CC9}"/>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起立補助では、膝と肩の負担を合わせて考える</a:t>
            </a:r>
          </a:p>
        </p:txBody>
      </p:sp>
      <p:sp>
        <p:nvSpPr>
          <p:cNvPr id="4" name="Cao et al., ICICIC 2024 ／ Blen">
            <a:extLst xmlns:a="http://schemas.openxmlformats.org/drawingml/2006/main">
              <a:ext uri="{FF2B5EF4-FFF2-40B4-BE49-F238E27FC236}">
                <a16:creationId xmlns:a16="http://schemas.microsoft.com/office/drawing/2014/main" id="{C892C510-9FB4-4A03-98B3-64C793ACE305}"/>
              </a:ext>
            </a:extLst>
          </p:cNvPr>
          <p:cNvSpPr>
            <a:spLocks xmlns:a="http://schemas.openxmlformats.org/drawingml/2006/main" noGrp="1"/>
          </p:cNvSpPr>
          <p:nvPr/>
        </p:nvSpPr>
        <p:spPr>
          <a:xfrm xmlns:a="http://schemas.openxmlformats.org/drawingml/2006/main">
            <a:off x="609600" y="6400800"/>
            <a:ext cx="10334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C6B6B"/>
                </a:solidFill>
                <a:latin typeface="Noto Sans CJK JP"/>
                <a:ea typeface="Noto Sans CJK JP"/>
                <a:cs typeface="Noto Sans CJK JP"/>
              </a:defRPr>
            </a:pPr>
            <a:r>
              <a:rPr sz="1125" b="0">
                <a:solidFill>
                  <a:srgbClr val="5C6B6B"/>
                </a:solidFill>
                <a:latin typeface="Noto Sans CJK JP"/>
                <a:ea typeface="Noto Sans CJK JP"/>
                <a:cs typeface="Noto Sans CJK JP"/>
              </a:rPr>
              <a:t>Cao et al., ICICIC 2024 ／ Blender・PyBulletによるモデル計算</a:t>
            </a:r>
          </a:p>
        </p:txBody>
      </p:sp>
      <p:sp>
        <p:nvSpPr>
          <p:cNvPr id="5" name="07">
            <a:extLst xmlns:a="http://schemas.openxmlformats.org/drawingml/2006/main">
              <a:ext uri="{FF2B5EF4-FFF2-40B4-BE49-F238E27FC236}">
                <a16:creationId xmlns:a16="http://schemas.microsoft.com/office/drawing/2014/main" id="{5EA0D726-4976-403B-8728-6B125D160D00}"/>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07</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2015f1bde234369"/>
          <a:stretch xmlns:a="http://schemas.openxmlformats.org/drawingml/2006/main"/>
        </p:blipFill>
        <p:spPr>
          <a:xfrm xmlns:a="http://schemas.openxmlformats.org/drawingml/2006/main">
            <a:off x="609600" y="1976529"/>
            <a:ext cx="5105400" cy="4105091"/>
          </a:xfrm>
          <a:prstGeom xmlns:a="http://schemas.openxmlformats.org/drawingml/2006/main" prst="rect">
            <a:avLst/>
          </a:prstGeom>
        </p:spPr>
      </p:pic>
      <p:sp>
        <p:nvSpPr>
          <p:cNvPr id="7" name="変える条件">
            <a:extLst xmlns:a="http://schemas.openxmlformats.org/drawingml/2006/main">
              <a:ext uri="{FF2B5EF4-FFF2-40B4-BE49-F238E27FC236}">
                <a16:creationId xmlns:a16="http://schemas.microsoft.com/office/drawing/2014/main" id="{DD3675EA-6D04-4105-9422-CDA87E05B3F4}"/>
              </a:ext>
            </a:extLst>
          </p:cNvPr>
          <p:cNvSpPr>
            <a:spLocks xmlns:a="http://schemas.openxmlformats.org/drawingml/2006/main" noGrp="1"/>
          </p:cNvSpPr>
          <p:nvPr/>
        </p:nvSpPr>
        <p:spPr>
          <a:xfrm xmlns:a="http://schemas.openxmlformats.org/drawingml/2006/main">
            <a:off x="6238875" y="1981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変える条件</a:t>
            </a:r>
          </a:p>
        </p:txBody>
      </p:sp>
      <p:sp>
        <p:nvSpPr>
          <p:cNvPr id="8" name="手すりの高さや、支える強さ。&#10;その他の条件はそろえて比較する">
            <a:extLst xmlns:a="http://schemas.openxmlformats.org/drawingml/2006/main">
              <a:ext uri="{FF2B5EF4-FFF2-40B4-BE49-F238E27FC236}">
                <a16:creationId xmlns:a16="http://schemas.microsoft.com/office/drawing/2014/main" id="{0618FCC4-015F-404C-9427-3C0A9B9164E3}"/>
              </a:ext>
            </a:extLst>
          </p:cNvPr>
          <p:cNvSpPr>
            <a:spLocks xmlns:a="http://schemas.openxmlformats.org/drawingml/2006/main" noGrp="1"/>
          </p:cNvSpPr>
          <p:nvPr/>
        </p:nvSpPr>
        <p:spPr>
          <a:xfrm xmlns:a="http://schemas.openxmlformats.org/drawingml/2006/main">
            <a:off x="6238875" y="2447925"/>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手すりの高さや、支える強さ。</a:t>
            </a:r>
          </a:p>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その他の条件はそろえて比較する。</a:t>
            </a:r>
          </a:p>
        </p:txBody>
      </p:sp>
      <p:sp>
        <p:nvSpPr>
          <p:cNvPr id="9" name="見る量">
            <a:extLst xmlns:a="http://schemas.openxmlformats.org/drawingml/2006/main">
              <a:ext uri="{FF2B5EF4-FFF2-40B4-BE49-F238E27FC236}">
                <a16:creationId xmlns:a16="http://schemas.microsoft.com/office/drawing/2014/main" id="{68B0F72D-D653-42D1-B354-0C11F353CA7C}"/>
              </a:ext>
            </a:extLst>
          </p:cNvPr>
          <p:cNvSpPr>
            <a:spLocks xmlns:a="http://schemas.openxmlformats.org/drawingml/2006/main" noGrp="1"/>
          </p:cNvSpPr>
          <p:nvPr/>
        </p:nvSpPr>
        <p:spPr>
          <a:xfrm xmlns:a="http://schemas.openxmlformats.org/drawingml/2006/main">
            <a:off x="6238875" y="355282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見る量</a:t>
            </a:r>
          </a:p>
        </p:txBody>
      </p:sp>
      <p:sp>
        <p:nvSpPr>
          <p:cNvPr id="10" name="膝と肩の関節トルク、手にかかる力。&#10;体のどこに負担が移るかを">
            <a:extLst xmlns:a="http://schemas.openxmlformats.org/drawingml/2006/main">
              <a:ext uri="{FF2B5EF4-FFF2-40B4-BE49-F238E27FC236}">
                <a16:creationId xmlns:a16="http://schemas.microsoft.com/office/drawing/2014/main" id="{D0959B27-9320-41EA-8BBB-144500EE1C5E}"/>
              </a:ext>
            </a:extLst>
          </p:cNvPr>
          <p:cNvSpPr>
            <a:spLocks xmlns:a="http://schemas.openxmlformats.org/drawingml/2006/main" noGrp="1"/>
          </p:cNvSpPr>
          <p:nvPr/>
        </p:nvSpPr>
        <p:spPr>
          <a:xfrm xmlns:a="http://schemas.openxmlformats.org/drawingml/2006/main">
            <a:off x="6238875" y="4019550"/>
            <a:ext cx="5334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膝と肩の関節トルク、手にかかる力。</a:t>
            </a:r>
          </a:p>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体のどこに負担が移るかを調べる。</a:t>
            </a:r>
          </a:p>
        </p:txBody>
      </p:sp>
      <p:sp>
        <p:nvSpPr>
          <p:cNvPr id="11" name="B3の入口">
            <a:extLst xmlns:a="http://schemas.openxmlformats.org/drawingml/2006/main">
              <a:ext uri="{FF2B5EF4-FFF2-40B4-BE49-F238E27FC236}">
                <a16:creationId xmlns:a16="http://schemas.microsoft.com/office/drawing/2014/main" id="{DF1D02E1-8C64-430D-B26F-47C1649166F6}"/>
              </a:ext>
            </a:extLst>
          </p:cNvPr>
          <p:cNvSpPr>
            <a:spLocks xmlns:a="http://schemas.openxmlformats.org/drawingml/2006/main" noGrp="1"/>
          </p:cNvSpPr>
          <p:nvPr/>
        </p:nvSpPr>
        <p:spPr>
          <a:xfrm xmlns:a="http://schemas.openxmlformats.org/drawingml/2006/main">
            <a:off x="6238875" y="5210175"/>
            <a:ext cx="5334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1">
                <a:solidFill>
                  <a:srgbClr val="C9633D"/>
                </a:solidFill>
                <a:latin typeface="Noto Sans CJK JP"/>
                <a:ea typeface="Noto Sans CJK JP"/>
                <a:cs typeface="Noto Sans CJK JP"/>
              </a:defRPr>
            </a:pPr>
            <a:r>
              <a:rPr sz="2025" b="1">
                <a:solidFill>
                  <a:srgbClr val="C9633D"/>
                </a:solidFill>
                <a:latin typeface="Noto Sans CJK JP"/>
                <a:ea typeface="Noto Sans CJK JP"/>
                <a:cs typeface="Noto Sans CJK JP"/>
              </a:rPr>
              <a:t>B3の入口</a:t>
            </a:r>
          </a:p>
        </p:txBody>
      </p:sp>
      <p:sp>
        <p:nvSpPr>
          <p:cNvPr id="12" name="一つの条件を変え、&#10;複数の結果を見比べる。">
            <a:extLst xmlns:a="http://schemas.openxmlformats.org/drawingml/2006/main">
              <a:ext uri="{FF2B5EF4-FFF2-40B4-BE49-F238E27FC236}">
                <a16:creationId xmlns:a16="http://schemas.microsoft.com/office/drawing/2014/main" id="{6C971C26-B716-4A30-BCA4-CAA09ED9875D}"/>
              </a:ext>
            </a:extLst>
          </p:cNvPr>
          <p:cNvSpPr>
            <a:spLocks xmlns:a="http://schemas.openxmlformats.org/drawingml/2006/main" noGrp="1"/>
          </p:cNvSpPr>
          <p:nvPr/>
        </p:nvSpPr>
        <p:spPr>
          <a:xfrm xmlns:a="http://schemas.openxmlformats.org/drawingml/2006/main">
            <a:off x="6238875" y="5638800"/>
            <a:ext cx="5334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一つの条件を変え、</a:t>
            </a:r>
          </a:p>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複数の結果を見比べる。</a:t>
            </a:r>
          </a:p>
        </p:txBody>
      </p:sp>
    </p:spTree>
    <p:extLst>
      <p:ext uri="{BB962C8B-B14F-4D97-AF65-F5344CB8AC3E}">
        <p14:creationId xmlns:p14="http://schemas.microsoft.com/office/powerpoint/2010/main" val="803124384"/>
      </p:ext>
    </p:extLst>
  </p:cSld>
</p:sld>
</file>

<file path=ppt/slides/slide8.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27" name="研究室紹介">
            <a:extLst xmlns:a="http://schemas.openxmlformats.org/drawingml/2006/main">
              <a:ext uri="{FF2B5EF4-FFF2-40B4-BE49-F238E27FC236}">
                <a16:creationId xmlns:a16="http://schemas.microsoft.com/office/drawing/2014/main" id="{4F00BC83-22E8-428C-8271-47BFF19F9D77}"/>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動きを設計し、動きから考える">
            <a:extLst xmlns:a="http://schemas.openxmlformats.org/drawingml/2006/main">
              <a:ext uri="{FF2B5EF4-FFF2-40B4-BE49-F238E27FC236}">
                <a16:creationId xmlns:a16="http://schemas.microsoft.com/office/drawing/2014/main" id="{39FED10D-FE93-44C9-B2BE-C12532614371}"/>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動きを設計し、動きから考える</a:t>
            </a:r>
          </a:p>
        </p:txBody>
      </p:sp>
      <p:sp>
        <p:nvSpPr>
          <p:cNvPr id="3" name="最適制御と逆最適制御（IOC）">
            <a:extLst xmlns:a="http://schemas.openxmlformats.org/drawingml/2006/main">
              <a:ext uri="{FF2B5EF4-FFF2-40B4-BE49-F238E27FC236}">
                <a16:creationId xmlns:a16="http://schemas.microsoft.com/office/drawing/2014/main" id="{63866054-DC01-4723-8D96-D3E431643F88}"/>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最適制御と逆最適制御（IOC）</a:t>
            </a:r>
          </a:p>
        </p:txBody>
      </p:sp>
      <p:sp>
        <p:nvSpPr>
          <p:cNvPr id="4" name="Cao, Luo &amp; Quan (2024), JAS / ">
            <a:extLst xmlns:a="http://schemas.openxmlformats.org/drawingml/2006/main">
              <a:ext uri="{FF2B5EF4-FFF2-40B4-BE49-F238E27FC236}">
                <a16:creationId xmlns:a16="http://schemas.microsoft.com/office/drawing/2014/main" id="{FE49103C-617D-400F-BF63-7D836C7B6D9F}"/>
              </a:ext>
            </a:extLst>
          </p:cNvPr>
          <p:cNvSpPr>
            <a:spLocks xmlns:a="http://schemas.openxmlformats.org/drawingml/2006/main" noGrp="1"/>
          </p:cNvSpPr>
          <p:nvPr/>
        </p:nvSpPr>
        <p:spPr>
          <a:xfrm xmlns:a="http://schemas.openxmlformats.org/drawingml/2006/main">
            <a:off x="609600" y="6400800"/>
            <a:ext cx="10334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C6B6B"/>
                </a:solidFill>
                <a:latin typeface="Noto Sans CJK JP"/>
                <a:ea typeface="Noto Sans CJK JP"/>
                <a:cs typeface="Noto Sans CJK JP"/>
              </a:defRPr>
            </a:pPr>
            <a:r>
              <a:rPr sz="1125" b="0">
                <a:solidFill>
                  <a:srgbClr val="5C6B6B"/>
                </a:solidFill>
                <a:latin typeface="Noto Sans CJK JP"/>
                <a:ea typeface="Noto Sans CJK JP"/>
                <a:cs typeface="Noto Sans CJK JP"/>
              </a:rPr>
              <a:t>Cao, Luo &amp; Quan (2024), JAS / Biomimetics ／ 研究の考え方を簡略化</a:t>
            </a:r>
          </a:p>
        </p:txBody>
      </p:sp>
      <p:sp>
        <p:nvSpPr>
          <p:cNvPr id="5" name="08">
            <a:extLst xmlns:a="http://schemas.openxmlformats.org/drawingml/2006/main">
              <a:ext uri="{FF2B5EF4-FFF2-40B4-BE49-F238E27FC236}">
                <a16:creationId xmlns:a16="http://schemas.microsoft.com/office/drawing/2014/main" id="{185CC805-ACFF-4E48-881D-370C333DA885}"/>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08</a:t>
            </a:r>
          </a:p>
        </p:txBody>
      </p:sp>
      <p:sp>
        <p:nvSpPr>
          <p:cNvPr id="6" name="最適制御">
            <a:extLst xmlns:a="http://schemas.openxmlformats.org/drawingml/2006/main">
              <a:ext uri="{FF2B5EF4-FFF2-40B4-BE49-F238E27FC236}">
                <a16:creationId xmlns:a16="http://schemas.microsoft.com/office/drawing/2014/main" id="{4538E167-029F-439D-B26A-43D3DDBEF757}"/>
              </a:ext>
            </a:extLst>
          </p:cNvPr>
          <p:cNvSpPr>
            <a:spLocks xmlns:a="http://schemas.openxmlformats.org/drawingml/2006/main" noGrp="1"/>
          </p:cNvSpPr>
          <p:nvPr/>
        </p:nvSpPr>
        <p:spPr>
          <a:xfrm xmlns:a="http://schemas.openxmlformats.org/drawingml/2006/main">
            <a:off x="609600" y="2009775"/>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最適制御</a:t>
            </a:r>
          </a:p>
        </p:txBody>
      </p:sp>
      <p:sp>
        <p:nvSpPr>
          <p:cNvPr id="7" name="何をよい動きとするかを決め、動きを計算する。">
            <a:extLst xmlns:a="http://schemas.openxmlformats.org/drawingml/2006/main">
              <a:ext uri="{FF2B5EF4-FFF2-40B4-BE49-F238E27FC236}">
                <a16:creationId xmlns:a16="http://schemas.microsoft.com/office/drawing/2014/main" id="{F0E2B67E-6453-4AE1-96F8-B6E3038BF161}"/>
              </a:ext>
            </a:extLst>
          </p:cNvPr>
          <p:cNvSpPr>
            <a:spLocks xmlns:a="http://schemas.openxmlformats.org/drawingml/2006/main" noGrp="1"/>
          </p:cNvSpPr>
          <p:nvPr/>
        </p:nvSpPr>
        <p:spPr>
          <a:xfrm xmlns:a="http://schemas.openxmlformats.org/drawingml/2006/main">
            <a:off x="3505200" y="2009775"/>
            <a:ext cx="8077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0">
                <a:solidFill>
                  <a:srgbClr val="17323B"/>
                </a:solidFill>
                <a:latin typeface="Noto Sans CJK JP"/>
                <a:ea typeface="Noto Sans CJK JP"/>
                <a:cs typeface="Noto Sans CJK JP"/>
              </a:defRPr>
            </a:pPr>
            <a:r>
              <a:rPr sz="2025" b="0">
                <a:solidFill>
                  <a:srgbClr val="17323B"/>
                </a:solidFill>
                <a:latin typeface="Noto Sans CJK JP"/>
                <a:ea typeface="Noto Sans CJK JP"/>
                <a:cs typeface="Noto Sans CJK JP"/>
              </a:rPr>
              <a:t>何をよい動きとするかを決め、動きを計算する。</a:t>
            </a:r>
          </a:p>
        </p:txBody>
      </p:sp>
      <p:sp>
        <p:nvSpPr>
          <p:cNvPr id="8" name="評価基準">
            <a:extLst xmlns:a="http://schemas.openxmlformats.org/drawingml/2006/main">
              <a:ext uri="{FF2B5EF4-FFF2-40B4-BE49-F238E27FC236}">
                <a16:creationId xmlns:a16="http://schemas.microsoft.com/office/drawing/2014/main" id="{5ABD4A2A-7623-4942-9776-1416757DE511}"/>
              </a:ext>
            </a:extLst>
          </p:cNvPr>
          <p:cNvSpPr>
            <a:spLocks xmlns:a="http://schemas.openxmlformats.org/drawingml/2006/main" noGrp="1"/>
          </p:cNvSpPr>
          <p:nvPr/>
        </p:nvSpPr>
        <p:spPr>
          <a:xfrm xmlns:a="http://schemas.openxmlformats.org/drawingml/2006/main">
            <a:off x="828675" y="2705100"/>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評価基準</a:t>
            </a:r>
          </a:p>
        </p:txBody>
      </p:sp>
      <p:sp>
        <p:nvSpPr>
          <p:cNvPr id="9" name="正確さ・滑らかさなど">
            <a:extLst xmlns:a="http://schemas.openxmlformats.org/drawingml/2006/main">
              <a:ext uri="{FF2B5EF4-FFF2-40B4-BE49-F238E27FC236}">
                <a16:creationId xmlns:a16="http://schemas.microsoft.com/office/drawing/2014/main" id="{58CA3A96-8E9E-4B8F-BD92-F907C81E615A}"/>
              </a:ext>
            </a:extLst>
          </p:cNvPr>
          <p:cNvSpPr>
            <a:spLocks xmlns:a="http://schemas.openxmlformats.org/drawingml/2006/main" noGrp="1"/>
          </p:cNvSpPr>
          <p:nvPr/>
        </p:nvSpPr>
        <p:spPr>
          <a:xfrm xmlns:a="http://schemas.openxmlformats.org/drawingml/2006/main">
            <a:off x="828675" y="3171825"/>
            <a:ext cx="3076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5C6B6B"/>
                </a:solidFill>
                <a:latin typeface="Noto Sans CJK JP"/>
                <a:ea typeface="Noto Sans CJK JP"/>
                <a:cs typeface="Noto Sans CJK JP"/>
              </a:defRPr>
            </a:pPr>
            <a:r>
              <a:rPr sz="1650" b="0">
                <a:solidFill>
                  <a:srgbClr val="5C6B6B"/>
                </a:solidFill>
                <a:latin typeface="Noto Sans CJK JP"/>
                <a:ea typeface="Noto Sans CJK JP"/>
                <a:cs typeface="Noto Sans CJK JP"/>
              </a:rPr>
              <a:t>正確さ・滑らかさなど</a:t>
            </a:r>
          </a:p>
        </p:txBody>
      </p:sp>
      <p:sp>
        <p:nvSpPr>
          <p:cNvPr id="10" name="">
            <a:extLst xmlns:a="http://schemas.openxmlformats.org/drawingml/2006/main">
              <a:ext uri="{FF2B5EF4-FFF2-40B4-BE49-F238E27FC236}">
                <a16:creationId xmlns:a16="http://schemas.microsoft.com/office/drawing/2014/main" id="{542E5A5D-8CBC-4644-8EE8-20653BEED12C}"/>
              </a:ext>
            </a:extLst>
          </p:cNvPr>
          <p:cNvSpPr>
            <a:spLocks xmlns:a="http://schemas.openxmlformats.org/drawingml/2006/main" noGrp="1"/>
          </p:cNvSpPr>
          <p:nvPr/>
        </p:nvSpPr>
        <p:spPr>
          <a:xfrm xmlns:a="http://schemas.openxmlformats.org/drawingml/2006/main">
            <a:off x="3876675" y="2867025"/>
            <a:ext cx="409575" cy="161925"/>
          </a:xfrm>
          <a:prstGeom xmlns:a="http://schemas.openxmlformats.org/drawingml/2006/main" prst="rightArrow">
            <a:avLst/>
          </a:prstGeom>
          <a:solidFill xmlns:a="http://schemas.openxmlformats.org/drawingml/2006/main">
            <a:srgbClr val="247C7A"/>
          </a:solidFill>
          <a:ln xmlns:a="http://schemas.openxmlformats.org/drawingml/2006/main" w="0">
            <a:noFill/>
          </a:ln>
        </p:spPr>
      </p:sp>
      <p:sp>
        <p:nvSpPr>
          <p:cNvPr id="11" name="モデルと制約">
            <a:extLst xmlns:a="http://schemas.openxmlformats.org/drawingml/2006/main">
              <a:ext uri="{FF2B5EF4-FFF2-40B4-BE49-F238E27FC236}">
                <a16:creationId xmlns:a16="http://schemas.microsoft.com/office/drawing/2014/main" id="{05A73AD6-0D2C-4405-8493-62BE4A236A61}"/>
              </a:ext>
            </a:extLst>
          </p:cNvPr>
          <p:cNvSpPr>
            <a:spLocks xmlns:a="http://schemas.openxmlformats.org/drawingml/2006/main" noGrp="1"/>
          </p:cNvSpPr>
          <p:nvPr/>
        </p:nvSpPr>
        <p:spPr>
          <a:xfrm xmlns:a="http://schemas.openxmlformats.org/drawingml/2006/main">
            <a:off x="4486275" y="2705100"/>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モデルと制約</a:t>
            </a:r>
          </a:p>
        </p:txBody>
      </p:sp>
      <p:sp>
        <p:nvSpPr>
          <p:cNvPr id="12" name="運動の式・入力の上限">
            <a:extLst xmlns:a="http://schemas.openxmlformats.org/drawingml/2006/main">
              <a:ext uri="{FF2B5EF4-FFF2-40B4-BE49-F238E27FC236}">
                <a16:creationId xmlns:a16="http://schemas.microsoft.com/office/drawing/2014/main" id="{87C9A811-CD99-44E6-9C95-36ECD61A086F}"/>
              </a:ext>
            </a:extLst>
          </p:cNvPr>
          <p:cNvSpPr>
            <a:spLocks xmlns:a="http://schemas.openxmlformats.org/drawingml/2006/main" noGrp="1"/>
          </p:cNvSpPr>
          <p:nvPr/>
        </p:nvSpPr>
        <p:spPr>
          <a:xfrm xmlns:a="http://schemas.openxmlformats.org/drawingml/2006/main">
            <a:off x="4486275" y="3171825"/>
            <a:ext cx="3076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5C6B6B"/>
                </a:solidFill>
                <a:latin typeface="Noto Sans CJK JP"/>
                <a:ea typeface="Noto Sans CJK JP"/>
                <a:cs typeface="Noto Sans CJK JP"/>
              </a:defRPr>
            </a:pPr>
            <a:r>
              <a:rPr sz="1650" b="0">
                <a:solidFill>
                  <a:srgbClr val="5C6B6B"/>
                </a:solidFill>
                <a:latin typeface="Noto Sans CJK JP"/>
                <a:ea typeface="Noto Sans CJK JP"/>
                <a:cs typeface="Noto Sans CJK JP"/>
              </a:rPr>
              <a:t>運動の式・入力の上限</a:t>
            </a:r>
          </a:p>
        </p:txBody>
      </p:sp>
      <p:sp>
        <p:nvSpPr>
          <p:cNvPr id="13" name="">
            <a:extLst xmlns:a="http://schemas.openxmlformats.org/drawingml/2006/main">
              <a:ext uri="{FF2B5EF4-FFF2-40B4-BE49-F238E27FC236}">
                <a16:creationId xmlns:a16="http://schemas.microsoft.com/office/drawing/2014/main" id="{A9C49887-CA3B-466E-A6DF-3EF7D8CFB13B}"/>
              </a:ext>
            </a:extLst>
          </p:cNvPr>
          <p:cNvSpPr>
            <a:spLocks xmlns:a="http://schemas.openxmlformats.org/drawingml/2006/main" noGrp="1"/>
          </p:cNvSpPr>
          <p:nvPr/>
        </p:nvSpPr>
        <p:spPr>
          <a:xfrm xmlns:a="http://schemas.openxmlformats.org/drawingml/2006/main">
            <a:off x="7534275" y="2867025"/>
            <a:ext cx="409575" cy="161925"/>
          </a:xfrm>
          <a:prstGeom xmlns:a="http://schemas.openxmlformats.org/drawingml/2006/main" prst="rightArrow">
            <a:avLst/>
          </a:prstGeom>
          <a:solidFill xmlns:a="http://schemas.openxmlformats.org/drawingml/2006/main">
            <a:srgbClr val="247C7A"/>
          </a:solidFill>
          <a:ln xmlns:a="http://schemas.openxmlformats.org/drawingml/2006/main" w="0">
            <a:noFill/>
          </a:ln>
        </p:spPr>
      </p:sp>
      <p:sp>
        <p:nvSpPr>
          <p:cNvPr id="14" name="計算した動き">
            <a:extLst xmlns:a="http://schemas.openxmlformats.org/drawingml/2006/main">
              <a:ext uri="{FF2B5EF4-FFF2-40B4-BE49-F238E27FC236}">
                <a16:creationId xmlns:a16="http://schemas.microsoft.com/office/drawing/2014/main" id="{594D499D-9302-4CC2-B157-8A0A86238E2F}"/>
              </a:ext>
            </a:extLst>
          </p:cNvPr>
          <p:cNvSpPr>
            <a:spLocks xmlns:a="http://schemas.openxmlformats.org/drawingml/2006/main" noGrp="1"/>
          </p:cNvSpPr>
          <p:nvPr/>
        </p:nvSpPr>
        <p:spPr>
          <a:xfrm xmlns:a="http://schemas.openxmlformats.org/drawingml/2006/main">
            <a:off x="8143875" y="2705100"/>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計算した動き</a:t>
            </a:r>
          </a:p>
        </p:txBody>
      </p:sp>
      <p:sp>
        <p:nvSpPr>
          <p:cNvPr id="15" name="条件を満たす軌道">
            <a:extLst xmlns:a="http://schemas.openxmlformats.org/drawingml/2006/main">
              <a:ext uri="{FF2B5EF4-FFF2-40B4-BE49-F238E27FC236}">
                <a16:creationId xmlns:a16="http://schemas.microsoft.com/office/drawing/2014/main" id="{2774484D-705E-4ACC-9CFB-DBA4C643BBF4}"/>
              </a:ext>
            </a:extLst>
          </p:cNvPr>
          <p:cNvSpPr>
            <a:spLocks xmlns:a="http://schemas.openxmlformats.org/drawingml/2006/main" noGrp="1"/>
          </p:cNvSpPr>
          <p:nvPr/>
        </p:nvSpPr>
        <p:spPr>
          <a:xfrm xmlns:a="http://schemas.openxmlformats.org/drawingml/2006/main">
            <a:off x="8143875" y="3171825"/>
            <a:ext cx="30765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5C6B6B"/>
                </a:solidFill>
                <a:latin typeface="Noto Sans CJK JP"/>
                <a:ea typeface="Noto Sans CJK JP"/>
                <a:cs typeface="Noto Sans CJK JP"/>
              </a:defRPr>
            </a:pPr>
            <a:r>
              <a:rPr sz="1650" b="0">
                <a:solidFill>
                  <a:srgbClr val="5C6B6B"/>
                </a:solidFill>
                <a:latin typeface="Noto Sans CJK JP"/>
                <a:ea typeface="Noto Sans CJK JP"/>
                <a:cs typeface="Noto Sans CJK JP"/>
              </a:rPr>
              <a:t>条件を満たす軌道</a:t>
            </a:r>
          </a:p>
        </p:txBody>
      </p:sp>
      <p:sp>
        <p:nvSpPr>
          <p:cNvPr id="16" name="">
            <a:extLst xmlns:a="http://schemas.openxmlformats.org/drawingml/2006/main">
              <a:ext uri="{FF2B5EF4-FFF2-40B4-BE49-F238E27FC236}">
                <a16:creationId xmlns:a16="http://schemas.microsoft.com/office/drawing/2014/main" id="{B192E075-52E4-41A3-928C-24FE300523B5}"/>
              </a:ext>
            </a:extLst>
          </p:cNvPr>
          <p:cNvSpPr>
            <a:spLocks xmlns:a="http://schemas.openxmlformats.org/drawingml/2006/main" noGrp="1"/>
          </p:cNvSpPr>
          <p:nvPr/>
        </p:nvSpPr>
        <p:spPr>
          <a:xfrm xmlns:a="http://schemas.openxmlformats.org/drawingml/2006/main">
            <a:off x="609600" y="3819525"/>
            <a:ext cx="10972800" cy="9525"/>
          </a:xfrm>
          <a:prstGeom xmlns:a="http://schemas.openxmlformats.org/drawingml/2006/main" prst="rect">
            <a:avLst/>
          </a:prstGeom>
          <a:solidFill xmlns:a="http://schemas.openxmlformats.org/drawingml/2006/main">
            <a:srgbClr val="C8D4D0"/>
          </a:solidFill>
          <a:ln xmlns:a="http://schemas.openxmlformats.org/drawingml/2006/main" w="0">
            <a:noFill/>
          </a:ln>
        </p:spPr>
      </p:sp>
      <p:sp>
        <p:nvSpPr>
          <p:cNvPr id="17" name="逆最適制御">
            <a:extLst xmlns:a="http://schemas.openxmlformats.org/drawingml/2006/main">
              <a:ext uri="{FF2B5EF4-FFF2-40B4-BE49-F238E27FC236}">
                <a16:creationId xmlns:a16="http://schemas.microsoft.com/office/drawing/2014/main" id="{67E4C8A5-8803-4BF9-9BC9-92D8BFA84D7A}"/>
              </a:ext>
            </a:extLst>
          </p:cNvPr>
          <p:cNvSpPr>
            <a:spLocks xmlns:a="http://schemas.openxmlformats.org/drawingml/2006/main" noGrp="1"/>
          </p:cNvSpPr>
          <p:nvPr/>
        </p:nvSpPr>
        <p:spPr>
          <a:xfrm xmlns:a="http://schemas.openxmlformats.org/drawingml/2006/main">
            <a:off x="609600" y="4152900"/>
            <a:ext cx="276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逆最適制御</a:t>
            </a:r>
          </a:p>
        </p:txBody>
      </p:sp>
      <p:sp>
        <p:nvSpPr>
          <p:cNvPr id="18" name="観測した動きを説明できる評価基準を調べる。">
            <a:extLst xmlns:a="http://schemas.openxmlformats.org/drawingml/2006/main">
              <a:ext uri="{FF2B5EF4-FFF2-40B4-BE49-F238E27FC236}">
                <a16:creationId xmlns:a16="http://schemas.microsoft.com/office/drawing/2014/main" id="{BD904EE3-327F-4CC6-A566-CD561FE3B581}"/>
              </a:ext>
            </a:extLst>
          </p:cNvPr>
          <p:cNvSpPr>
            <a:spLocks xmlns:a="http://schemas.openxmlformats.org/drawingml/2006/main" noGrp="1"/>
          </p:cNvSpPr>
          <p:nvPr/>
        </p:nvSpPr>
        <p:spPr>
          <a:xfrm xmlns:a="http://schemas.openxmlformats.org/drawingml/2006/main">
            <a:off x="3505200" y="4152900"/>
            <a:ext cx="8077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025" b="0">
                <a:solidFill>
                  <a:srgbClr val="17323B"/>
                </a:solidFill>
                <a:latin typeface="Noto Sans CJK JP"/>
                <a:ea typeface="Noto Sans CJK JP"/>
                <a:cs typeface="Noto Sans CJK JP"/>
              </a:defRPr>
            </a:pPr>
            <a:r>
              <a:rPr sz="2025" b="0">
                <a:solidFill>
                  <a:srgbClr val="17323B"/>
                </a:solidFill>
                <a:latin typeface="Noto Sans CJK JP"/>
                <a:ea typeface="Noto Sans CJK JP"/>
                <a:cs typeface="Noto Sans CJK JP"/>
              </a:rPr>
              <a:t>観測した動きを説明できる評価基準を調べる。</a:t>
            </a:r>
          </a:p>
        </p:txBody>
      </p:sp>
      <p:sp>
        <p:nvSpPr>
          <p:cNvPr id="19" name="観測した動き">
            <a:extLst xmlns:a="http://schemas.openxmlformats.org/drawingml/2006/main">
              <a:ext uri="{FF2B5EF4-FFF2-40B4-BE49-F238E27FC236}">
                <a16:creationId xmlns:a16="http://schemas.microsoft.com/office/drawing/2014/main" id="{B6744E90-BD43-4F7C-9A93-F4841D7D9EE6}"/>
              </a:ext>
            </a:extLst>
          </p:cNvPr>
          <p:cNvSpPr>
            <a:spLocks xmlns:a="http://schemas.openxmlformats.org/drawingml/2006/main" noGrp="1"/>
          </p:cNvSpPr>
          <p:nvPr/>
        </p:nvSpPr>
        <p:spPr>
          <a:xfrm xmlns:a="http://schemas.openxmlformats.org/drawingml/2006/main">
            <a:off x="828675" y="488632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観測した動き</a:t>
            </a:r>
          </a:p>
        </p:txBody>
      </p:sp>
      <p:sp>
        <p:nvSpPr>
          <p:cNvPr id="20" name="位置や入力の記録">
            <a:extLst xmlns:a="http://schemas.openxmlformats.org/drawingml/2006/main">
              <a:ext uri="{FF2B5EF4-FFF2-40B4-BE49-F238E27FC236}">
                <a16:creationId xmlns:a16="http://schemas.microsoft.com/office/drawing/2014/main" id="{0636EDC7-5D00-4506-9918-196DA68E40F5}"/>
              </a:ext>
            </a:extLst>
          </p:cNvPr>
          <p:cNvSpPr>
            <a:spLocks xmlns:a="http://schemas.openxmlformats.org/drawingml/2006/main" noGrp="1"/>
          </p:cNvSpPr>
          <p:nvPr/>
        </p:nvSpPr>
        <p:spPr>
          <a:xfrm xmlns:a="http://schemas.openxmlformats.org/drawingml/2006/main">
            <a:off x="828675" y="5343525"/>
            <a:ext cx="3076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5C6B6B"/>
                </a:solidFill>
                <a:latin typeface="Noto Sans CJK JP"/>
                <a:ea typeface="Noto Sans CJK JP"/>
                <a:cs typeface="Noto Sans CJK JP"/>
              </a:defRPr>
            </a:pPr>
            <a:r>
              <a:rPr sz="1650" b="0">
                <a:solidFill>
                  <a:srgbClr val="5C6B6B"/>
                </a:solidFill>
                <a:latin typeface="Noto Sans CJK JP"/>
                <a:ea typeface="Noto Sans CJK JP"/>
                <a:cs typeface="Noto Sans CJK JP"/>
              </a:rPr>
              <a:t>位置や入力の記録</a:t>
            </a:r>
          </a:p>
        </p:txBody>
      </p:sp>
      <p:sp>
        <p:nvSpPr>
          <p:cNvPr id="21" name="">
            <a:extLst xmlns:a="http://schemas.openxmlformats.org/drawingml/2006/main">
              <a:ext uri="{FF2B5EF4-FFF2-40B4-BE49-F238E27FC236}">
                <a16:creationId xmlns:a16="http://schemas.microsoft.com/office/drawing/2014/main" id="{E2C47217-B957-455F-A2E8-CE79E7CAB95B}"/>
              </a:ext>
            </a:extLst>
          </p:cNvPr>
          <p:cNvSpPr>
            <a:spLocks xmlns:a="http://schemas.openxmlformats.org/drawingml/2006/main" noGrp="1"/>
          </p:cNvSpPr>
          <p:nvPr/>
        </p:nvSpPr>
        <p:spPr>
          <a:xfrm xmlns:a="http://schemas.openxmlformats.org/drawingml/2006/main">
            <a:off x="3876675" y="5038725"/>
            <a:ext cx="409575" cy="161925"/>
          </a:xfrm>
          <a:prstGeom xmlns:a="http://schemas.openxmlformats.org/drawingml/2006/main" prst="rightArrow">
            <a:avLst/>
          </a:prstGeom>
          <a:solidFill xmlns:a="http://schemas.openxmlformats.org/drawingml/2006/main">
            <a:srgbClr val="247C7A"/>
          </a:solidFill>
          <a:ln xmlns:a="http://schemas.openxmlformats.org/drawingml/2006/main" w="0">
            <a:noFill/>
          </a:ln>
        </p:spPr>
      </p:sp>
      <p:sp>
        <p:nvSpPr>
          <p:cNvPr id="22" name="モデルと照合">
            <a:extLst xmlns:a="http://schemas.openxmlformats.org/drawingml/2006/main">
              <a:ext uri="{FF2B5EF4-FFF2-40B4-BE49-F238E27FC236}">
                <a16:creationId xmlns:a16="http://schemas.microsoft.com/office/drawing/2014/main" id="{CA54B2D5-BA11-41A3-A4E7-440CD5A71A26}"/>
              </a:ext>
            </a:extLst>
          </p:cNvPr>
          <p:cNvSpPr>
            <a:spLocks xmlns:a="http://schemas.openxmlformats.org/drawingml/2006/main" noGrp="1"/>
          </p:cNvSpPr>
          <p:nvPr/>
        </p:nvSpPr>
        <p:spPr>
          <a:xfrm xmlns:a="http://schemas.openxmlformats.org/drawingml/2006/main">
            <a:off x="4486275" y="488632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モデルと照合</a:t>
            </a:r>
          </a:p>
        </p:txBody>
      </p:sp>
      <p:sp>
        <p:nvSpPr>
          <p:cNvPr id="23" name="仮定のもとで計算">
            <a:extLst xmlns:a="http://schemas.openxmlformats.org/drawingml/2006/main">
              <a:ext uri="{FF2B5EF4-FFF2-40B4-BE49-F238E27FC236}">
                <a16:creationId xmlns:a16="http://schemas.microsoft.com/office/drawing/2014/main" id="{E158D436-B16C-46BD-A914-54BB3778536F}"/>
              </a:ext>
            </a:extLst>
          </p:cNvPr>
          <p:cNvSpPr>
            <a:spLocks xmlns:a="http://schemas.openxmlformats.org/drawingml/2006/main" noGrp="1"/>
          </p:cNvSpPr>
          <p:nvPr/>
        </p:nvSpPr>
        <p:spPr>
          <a:xfrm xmlns:a="http://schemas.openxmlformats.org/drawingml/2006/main">
            <a:off x="4486275" y="5343525"/>
            <a:ext cx="3076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5C6B6B"/>
                </a:solidFill>
                <a:latin typeface="Noto Sans CJK JP"/>
                <a:ea typeface="Noto Sans CJK JP"/>
                <a:cs typeface="Noto Sans CJK JP"/>
              </a:defRPr>
            </a:pPr>
            <a:r>
              <a:rPr sz="1650" b="0">
                <a:solidFill>
                  <a:srgbClr val="5C6B6B"/>
                </a:solidFill>
                <a:latin typeface="Noto Sans CJK JP"/>
                <a:ea typeface="Noto Sans CJK JP"/>
                <a:cs typeface="Noto Sans CJK JP"/>
              </a:rPr>
              <a:t>仮定のもとで計算</a:t>
            </a:r>
          </a:p>
        </p:txBody>
      </p:sp>
      <p:sp>
        <p:nvSpPr>
          <p:cNvPr id="24" name="">
            <a:extLst xmlns:a="http://schemas.openxmlformats.org/drawingml/2006/main">
              <a:ext uri="{FF2B5EF4-FFF2-40B4-BE49-F238E27FC236}">
                <a16:creationId xmlns:a16="http://schemas.microsoft.com/office/drawing/2014/main" id="{ABC1074B-8494-480E-9F3E-2A872FE4EEA6}"/>
              </a:ext>
            </a:extLst>
          </p:cNvPr>
          <p:cNvSpPr>
            <a:spLocks xmlns:a="http://schemas.openxmlformats.org/drawingml/2006/main" noGrp="1"/>
          </p:cNvSpPr>
          <p:nvPr/>
        </p:nvSpPr>
        <p:spPr>
          <a:xfrm xmlns:a="http://schemas.openxmlformats.org/drawingml/2006/main">
            <a:off x="7534275" y="5038725"/>
            <a:ext cx="409575" cy="161925"/>
          </a:xfrm>
          <a:prstGeom xmlns:a="http://schemas.openxmlformats.org/drawingml/2006/main" prst="rightArrow">
            <a:avLst/>
          </a:prstGeom>
          <a:solidFill xmlns:a="http://schemas.openxmlformats.org/drawingml/2006/main">
            <a:srgbClr val="247C7A"/>
          </a:solidFill>
          <a:ln xmlns:a="http://schemas.openxmlformats.org/drawingml/2006/main" w="0">
            <a:noFill/>
          </a:ln>
        </p:spPr>
      </p:sp>
      <p:sp>
        <p:nvSpPr>
          <p:cNvPr id="25" name="評価基準の候補">
            <a:extLst xmlns:a="http://schemas.openxmlformats.org/drawingml/2006/main">
              <a:ext uri="{FF2B5EF4-FFF2-40B4-BE49-F238E27FC236}">
                <a16:creationId xmlns:a16="http://schemas.microsoft.com/office/drawing/2014/main" id="{6B528D6A-B4B9-4D6C-AE11-0E55E682B9F2}"/>
              </a:ext>
            </a:extLst>
          </p:cNvPr>
          <p:cNvSpPr>
            <a:spLocks xmlns:a="http://schemas.openxmlformats.org/drawingml/2006/main" noGrp="1"/>
          </p:cNvSpPr>
          <p:nvPr/>
        </p:nvSpPr>
        <p:spPr>
          <a:xfrm xmlns:a="http://schemas.openxmlformats.org/drawingml/2006/main">
            <a:off x="8143875" y="4886325"/>
            <a:ext cx="3076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評価基準の候補</a:t>
            </a:r>
          </a:p>
        </p:txBody>
      </p:sp>
      <p:sp>
        <p:nvSpPr>
          <p:cNvPr id="26" name="一つに決まらない場合もある">
            <a:extLst xmlns:a="http://schemas.openxmlformats.org/drawingml/2006/main">
              <a:ext uri="{FF2B5EF4-FFF2-40B4-BE49-F238E27FC236}">
                <a16:creationId xmlns:a16="http://schemas.microsoft.com/office/drawing/2014/main" id="{93DDC08B-C300-415F-A85B-796BE4179244}"/>
              </a:ext>
            </a:extLst>
          </p:cNvPr>
          <p:cNvSpPr>
            <a:spLocks xmlns:a="http://schemas.openxmlformats.org/drawingml/2006/main" noGrp="1"/>
          </p:cNvSpPr>
          <p:nvPr/>
        </p:nvSpPr>
        <p:spPr>
          <a:xfrm xmlns:a="http://schemas.openxmlformats.org/drawingml/2006/main">
            <a:off x="8143875" y="5343525"/>
            <a:ext cx="30765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650" b="0">
                <a:solidFill>
                  <a:srgbClr val="5C6B6B"/>
                </a:solidFill>
                <a:latin typeface="Noto Sans CJK JP"/>
                <a:ea typeface="Noto Sans CJK JP"/>
                <a:cs typeface="Noto Sans CJK JP"/>
              </a:defRPr>
            </a:pPr>
            <a:r>
              <a:rPr sz="1650" b="0">
                <a:solidFill>
                  <a:srgbClr val="5C6B6B"/>
                </a:solidFill>
                <a:latin typeface="Noto Sans CJK JP"/>
                <a:ea typeface="Noto Sans CJK JP"/>
                <a:cs typeface="Noto Sans CJK JP"/>
              </a:rPr>
              <a:t>一つに決まらない場合もある</a:t>
            </a:r>
          </a:p>
        </p:txBody>
      </p:sp>
    </p:spTree>
    <p:extLst>
      <p:ext uri="{BB962C8B-B14F-4D97-AF65-F5344CB8AC3E}">
        <p14:creationId xmlns:p14="http://schemas.microsoft.com/office/powerpoint/2010/main" val="1274445343"/>
      </p:ext>
    </p:extLst>
  </p:cSld>
</p:sld>
</file>

<file path=ppt/slides/slide9.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3" name="研究室紹介">
            <a:extLst xmlns:a="http://schemas.openxmlformats.org/drawingml/2006/main">
              <a:ext uri="{FF2B5EF4-FFF2-40B4-BE49-F238E27FC236}">
                <a16:creationId xmlns:a16="http://schemas.microsoft.com/office/drawing/2014/main" id="{EB1C94C4-CF0C-474B-B5B3-50F11181F9AA}"/>
              </a:ext>
            </a:extLst>
          </p:cNvPr>
          <p:cNvSpPr>
            <a:spLocks xmlns:a="http://schemas.openxmlformats.org/drawingml/2006/main" noGrp="1"/>
          </p:cNvSpPr>
          <p:nvPr/>
        </p:nvSpPr>
        <p:spPr>
          <a:xfrm xmlns:a="http://schemas.openxmlformats.org/drawingml/2006/main">
            <a:off x="609600" y="2667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AIで何を学習するか">
            <a:extLst xmlns:a="http://schemas.openxmlformats.org/drawingml/2006/main">
              <a:ext uri="{FF2B5EF4-FFF2-40B4-BE49-F238E27FC236}">
                <a16:creationId xmlns:a16="http://schemas.microsoft.com/office/drawing/2014/main" id="{B5F5A2FD-38C4-4972-B1A7-7E41145F4E2F}"/>
              </a:ext>
            </a:extLst>
          </p:cNvPr>
          <p:cNvSpPr>
            <a:spLocks xmlns:a="http://schemas.openxmlformats.org/drawingml/2006/main" noGrp="1"/>
          </p:cNvSpPr>
          <p:nvPr/>
        </p:nvSpPr>
        <p:spPr>
          <a:xfrm xmlns:a="http://schemas.openxmlformats.org/drawingml/2006/main">
            <a:off x="609600" y="6572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AIで何を学習するか</a:t>
            </a:r>
          </a:p>
        </p:txBody>
      </p:sp>
      <p:sp>
        <p:nvSpPr>
          <p:cNvPr id="3" name="入力・出力・評価方法を、課題に合わせて決める">
            <a:extLst xmlns:a="http://schemas.openxmlformats.org/drawingml/2006/main">
              <a:ext uri="{FF2B5EF4-FFF2-40B4-BE49-F238E27FC236}">
                <a16:creationId xmlns:a16="http://schemas.microsoft.com/office/drawing/2014/main" id="{86617F1A-C474-4E6A-967C-BADE6EB5E993}"/>
              </a:ext>
            </a:extLst>
          </p:cNvPr>
          <p:cNvSpPr>
            <a:spLocks xmlns:a="http://schemas.openxmlformats.org/drawingml/2006/main" noGrp="1"/>
          </p:cNvSpPr>
          <p:nvPr/>
        </p:nvSpPr>
        <p:spPr>
          <a:xfrm xmlns:a="http://schemas.openxmlformats.org/drawingml/2006/main">
            <a:off x="609600" y="13239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入力・出力・評価方法を、課題に合わせて決める</a:t>
            </a:r>
          </a:p>
        </p:txBody>
      </p:sp>
      <p:sp>
        <p:nvSpPr>
          <p:cNvPr id="4" name="共同研究の例：Fujita et al., Applied ">
            <a:extLst xmlns:a="http://schemas.openxmlformats.org/drawingml/2006/main">
              <a:ext uri="{FF2B5EF4-FFF2-40B4-BE49-F238E27FC236}">
                <a16:creationId xmlns:a16="http://schemas.microsoft.com/office/drawing/2014/main" id="{7602C1C3-E29D-43F7-B4DF-377FF52BE4EB}"/>
              </a:ext>
            </a:extLst>
          </p:cNvPr>
          <p:cNvSpPr>
            <a:spLocks xmlns:a="http://schemas.openxmlformats.org/drawingml/2006/main" noGrp="1"/>
          </p:cNvSpPr>
          <p:nvPr/>
        </p:nvSpPr>
        <p:spPr>
          <a:xfrm xmlns:a="http://schemas.openxmlformats.org/drawingml/2006/main">
            <a:off x="609600" y="6400800"/>
            <a:ext cx="103346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125" b="0">
                <a:solidFill>
                  <a:srgbClr val="5C6B6B"/>
                </a:solidFill>
                <a:latin typeface="Noto Sans CJK JP"/>
                <a:ea typeface="Noto Sans CJK JP"/>
                <a:cs typeface="Noto Sans CJK JP"/>
              </a:defRPr>
            </a:pPr>
            <a:r>
              <a:rPr sz="1125" b="0">
                <a:solidFill>
                  <a:srgbClr val="5C6B6B"/>
                </a:solidFill>
                <a:latin typeface="Noto Sans CJK JP"/>
                <a:ea typeface="Noto Sans CJK JP"/>
                <a:cs typeface="Noto Sans CJK JP"/>
              </a:rPr>
              <a:t>共同研究の例：Fujita et al., Applied Sciences 11 (2021), 4361</a:t>
            </a:r>
          </a:p>
        </p:txBody>
      </p:sp>
      <p:sp>
        <p:nvSpPr>
          <p:cNvPr id="5" name="09">
            <a:extLst xmlns:a="http://schemas.openxmlformats.org/drawingml/2006/main">
              <a:ext uri="{FF2B5EF4-FFF2-40B4-BE49-F238E27FC236}">
                <a16:creationId xmlns:a16="http://schemas.microsoft.com/office/drawing/2014/main" id="{49B20E7D-7747-4F2F-BD3D-502554654B22}"/>
              </a:ext>
            </a:extLst>
          </p:cNvPr>
          <p:cNvSpPr>
            <a:spLocks xmlns:a="http://schemas.openxmlformats.org/drawingml/2006/main" noGrp="1"/>
          </p:cNvSpPr>
          <p:nvPr/>
        </p:nvSpPr>
        <p:spPr>
          <a:xfrm xmlns:a="http://schemas.openxmlformats.org/drawingml/2006/main">
            <a:off x="11049000" y="636270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09</a:t>
            </a:r>
          </a:p>
        </p:txBody>
      </p:sp>
      <p:sp>
        <p:nvSpPr>
          <p:cNvPr id="6" name="既往の共同研究">
            <a:extLst xmlns:a="http://schemas.openxmlformats.org/drawingml/2006/main">
              <a:ext uri="{FF2B5EF4-FFF2-40B4-BE49-F238E27FC236}">
                <a16:creationId xmlns:a16="http://schemas.microsoft.com/office/drawing/2014/main" id="{3D03D649-051A-400C-94EB-9797B7141B8E}"/>
              </a:ext>
            </a:extLst>
          </p:cNvPr>
          <p:cNvSpPr>
            <a:spLocks xmlns:a="http://schemas.openxmlformats.org/drawingml/2006/main" noGrp="1"/>
          </p:cNvSpPr>
          <p:nvPr/>
        </p:nvSpPr>
        <p:spPr>
          <a:xfrm xmlns:a="http://schemas.openxmlformats.org/drawingml/2006/main">
            <a:off x="609600" y="2000250"/>
            <a:ext cx="5048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00" b="1">
                <a:solidFill>
                  <a:srgbClr val="247C7A"/>
                </a:solidFill>
                <a:latin typeface="Noto Sans CJK JP"/>
                <a:ea typeface="Noto Sans CJK JP"/>
                <a:cs typeface="Noto Sans CJK JP"/>
              </a:defRPr>
            </a:pPr>
            <a:r>
              <a:rPr sz="1800" b="1">
                <a:solidFill>
                  <a:srgbClr val="247C7A"/>
                </a:solidFill>
                <a:latin typeface="Noto Sans CJK JP"/>
                <a:ea typeface="Noto Sans CJK JP"/>
                <a:cs typeface="Noto Sans CJK JP"/>
              </a:rPr>
              <a:t>既往の共同研究</a:t>
            </a:r>
          </a:p>
        </p:txBody>
      </p:sp>
      <p:sp>
        <p:nvSpPr>
          <p:cNvPr id="7" name="音声のパターンを&#10;画像の系列に変えて分類">
            <a:extLst xmlns:a="http://schemas.openxmlformats.org/drawingml/2006/main">
              <a:ext uri="{FF2B5EF4-FFF2-40B4-BE49-F238E27FC236}">
                <a16:creationId xmlns:a16="http://schemas.microsoft.com/office/drawing/2014/main" id="{B2350945-1AF1-49B2-B89B-1FD00B5C29E6}"/>
              </a:ext>
            </a:extLst>
          </p:cNvPr>
          <p:cNvSpPr>
            <a:spLocks xmlns:a="http://schemas.openxmlformats.org/drawingml/2006/main" noGrp="1"/>
          </p:cNvSpPr>
          <p:nvPr/>
        </p:nvSpPr>
        <p:spPr>
          <a:xfrm xmlns:a="http://schemas.openxmlformats.org/drawingml/2006/main">
            <a:off x="609600" y="24765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2625" b="1">
                <a:solidFill>
                  <a:srgbClr val="17323B"/>
                </a:solidFill>
                <a:latin typeface="Noto Sans CJK JP"/>
                <a:ea typeface="Noto Sans CJK JP"/>
                <a:cs typeface="Noto Sans CJK JP"/>
              </a:defRPr>
            </a:pPr>
            <a:r>
              <a:rPr sz="2625" b="1">
                <a:solidFill>
                  <a:srgbClr val="17323B"/>
                </a:solidFill>
                <a:latin typeface="Noto Sans CJK JP"/>
                <a:ea typeface="Noto Sans CJK JP"/>
                <a:cs typeface="Noto Sans CJK JP"/>
              </a:rPr>
              <a:t>音声のパターンを</a:t>
            </a:r>
          </a:p>
          <a:p xmlns:a="http://schemas.openxmlformats.org/drawingml/2006/main">
            <a:pPr algn="l">
              <a:lnSpc>
                <a:spcPct val="118000"/>
              </a:lnSpc>
              <a:buNone/>
              <a:defRPr sz="2625" b="1">
                <a:solidFill>
                  <a:srgbClr val="17323B"/>
                </a:solidFill>
                <a:latin typeface="Noto Sans CJK JP"/>
                <a:ea typeface="Noto Sans CJK JP"/>
                <a:cs typeface="Noto Sans CJK JP"/>
              </a:defRPr>
            </a:pPr>
            <a:r>
              <a:rPr sz="2625" b="1">
                <a:solidFill>
                  <a:srgbClr val="17323B"/>
                </a:solidFill>
                <a:latin typeface="Noto Sans CJK JP"/>
                <a:ea typeface="Noto Sans CJK JP"/>
                <a:cs typeface="Noto Sans CJK JP"/>
              </a:rPr>
              <a:t>画像の系列に変えて分類</a:t>
            </a:r>
          </a:p>
        </p:txBody>
      </p:sp>
      <p:sp>
        <p:nvSpPr>
          <p:cNvPr id="8" name="学習に使った人と、評価する人を分ける。&#10;用意したデータの中で">
            <a:extLst xmlns:a="http://schemas.openxmlformats.org/drawingml/2006/main">
              <a:ext uri="{FF2B5EF4-FFF2-40B4-BE49-F238E27FC236}">
                <a16:creationId xmlns:a16="http://schemas.microsoft.com/office/drawing/2014/main" id="{A455D17F-B4AC-4D72-9453-03247588324C}"/>
              </a:ext>
            </a:extLst>
          </p:cNvPr>
          <p:cNvSpPr>
            <a:spLocks xmlns:a="http://schemas.openxmlformats.org/drawingml/2006/main" noGrp="1"/>
          </p:cNvSpPr>
          <p:nvPr/>
        </p:nvSpPr>
        <p:spPr>
          <a:xfrm xmlns:a="http://schemas.openxmlformats.org/drawingml/2006/main">
            <a:off x="609600" y="3848100"/>
            <a:ext cx="51339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学習に使った人と、評価する人を分ける。</a:t>
            </a:r>
          </a:p>
          <a:p xmlns:a="http://schemas.openxmlformats.org/drawingml/2006/main">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用意したデータの中で、モデルを比較する。</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f58c88528e784e93"/>
          <a:stretch xmlns:a="http://schemas.openxmlformats.org/drawingml/2006/main"/>
        </p:blipFill>
        <p:spPr>
          <a:xfrm xmlns:a="http://schemas.openxmlformats.org/drawingml/2006/main">
            <a:off x="6076950" y="2276204"/>
            <a:ext cx="5505450" cy="1829343"/>
          </a:xfrm>
          <a:prstGeom xmlns:a="http://schemas.openxmlformats.org/drawingml/2006/main" prst="rect">
            <a:avLst/>
          </a:prstGeom>
        </p:spPr>
      </p:pic>
      <p:sp>
        <p:nvSpPr>
          <p:cNvPr id="10" name="音声と表現変換の原図">
            <a:extLst xmlns:a="http://schemas.openxmlformats.org/drawingml/2006/main">
              <a:ext uri="{FF2B5EF4-FFF2-40B4-BE49-F238E27FC236}">
                <a16:creationId xmlns:a16="http://schemas.microsoft.com/office/drawing/2014/main" id="{AD7C1ABA-21FD-4A9A-898A-4764A6EDF2EE}"/>
              </a:ext>
            </a:extLst>
          </p:cNvPr>
          <p:cNvSpPr>
            <a:spLocks xmlns:a="http://schemas.openxmlformats.org/drawingml/2006/main" noGrp="1"/>
          </p:cNvSpPr>
          <p:nvPr/>
        </p:nvSpPr>
        <p:spPr>
          <a:xfrm xmlns:a="http://schemas.openxmlformats.org/drawingml/2006/main">
            <a:off x="6076950" y="4514850"/>
            <a:ext cx="55054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500" b="0">
                <a:solidFill>
                  <a:srgbClr val="5C6B6B"/>
                </a:solidFill>
                <a:latin typeface="Noto Sans CJK JP"/>
                <a:ea typeface="Noto Sans CJK JP"/>
                <a:cs typeface="Noto Sans CJK JP"/>
              </a:defRPr>
            </a:pPr>
            <a:r>
              <a:rPr sz="1500" b="0">
                <a:solidFill>
                  <a:srgbClr val="5C6B6B"/>
                </a:solidFill>
                <a:latin typeface="Noto Sans CJK JP"/>
                <a:ea typeface="Noto Sans CJK JP"/>
                <a:cs typeface="Noto Sans CJK JP"/>
              </a:rPr>
              <a:t>音声と表現変換の原図</a:t>
            </a:r>
          </a:p>
        </p:txBody>
      </p:sp>
      <p:sp>
        <p:nvSpPr>
          <p:cNvPr id="11" name="">
            <a:extLst xmlns:a="http://schemas.openxmlformats.org/drawingml/2006/main">
              <a:ext uri="{FF2B5EF4-FFF2-40B4-BE49-F238E27FC236}">
                <a16:creationId xmlns:a16="http://schemas.microsoft.com/office/drawing/2014/main" id="{14EBA22B-A6E2-4B00-91F6-337C1EE7B00F}"/>
              </a:ext>
            </a:extLst>
          </p:cNvPr>
          <p:cNvSpPr>
            <a:spLocks xmlns:a="http://schemas.openxmlformats.org/drawingml/2006/main" noGrp="1"/>
          </p:cNvSpPr>
          <p:nvPr/>
        </p:nvSpPr>
        <p:spPr>
          <a:xfrm xmlns:a="http://schemas.openxmlformats.org/drawingml/2006/main">
            <a:off x="609600" y="5791200"/>
            <a:ext cx="10972800" cy="457200"/>
          </a:xfrm>
          <a:prstGeom xmlns:a="http://schemas.openxmlformats.org/drawingml/2006/main" prst="rect">
            <a:avLst/>
          </a:prstGeom>
          <a:solidFill xmlns:a="http://schemas.openxmlformats.org/drawingml/2006/main">
            <a:srgbClr val="17323B"/>
          </a:solidFill>
          <a:ln xmlns:a="http://schemas.openxmlformats.org/drawingml/2006/main" w="0">
            <a:noFill/>
          </a:ln>
        </p:spPr>
      </p:sp>
      <p:sp>
        <p:nvSpPr>
          <p:cNvPr id="12" name="後半のAI小プロジェクトでも、比較する基準を先に決める。">
            <a:extLst xmlns:a="http://schemas.openxmlformats.org/drawingml/2006/main">
              <a:ext uri="{FF2B5EF4-FFF2-40B4-BE49-F238E27FC236}">
                <a16:creationId xmlns:a16="http://schemas.microsoft.com/office/drawing/2014/main" id="{EEB7E6E0-966C-4759-BD7A-1DAE5D8A87D4}"/>
              </a:ext>
            </a:extLst>
          </p:cNvPr>
          <p:cNvSpPr>
            <a:spLocks xmlns:a="http://schemas.openxmlformats.org/drawingml/2006/main" noGrp="1"/>
          </p:cNvSpPr>
          <p:nvPr/>
        </p:nvSpPr>
        <p:spPr>
          <a:xfrm xmlns:a="http://schemas.openxmlformats.org/drawingml/2006/main">
            <a:off x="800100" y="5857875"/>
            <a:ext cx="10591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875" b="1">
                <a:solidFill>
                  <a:srgbClr val="FFFFFF"/>
                </a:solidFill>
                <a:latin typeface="Noto Sans CJK JP"/>
                <a:ea typeface="Noto Sans CJK JP"/>
                <a:cs typeface="Noto Sans CJK JP"/>
              </a:defRPr>
            </a:pPr>
            <a:r>
              <a:rPr sz="1875" b="1">
                <a:solidFill>
                  <a:srgbClr val="FFFFFF"/>
                </a:solidFill>
                <a:latin typeface="Noto Sans CJK JP"/>
                <a:ea typeface="Noto Sans CJK JP"/>
                <a:cs typeface="Noto Sans CJK JP"/>
              </a:rPr>
              <a:t>後半のAI小プロジェクトでも、比較する基準を先に決める。</a:t>
            </a:r>
          </a:p>
        </p:txBody>
      </p:sp>
    </p:spTree>
    <p:extLst>
      <p:ext uri="{BB962C8B-B14F-4D97-AF65-F5344CB8AC3E}">
        <p14:creationId xmlns:p14="http://schemas.microsoft.com/office/powerpoint/2010/main" val="309654252"/>
      </p:ext>
    </p:extLst>
  </p:cSld>
</p:sld>
</file>

<file path=ppt/slides/slide10.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6" name="研究室紹介">
            <a:extLst>
              <a:ext uri="{FF2B5EF4-FFF2-40B4-BE49-F238E27FC236}">
                <a16:creationId id="{AD34AF85-3D21-4F9D-B132-EA2ED1F0ABC1}"/>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研究室紹介</a:t>
            </a:r>
          </a:p>
        </p:txBody>
      </p:sp>
      <p:sp>
        <p:nvSpPr>
          <p:cNvPr id="2" name="B3が研究に参加する入口">
            <a:extLst>
              <a:ext uri="{FF2B5EF4-FFF2-40B4-BE49-F238E27FC236}">
                <a16:creationId id="{6B278E18-FF34-4DC7-978E-41F83AC1AE0E}"/>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B3が研究に参加する入口</a:t>
            </a:r>
          </a:p>
        </p:txBody>
      </p:sp>
      <p:sp>
        <p:nvSpPr>
          <p:cNvPr id="3" name="小さな担当を持ち、先輩の研究の一部を理解する">
            <a:extLst>
              <a:ext uri="{FF2B5EF4-FFF2-40B4-BE49-F238E27FC236}">
                <a16:creationId id="{DF9E7428-07E1-4B27-AE31-06FC42354346}"/>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小さな担当を持ち、先輩の研究の一部を理解する</a:t>
            </a:r>
          </a:p>
        </p:txBody>
      </p:sp>
      <p:sp>
        <p:nvSpPr>
          <p:cNvPr id="4" name="研究例は2026年9月16日の在研プロジェクト資料に基づく">
            <a:extLst>
              <a:ext uri="{FF2B5EF4-FFF2-40B4-BE49-F238E27FC236}">
                <a16:creationId id="{C2376C23-1B3C-4A9A-B83C-CCA36D2D6E06}"/>
              </a:ext>
            </a:extLst>
          </p:cNvPr>
          <p:cNvSpPr>
            <a:spLocks noGrp="1"/>
          </p:cNvSpPr>
          <p:nvPr/>
        </p:nvSpPr>
        <p:spPr>
          <a:xfrm>
            <a:off x="609600" y="6400800"/>
            <a:ext cx="10334625" cy="257175"/>
          </a:xfrm>
          <a:prstGeom prst="rect">
            <a:avLst/>
          </a:prstGeom>
          <a:noFill/>
          <a:ln w="0">
            <a:noFill/>
          </a:ln>
        </p:spPr>
        <p:txBody>
          <a:bodyPr wrap="square" lIns="0" tIns="0" rIns="0" bIns="0" anchor="t">
            <a:noAutofit/>
          </a:bodyPr>
          <a:lstStyle/>
          <a:p>
            <a:pPr algn="l">
              <a:lnSpc>
                <a:spcPct val="118000"/>
              </a:lnSpc>
              <a:buNone/>
              <a:defRPr sz="1125" b="0">
                <a:solidFill>
                  <a:srgbClr val="5C6B6B"/>
                </a:solidFill>
                <a:latin typeface="Noto Sans CJK JP"/>
                <a:ea typeface="Noto Sans CJK JP"/>
                <a:cs typeface="Noto Sans CJK JP"/>
              </a:defRPr>
            </a:pPr>
            <a:r>
              <a:rPr sz="1125" b="0">
                <a:solidFill>
                  <a:srgbClr val="5C6B6B"/>
                </a:solidFill>
                <a:latin typeface="Noto Sans CJK JP"/>
                <a:ea typeface="Noto Sans CJK JP"/>
                <a:cs typeface="Noto Sans CJK JP"/>
              </a:rPr>
              <a:t>研究例は2026年9月16日の在研プロジェクト資料に基づく</a:t>
            </a:r>
          </a:p>
        </p:txBody>
      </p:sp>
      <p:sp>
        <p:nvSpPr>
          <p:cNvPr id="5" name="10">
            <a:extLst>
              <a:ext uri="{FF2B5EF4-FFF2-40B4-BE49-F238E27FC236}">
                <a16:creationId id="{0586696E-8968-4066-861F-58036295E229}"/>
              </a:ext>
            </a:extLst>
          </p:cNvPr>
          <p:cNvSpPr>
            <a:spLocks noGrp="1"/>
          </p:cNvSpPr>
          <p:nvPr/>
        </p:nvSpPr>
        <p:spPr>
          <a:xfrm>
            <a:off x="11049000" y="6362700"/>
            <a:ext cx="523875" cy="285750"/>
          </a:xfrm>
          <a:prstGeom prst="rect">
            <a:avLst/>
          </a:prstGeom>
          <a:noFill/>
          <a:ln w="0">
            <a:noFill/>
          </a:ln>
        </p:spPr>
        <p:txBody>
          <a:bodyPr wrap="square" lIns="0" tIns="0" rIns="0" bIns="0" anchor="t">
            <a:noAutofit/>
          </a:bodyPr>
          <a:lstStyle/>
          <a:p>
            <a:pPr algn="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10</a:t>
            </a:r>
          </a:p>
        </p:txBody>
      </p:sp>
      <p:sp>
        <p:nvSpPr>
          <p:cNvPr id="6" name="研究例 1">
            <a:extLst>
              <a:ext uri="{FF2B5EF4-FFF2-40B4-BE49-F238E27FC236}">
                <a16:creationId id="{FD3288A1-396B-461B-8B47-52C1A9A81BAF}"/>
              </a:ext>
            </a:extLst>
          </p:cNvPr>
          <p:cNvSpPr>
            <a:spLocks noGrp="1"/>
          </p:cNvSpPr>
          <p:nvPr/>
        </p:nvSpPr>
        <p:spPr>
          <a:xfrm>
            <a:off x="609600" y="2047875"/>
            <a:ext cx="1428750" cy="381000"/>
          </a:xfrm>
          <a:prstGeom prst="rect">
            <a:avLst/>
          </a:prstGeom>
          <a:noFill/>
          <a:ln w="0">
            <a:noFill/>
          </a:ln>
        </p:spPr>
        <p:txBody>
          <a:bodyPr wrap="square" lIns="0" tIns="0" rIns="0" bIns="0" anchor="t">
            <a:noAutofit/>
          </a:bodyPr>
          <a:lstStyle/>
          <a:p>
            <a:pPr algn="l">
              <a:lnSpc>
                <a:spcPct val="118000"/>
              </a:lnSpc>
              <a:buNone/>
              <a:defRPr sz="1725" b="1">
                <a:solidFill>
                  <a:srgbClr val="C9633D"/>
                </a:solidFill>
                <a:latin typeface="Noto Sans CJK JP"/>
                <a:ea typeface="Noto Sans CJK JP"/>
                <a:cs typeface="Noto Sans CJK JP"/>
              </a:defRPr>
            </a:pPr>
            <a:r>
              <a:rPr sz="1725" b="1">
                <a:solidFill>
                  <a:srgbClr val="C9633D"/>
                </a:solidFill>
                <a:latin typeface="Noto Sans CJK JP"/>
                <a:ea typeface="Noto Sans CJK JP"/>
                <a:cs typeface="Noto Sans CJK JP"/>
              </a:rPr>
              <a:t>研究例 1</a:t>
            </a:r>
          </a:p>
        </p:txBody>
      </p:sp>
      <p:sp>
        <p:nvSpPr>
          <p:cNvPr id="7" name="人の動きをロボットへ対応付ける">
            <a:extLst>
              <a:ext uri="{FF2B5EF4-FFF2-40B4-BE49-F238E27FC236}">
                <a16:creationId id="{835503EB-5F4D-4C45-9C59-565DF0C9CC91}"/>
              </a:ext>
            </a:extLst>
          </p:cNvPr>
          <p:cNvSpPr>
            <a:spLocks noGrp="1"/>
          </p:cNvSpPr>
          <p:nvPr/>
        </p:nvSpPr>
        <p:spPr>
          <a:xfrm>
            <a:off x="2343150" y="2047875"/>
            <a:ext cx="9239250" cy="447675"/>
          </a:xfrm>
          <a:prstGeom prst="rect">
            <a:avLst/>
          </a:prstGeom>
          <a:noFill/>
          <a:ln w="0">
            <a:noFill/>
          </a:ln>
        </p:spPr>
        <p:txBody>
          <a:bodyPr wrap="square" lIns="0" tIns="0" rIns="0" bIns="0" anchor="t">
            <a:noAutofit/>
          </a:bodyPr>
          <a:lstStyle/>
          <a:p>
            <a:pPr algn="l">
              <a:lnSpc>
                <a:spcPct val="118000"/>
              </a:lnSpc>
              <a:buNone/>
              <a:defRPr sz="2400" b="1">
                <a:solidFill>
                  <a:srgbClr val="17323B"/>
                </a:solidFill>
                <a:latin typeface="Noto Sans CJK JP"/>
                <a:ea typeface="Noto Sans CJK JP"/>
                <a:cs typeface="Noto Sans CJK JP"/>
              </a:defRPr>
            </a:pPr>
            <a:r>
              <a:rPr sz="2400" b="1">
                <a:solidFill>
                  <a:srgbClr val="17323B"/>
                </a:solidFill>
                <a:latin typeface="Noto Sans CJK JP"/>
                <a:ea typeface="Noto Sans CJK JP"/>
                <a:cs typeface="Noto Sans CJK JP"/>
              </a:rPr>
              <a:t>人の動きをロボットへ対応付ける</a:t>
            </a:r>
          </a:p>
        </p:txBody>
      </p:sp>
      <p:sp>
        <p:nvSpPr>
          <p:cNvPr id="8" name="人体とロボットで、形や関節の数が違う。">
            <a:extLst>
              <a:ext uri="{FF2B5EF4-FFF2-40B4-BE49-F238E27FC236}">
                <a16:creationId id="{38DE53B3-E160-4A94-B473-D474F7DC2FCC}"/>
              </a:ext>
            </a:extLst>
          </p:cNvPr>
          <p:cNvSpPr>
            <a:spLocks noGrp="1"/>
          </p:cNvSpPr>
          <p:nvPr/>
        </p:nvSpPr>
        <p:spPr>
          <a:xfrm>
            <a:off x="2343150" y="2590800"/>
            <a:ext cx="9239250" cy="4000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人体とロボットで、形や関節の数が違う。</a:t>
            </a:r>
          </a:p>
        </p:txBody>
      </p:sp>
      <p:sp>
        <p:nvSpPr>
          <p:cNvPr id="9" name="B3の作業例：軌道を再現し、位置誤差や急な動きを調べる。">
            <a:extLst>
              <a:ext uri="{FF2B5EF4-FFF2-40B4-BE49-F238E27FC236}">
                <a16:creationId id="{B774DA57-F3E0-4D58-9EC3-354152F138C5}"/>
              </a:ext>
            </a:extLst>
          </p:cNvPr>
          <p:cNvSpPr>
            <a:spLocks noGrp="1"/>
          </p:cNvSpPr>
          <p:nvPr/>
        </p:nvSpPr>
        <p:spPr>
          <a:xfrm>
            <a:off x="2343150" y="3105150"/>
            <a:ext cx="9239250" cy="590550"/>
          </a:xfrm>
          <a:prstGeom prst="rect">
            <a:avLst/>
          </a:prstGeom>
          <a:noFill/>
          <a:ln w="0">
            <a:noFill/>
          </a:ln>
        </p:spPr>
        <p:txBody>
          <a:bodyPr wrap="square" lIns="0" tIns="0" rIns="0" bIns="0" anchor="t">
            <a:noAutofit/>
          </a:bodyPr>
          <a:lstStyle/>
          <a:p>
            <a:pPr algn="l">
              <a:lnSpc>
                <a:spcPct val="118000"/>
              </a:lnSpc>
              <a:buNone/>
              <a:defRPr sz="1800" b="0">
                <a:solidFill>
                  <a:srgbClr val="247C7A"/>
                </a:solidFill>
                <a:latin typeface="Noto Sans CJK JP"/>
                <a:ea typeface="Noto Sans CJK JP"/>
                <a:cs typeface="Noto Sans CJK JP"/>
              </a:defRPr>
            </a:pPr>
            <a:r>
              <a:rPr sz="1800" b="0">
                <a:solidFill>
                  <a:srgbClr val="247C7A"/>
                </a:solidFill>
                <a:latin typeface="Noto Sans CJK JP"/>
                <a:ea typeface="Noto Sans CJK JP"/>
                <a:cs typeface="Noto Sans CJK JP"/>
              </a:rPr>
              <a:t>B3の作業例：軌道を再現し、位置誤差や急な動きを調べる。</a:t>
            </a:r>
          </a:p>
        </p:txBody>
      </p:sp>
      <p:sp>
        <p:nvSpPr>
          <p:cNvPr id="10" name="研究例 2">
            <a:extLst>
              <a:ext uri="{FF2B5EF4-FFF2-40B4-BE49-F238E27FC236}">
                <a16:creationId id="{558F91AC-50E4-4C09-92F4-E9FD36626FA3}"/>
              </a:ext>
            </a:extLst>
          </p:cNvPr>
          <p:cNvSpPr>
            <a:spLocks noGrp="1"/>
          </p:cNvSpPr>
          <p:nvPr/>
        </p:nvSpPr>
        <p:spPr>
          <a:xfrm>
            <a:off x="609600" y="4010025"/>
            <a:ext cx="1428750" cy="381000"/>
          </a:xfrm>
          <a:prstGeom prst="rect">
            <a:avLst/>
          </a:prstGeom>
          <a:noFill/>
          <a:ln w="0">
            <a:noFill/>
          </a:ln>
        </p:spPr>
        <p:txBody>
          <a:bodyPr wrap="square" lIns="0" tIns="0" rIns="0" bIns="0" anchor="t">
            <a:noAutofit/>
          </a:bodyPr>
          <a:lstStyle/>
          <a:p>
            <a:pPr algn="l">
              <a:lnSpc>
                <a:spcPct val="118000"/>
              </a:lnSpc>
              <a:buNone/>
              <a:defRPr sz="1725" b="1">
                <a:solidFill>
                  <a:srgbClr val="C9633D"/>
                </a:solidFill>
                <a:latin typeface="Noto Sans CJK JP"/>
                <a:ea typeface="Noto Sans CJK JP"/>
                <a:cs typeface="Noto Sans CJK JP"/>
              </a:defRPr>
            </a:pPr>
            <a:r>
              <a:rPr sz="1725" b="1">
                <a:solidFill>
                  <a:srgbClr val="C9633D"/>
                </a:solidFill>
                <a:latin typeface="Noto Sans CJK JP"/>
                <a:ea typeface="Noto Sans CJK JP"/>
                <a:cs typeface="Noto Sans CJK JP"/>
              </a:rPr>
              <a:t>研究例 2</a:t>
            </a:r>
          </a:p>
        </p:txBody>
      </p:sp>
      <p:sp>
        <p:nvSpPr>
          <p:cNvPr id="11" name="外骨格の接続と動きやすさを調べる">
            <a:extLst>
              <a:ext uri="{FF2B5EF4-FFF2-40B4-BE49-F238E27FC236}">
                <a16:creationId id="{95A42AB0-3E29-4C88-81ED-1D8F119C718D}"/>
              </a:ext>
            </a:extLst>
          </p:cNvPr>
          <p:cNvSpPr>
            <a:spLocks noGrp="1"/>
          </p:cNvSpPr>
          <p:nvPr/>
        </p:nvSpPr>
        <p:spPr>
          <a:xfrm>
            <a:off x="2343150" y="4010025"/>
            <a:ext cx="9239250" cy="447675"/>
          </a:xfrm>
          <a:prstGeom prst="rect">
            <a:avLst/>
          </a:prstGeom>
          <a:noFill/>
          <a:ln w="0">
            <a:noFill/>
          </a:ln>
        </p:spPr>
        <p:txBody>
          <a:bodyPr wrap="square" lIns="0" tIns="0" rIns="0" bIns="0" anchor="t">
            <a:noAutofit/>
          </a:bodyPr>
          <a:lstStyle/>
          <a:p>
            <a:pPr algn="l">
              <a:lnSpc>
                <a:spcPct val="118000"/>
              </a:lnSpc>
              <a:buNone/>
              <a:defRPr sz="2400" b="1">
                <a:solidFill>
                  <a:srgbClr val="17323B"/>
                </a:solidFill>
                <a:latin typeface="Noto Sans CJK JP"/>
                <a:ea typeface="Noto Sans CJK JP"/>
                <a:cs typeface="Noto Sans CJK JP"/>
              </a:defRPr>
            </a:pPr>
            <a:r>
              <a:rPr sz="2400" b="1">
                <a:solidFill>
                  <a:srgbClr val="17323B"/>
                </a:solidFill>
                <a:latin typeface="Noto Sans CJK JP"/>
                <a:ea typeface="Noto Sans CJK JP"/>
                <a:cs typeface="Noto Sans CJK JP"/>
              </a:rPr>
              <a:t>外骨格の接続と動きやすさを調べる</a:t>
            </a:r>
          </a:p>
        </p:txBody>
      </p:sp>
      <p:sp>
        <p:nvSpPr>
          <p:cNvPr id="12" name="人と装置の軸のずれで、力の伝わり方が変わる。">
            <a:extLst>
              <a:ext uri="{FF2B5EF4-FFF2-40B4-BE49-F238E27FC236}">
                <a16:creationId id="{C94A29DE-95BB-47C4-B05B-8C2B7972FDEA}"/>
              </a:ext>
            </a:extLst>
          </p:cNvPr>
          <p:cNvSpPr>
            <a:spLocks noGrp="1"/>
          </p:cNvSpPr>
          <p:nvPr/>
        </p:nvSpPr>
        <p:spPr>
          <a:xfrm>
            <a:off x="2343150" y="4552950"/>
            <a:ext cx="9239250" cy="4000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人と装置の軸のずれで、力の伝わり方が変わる。</a:t>
            </a:r>
          </a:p>
        </p:txBody>
      </p:sp>
      <p:sp>
        <p:nvSpPr>
          <p:cNvPr id="13" name="B3の作業例：仮想モデルの条件を変え、結果を整理する。">
            <a:extLst>
              <a:ext uri="{FF2B5EF4-FFF2-40B4-BE49-F238E27FC236}">
                <a16:creationId id="{EBF8003A-3337-4A00-90B2-D2F93C71589B}"/>
              </a:ext>
            </a:extLst>
          </p:cNvPr>
          <p:cNvSpPr>
            <a:spLocks noGrp="1"/>
          </p:cNvSpPr>
          <p:nvPr/>
        </p:nvSpPr>
        <p:spPr>
          <a:xfrm>
            <a:off x="2343150" y="5067300"/>
            <a:ext cx="9239250" cy="590550"/>
          </a:xfrm>
          <a:prstGeom prst="rect">
            <a:avLst/>
          </a:prstGeom>
          <a:noFill/>
          <a:ln w="0">
            <a:noFill/>
          </a:ln>
        </p:spPr>
        <p:txBody>
          <a:bodyPr wrap="square" lIns="0" tIns="0" rIns="0" bIns="0" anchor="t">
            <a:noAutofit/>
          </a:bodyPr>
          <a:lstStyle/>
          <a:p>
            <a:pPr algn="l">
              <a:lnSpc>
                <a:spcPct val="118000"/>
              </a:lnSpc>
              <a:buNone/>
              <a:defRPr sz="1800" b="0">
                <a:solidFill>
                  <a:srgbClr val="247C7A"/>
                </a:solidFill>
                <a:latin typeface="Noto Sans CJK JP"/>
                <a:ea typeface="Noto Sans CJK JP"/>
                <a:cs typeface="Noto Sans CJK JP"/>
              </a:defRPr>
            </a:pPr>
            <a:r>
              <a:rPr sz="1800" b="0">
                <a:solidFill>
                  <a:srgbClr val="247C7A"/>
                </a:solidFill>
                <a:latin typeface="Noto Sans CJK JP"/>
                <a:ea typeface="Noto Sans CJK JP"/>
                <a:cs typeface="Noto Sans CJK JP"/>
              </a:rPr>
              <a:t>B3の作業例：仮想モデルの条件を変え、結果を整理する。</a:t>
            </a:r>
          </a:p>
        </p:txBody>
      </p:sp>
      <p:sp>
        <p:nvSpPr>
          <p:cNvPr id="14" name="">
            <a:extLst>
              <a:ext uri="{FF2B5EF4-FFF2-40B4-BE49-F238E27FC236}">
                <a16:creationId id="{25071C7E-5373-4C4C-AB25-694268FEED5F}"/>
              </a:ext>
            </a:extLst>
          </p:cNvPr>
          <p:cNvSpPr>
            <a:spLocks noGrp="1"/>
          </p:cNvSpPr>
          <p:nvPr/>
        </p:nvSpPr>
        <p:spPr>
          <a:xfrm>
            <a:off x="609600" y="3810000"/>
            <a:ext cx="10972800" cy="9525"/>
          </a:xfrm>
          <a:prstGeom prst="rect">
            <a:avLst/>
          </a:prstGeom>
          <a:solidFill>
            <a:srgbClr val="C8D4D0"/>
          </a:solidFill>
          <a:ln w="0">
            <a:noFill/>
          </a:ln>
        </p:spPr>
      </p:sp>
      <p:sp>
        <p:nvSpPr>
          <p:cNvPr id="15" name="第9–12回の具体的な担当は、プロジェクトと準備状況に合わせ"/>
          <p:cNvSpPr/>
          <p:nvPr/>
        </p:nvSpPr>
        <p:spPr>
          <a:xfrm>
            <a:off x="609600" y="5972175"/>
            <a:ext cx="10972800" cy="352425"/>
          </a:xfrm>
          <a:prstGeom prst="rect">
            <a:avLst/>
          </a:prstGeom>
          <a:noFill/>
          <a:ln>
            <a:noFill/>
          </a:ln>
        </p:spPr>
        <p:txBody>
          <a:bodyPr wrap="none" lIns="0" tIns="0" rIns="0" bIns="0" anchor="t" anchorCtr="0">
            <a:noAutofit/>
          </a:bodyPr>
          <a:lstStyle/>
          <a:p>
            <a:pPr algn="l"/>
            <a:r>
              <a:rPr lang="ja-JP" sz="1800" dirty="0">
                <a:solidFill>
                  <a:srgbClr val="5C6B6B"/>
                </a:solidFill>
                <a:latin typeface="Noto Sans CJK JP"/>
                <a:ea typeface="Noto Sans CJK JP"/>
                <a:cs typeface="Noto Sans CJK JP"/>
              </a:rPr>
              <a:t>研究への参加方法は、各自の関心と準備状況に合わせて相談する。</a:t>
            </a:r>
          </a:p>
        </p:txBody>
      </p:sp>
    </p:spTree>
    <p:extLst>
      <p:ext uri="{BB962C8B-B14F-4D97-AF65-F5344CB8AC3E}">
        <p14:creationId val="618285562"/>
      </p:ext>
    </p:extLst>
  </p:cSld>
</p:sld>
</file>

<file path=ppt/slides/slide11.xml><?xml version="1.0" encoding="utf-8"?>
<p:sld xmlns:a="http://schemas.openxmlformats.org/drawingml/2006/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2" name="TextBox 2"/>
          <p:cNvSpPr txBox="1"/>
          <p:nvPr/>
        </p:nvSpPr>
        <p:spPr>
          <a:xfrm>
            <a:off x="603504" y="289560"/>
            <a:ext cx="819912" cy="234696"/>
          </a:xfrm>
          <a:prstGeom prst="rect">
            <a:avLst/>
          </a:prstGeom>
          <a:noFill/>
          <a:ln>
            <a:noFill/>
          </a:ln>
        </p:spPr>
        <p:txBody>
          <a:bodyPr wrap="none" lIns="0" tIns="0" rIns="0" bIns="0" anchor="t" anchorCtr="0">
            <a:spAutoFit/>
          </a:bodyPr>
          <a:lstStyle/>
          <a:p>
            <a:pPr algn="l"/>
            <a:r>
              <a:rPr lang="ja-JP" sz="1200" b="1" dirty="0">
                <a:solidFill>
                  <a:srgbClr val="247C7A"/>
                </a:solidFill>
                <a:latin typeface="Noto Sans CJK JP"/>
                <a:ea typeface="Noto Sans CJK JP"/>
                <a:cs typeface="Noto Sans CJK JP"/>
              </a:rPr>
              <a:t>進路と研究</a:t>
            </a:r>
          </a:p>
        </p:txBody>
      </p:sp>
      <p:sp>
        <p:nvSpPr>
          <p:cNvPr id="3" name="TextBox 3"/>
          <p:cNvSpPr txBox="1"/>
          <p:nvPr/>
        </p:nvSpPr>
        <p:spPr>
          <a:xfrm>
            <a:off x="593217" y="775811"/>
            <a:ext cx="4367530" cy="630746"/>
          </a:xfrm>
          <a:prstGeom prst="rect">
            <a:avLst/>
          </a:prstGeom>
          <a:noFill/>
          <a:ln>
            <a:noFill/>
          </a:ln>
        </p:spPr>
        <p:txBody>
          <a:bodyPr wrap="none" lIns="0" tIns="0" rIns="0" bIns="0" anchor="t" anchorCtr="0">
            <a:spAutoFit/>
          </a:bodyPr>
          <a:lstStyle/>
          <a:p>
            <a:pPr algn="l"/>
            <a:r>
              <a:rPr lang="ja-JP" sz="3220" b="1" dirty="0">
                <a:solidFill>
                  <a:srgbClr val="17323B"/>
                </a:solidFill>
                <a:latin typeface="Noto Sans CJK JP"/>
                <a:ea typeface="Noto Sans CJK JP"/>
                <a:cs typeface="Noto Sans CJK JP"/>
              </a:rPr>
              <a:t>大学院進学とキャリア</a:t>
            </a:r>
          </a:p>
        </p:txBody>
      </p:sp>
      <p:sp>
        <p:nvSpPr>
          <p:cNvPr id="4" name="TextBox 4"/>
          <p:cNvSpPr txBox="1"/>
          <p:nvPr/>
        </p:nvSpPr>
        <p:spPr>
          <a:xfrm>
            <a:off x="600456" y="1367790"/>
            <a:ext cx="4137660" cy="352044"/>
          </a:xfrm>
          <a:prstGeom prst="rect">
            <a:avLst/>
          </a:prstGeom>
          <a:noFill/>
          <a:ln>
            <a:noFill/>
          </a:ln>
        </p:spPr>
        <p:txBody>
          <a:bodyPr wrap="none" lIns="0" tIns="0" rIns="0" bIns="0" anchor="t" anchorCtr="0">
            <a:spAutoFit/>
          </a:bodyPr>
          <a:lstStyle/>
          <a:p>
            <a:pPr algn="l"/>
            <a:r>
              <a:rPr lang="ja-JP" sz="1800" dirty="0">
                <a:solidFill>
                  <a:srgbClr val="5C6B6B"/>
                </a:solidFill>
                <a:latin typeface="Noto Sans CJK JP"/>
                <a:ea typeface="Noto Sans CJK JP"/>
                <a:cs typeface="Noto Sans CJK JP"/>
              </a:rPr>
              <a:t>専門性と研究経験を、将来の選択肢に</a:t>
            </a:r>
          </a:p>
        </p:txBody>
      </p:sp>
      <p:sp>
        <p:nvSpPr>
          <p:cNvPr id="5" name="TextBox 5"/>
          <p:cNvSpPr txBox="1"/>
          <p:nvPr/>
        </p:nvSpPr>
        <p:spPr>
          <a:xfrm>
            <a:off x="11366106" y="6378892"/>
            <a:ext cx="213627" cy="264033"/>
          </a:xfrm>
          <a:prstGeom prst="rect">
            <a:avLst/>
          </a:prstGeom>
          <a:noFill/>
          <a:ln>
            <a:noFill/>
          </a:ln>
        </p:spPr>
        <p:txBody>
          <a:bodyPr wrap="none" lIns="0" tIns="0" rIns="0" bIns="0" anchor="t" anchorCtr="0">
            <a:spAutoFit/>
          </a:bodyPr>
          <a:lstStyle/>
          <a:p>
            <a:pPr algn="r"/>
            <a:r>
              <a:rPr lang="ja-JP" sz="1350" dirty="0">
                <a:solidFill>
                  <a:srgbClr val="5C6B6B"/>
                </a:solidFill>
                <a:latin typeface="Noto Sans CJK JP"/>
                <a:ea typeface="Noto Sans CJK JP"/>
                <a:cs typeface="Noto Sans CJK JP"/>
              </a:rPr>
              <a:t>11</a:t>
            </a:r>
          </a:p>
        </p:txBody>
      </p:sp>
      <p:sp>
        <p:nvSpPr>
          <p:cNvPr id="6" name="TextBox 6"/>
          <p:cNvSpPr txBox="1"/>
          <p:nvPr/>
        </p:nvSpPr>
        <p:spPr>
          <a:xfrm>
            <a:off x="752094" y="2313622"/>
            <a:ext cx="2776156" cy="381381"/>
          </a:xfrm>
          <a:prstGeom prst="rect">
            <a:avLst/>
          </a:prstGeom>
          <a:noFill/>
          <a:ln>
            <a:noFill/>
          </a:ln>
        </p:spPr>
        <p:txBody>
          <a:bodyPr wrap="none" lIns="0" tIns="0" rIns="0" bIns="0" anchor="t" anchorCtr="0">
            <a:spAutoFit/>
          </a:bodyPr>
          <a:lstStyle/>
          <a:p>
            <a:pPr algn="l"/>
            <a:r>
              <a:rPr lang="ja-JP" sz="1950" dirty="0">
                <a:solidFill>
                  <a:srgbClr val="17323B"/>
                </a:solidFill>
                <a:latin typeface="Noto Sans CJK JP"/>
                <a:ea typeface="Noto Sans CJK JP"/>
                <a:cs typeface="Noto Sans CJK JP"/>
              </a:rPr>
              <a:t>福工大大学院 2025年度</a:t>
            </a:r>
          </a:p>
        </p:txBody>
      </p:sp>
      <p:sp>
        <p:nvSpPr>
          <p:cNvPr id="7" name="TextBox 7"/>
          <p:cNvSpPr txBox="1"/>
          <p:nvPr/>
        </p:nvSpPr>
        <p:spPr>
          <a:xfrm>
            <a:off x="742950" y="3048000"/>
            <a:ext cx="3650123" cy="1447800"/>
          </a:xfrm>
          <a:prstGeom prst="rect">
            <a:avLst/>
          </a:prstGeom>
          <a:noFill/>
          <a:ln>
            <a:noFill/>
          </a:ln>
        </p:spPr>
        <p:txBody>
          <a:bodyPr wrap="none" lIns="0" tIns="0" rIns="0" bIns="0" anchor="t" anchorCtr="0">
            <a:spAutoFit/>
          </a:bodyPr>
          <a:lstStyle/>
          <a:p>
            <a:pPr algn="l"/>
            <a:r>
              <a:rPr lang="ja-JP" sz="7500" b="1" dirty="0">
                <a:solidFill>
                  <a:srgbClr val="247C7A"/>
                </a:solidFill>
                <a:latin typeface="Noto Sans CJK JP"/>
                <a:ea typeface="Noto Sans CJK JP"/>
                <a:cs typeface="Noto Sans CJK JP"/>
              </a:rPr>
              <a:t>9割以上</a:t>
            </a:r>
          </a:p>
        </p:txBody>
      </p:sp>
      <p:sp>
        <p:nvSpPr>
          <p:cNvPr id="8" name="TextBox 8"/>
          <p:cNvSpPr txBox="1"/>
          <p:nvPr/>
        </p:nvSpPr>
        <p:spPr>
          <a:xfrm>
            <a:off x="752475" y="4198144"/>
            <a:ext cx="2802992" cy="366712"/>
          </a:xfrm>
          <a:prstGeom prst="rect">
            <a:avLst/>
          </a:prstGeom>
          <a:noFill/>
          <a:ln>
            <a:noFill/>
          </a:ln>
        </p:spPr>
        <p:txBody>
          <a:bodyPr wrap="none" lIns="0" tIns="0" rIns="0" bIns="0" anchor="t" anchorCtr="0">
            <a:spAutoFit/>
          </a:bodyPr>
          <a:lstStyle/>
          <a:p>
            <a:pPr algn="l"/>
            <a:r>
              <a:rPr lang="ja-JP" sz="1880" dirty="0">
                <a:solidFill>
                  <a:srgbClr val="17323B"/>
                </a:solidFill>
                <a:latin typeface="Noto Sans CJK JP"/>
                <a:ea typeface="Noto Sans CJK JP"/>
                <a:cs typeface="Noto Sans CJK JP"/>
              </a:rPr>
              <a:t>上場およびそれに準する</a:t>
            </a:r>
          </a:p>
        </p:txBody>
      </p:sp>
      <p:sp>
        <p:nvSpPr>
          <p:cNvPr id="9" name="TextBox 9"/>
          <p:cNvSpPr txBox="1"/>
          <p:nvPr/>
        </p:nvSpPr>
        <p:spPr>
          <a:xfrm>
            <a:off x="752475" y="4560094"/>
            <a:ext cx="2802992" cy="366712"/>
          </a:xfrm>
          <a:prstGeom prst="rect">
            <a:avLst/>
          </a:prstGeom>
          <a:noFill/>
          <a:ln>
            <a:noFill/>
          </a:ln>
        </p:spPr>
        <p:txBody>
          <a:bodyPr wrap="none" lIns="0" tIns="0" rIns="0" bIns="0" anchor="t" anchorCtr="0">
            <a:spAutoFit/>
          </a:bodyPr>
          <a:lstStyle/>
          <a:p>
            <a:pPr algn="l"/>
            <a:r>
              <a:rPr lang="ja-JP" sz="1880" dirty="0">
                <a:solidFill>
                  <a:srgbClr val="17323B"/>
                </a:solidFill>
                <a:latin typeface="Noto Sans CJK JP"/>
                <a:ea typeface="Noto Sans CJK JP"/>
                <a:cs typeface="Noto Sans CJK JP"/>
              </a:rPr>
              <a:t>大手・中堅企業への就職</a:t>
            </a:r>
          </a:p>
        </p:txBody>
      </p:sp>
      <p:sp>
        <p:nvSpPr>
          <p:cNvPr id="10" name="Line 10"/>
          <p:cNvSpPr/>
          <p:nvPr/>
        </p:nvSpPr>
        <p:spPr>
          <a:xfrm>
            <a:off x="6238875" y="2286000"/>
            <a:ext cx="9525" cy="2628900"/>
          </a:xfrm>
          <a:custGeom>
            <a:avLst/>
            <a:gdLst/>
            <a:ahLst/>
            <a:cxnLst/>
            <a:rect l="l" t="t" r="r" b="b"/>
            <a:pathLst>
              <a:path w="9525" h="2628900">
                <a:moveTo>
                  <a:pt x="0" y="0"/>
                </a:moveTo>
                <a:lnTo>
                  <a:pt x="0" y="2628900"/>
                </a:lnTo>
              </a:path>
            </a:pathLst>
          </a:custGeom>
          <a:noFill/>
          <a:ln w="9525">
            <a:solidFill>
              <a:srgbClr val="C8D4D0"/>
            </a:solidFill>
          </a:ln>
        </p:spPr>
      </p:sp>
      <p:sp>
        <p:nvSpPr>
          <p:cNvPr id="11" name="TextBox 11"/>
          <p:cNvSpPr txBox="1"/>
          <p:nvPr/>
        </p:nvSpPr>
        <p:spPr>
          <a:xfrm>
            <a:off x="6750558" y="2779395"/>
            <a:ext cx="2286000" cy="469392"/>
          </a:xfrm>
          <a:prstGeom prst="rect">
            <a:avLst/>
          </a:prstGeom>
          <a:noFill/>
          <a:ln>
            <a:noFill/>
          </a:ln>
        </p:spPr>
        <p:txBody>
          <a:bodyPr wrap="none" lIns="0" tIns="0" rIns="0" bIns="0" anchor="t" anchorCtr="0">
            <a:spAutoFit/>
          </a:bodyPr>
          <a:lstStyle/>
          <a:p>
            <a:pPr algn="l"/>
            <a:r>
              <a:rPr lang="ja-JP" sz="2400" b="1" dirty="0">
                <a:solidFill>
                  <a:srgbClr val="17323B"/>
                </a:solidFill>
                <a:latin typeface="Noto Sans CJK JP"/>
                <a:ea typeface="Noto Sans CJK JP"/>
                <a:cs typeface="Noto Sans CJK JP"/>
              </a:rPr>
              <a:t>専門性を深める</a:t>
            </a:r>
          </a:p>
        </p:txBody>
      </p:sp>
      <p:sp>
        <p:nvSpPr>
          <p:cNvPr id="12" name="TextBox 12"/>
          <p:cNvSpPr txBox="1"/>
          <p:nvPr/>
        </p:nvSpPr>
        <p:spPr>
          <a:xfrm>
            <a:off x="6750558" y="3722370"/>
            <a:ext cx="2609088" cy="469392"/>
          </a:xfrm>
          <a:prstGeom prst="rect">
            <a:avLst/>
          </a:prstGeom>
          <a:noFill/>
          <a:ln>
            <a:noFill/>
          </a:ln>
        </p:spPr>
        <p:txBody>
          <a:bodyPr wrap="none" lIns="0" tIns="0" rIns="0" bIns="0" anchor="t" anchorCtr="0">
            <a:spAutoFit/>
          </a:bodyPr>
          <a:lstStyle/>
          <a:p>
            <a:pPr algn="l"/>
            <a:r>
              <a:rPr lang="ja-JP" sz="2400" b="1" dirty="0">
                <a:solidFill>
                  <a:srgbClr val="17323B"/>
                </a:solidFill>
                <a:latin typeface="Noto Sans CJK JP"/>
                <a:ea typeface="Noto Sans CJK JP"/>
                <a:cs typeface="Noto Sans CJK JP"/>
              </a:rPr>
              <a:t>研究開発職を含む</a:t>
            </a:r>
          </a:p>
        </p:txBody>
      </p:sp>
      <p:sp>
        <p:nvSpPr>
          <p:cNvPr id="13" name="TextBox 13"/>
          <p:cNvSpPr txBox="1"/>
          <p:nvPr/>
        </p:nvSpPr>
        <p:spPr>
          <a:xfrm>
            <a:off x="6750558" y="4131945"/>
            <a:ext cx="1962912" cy="469392"/>
          </a:xfrm>
          <a:prstGeom prst="rect">
            <a:avLst/>
          </a:prstGeom>
          <a:noFill/>
          <a:ln>
            <a:noFill/>
          </a:ln>
        </p:spPr>
        <p:txBody>
          <a:bodyPr wrap="none" lIns="0" tIns="0" rIns="0" bIns="0" anchor="t" anchorCtr="0">
            <a:spAutoFit/>
          </a:bodyPr>
          <a:lstStyle/>
          <a:p>
            <a:pPr algn="l"/>
            <a:r>
              <a:rPr lang="ja-JP" sz="2400" b="1" dirty="0">
                <a:solidFill>
                  <a:srgbClr val="17323B"/>
                </a:solidFill>
                <a:latin typeface="Noto Sans CJK JP"/>
                <a:ea typeface="Noto Sans CJK JP"/>
                <a:cs typeface="Noto Sans CJK JP"/>
              </a:rPr>
              <a:t>進路を考える</a:t>
            </a:r>
          </a:p>
        </p:txBody>
      </p:sp>
      <p:sp>
        <p:nvSpPr>
          <p:cNvPr id="14" name="TextBox 14"/>
          <p:cNvSpPr txBox="1"/>
          <p:nvPr/>
        </p:nvSpPr>
        <p:spPr>
          <a:xfrm>
            <a:off x="749808" y="5560695"/>
            <a:ext cx="6486144" cy="469392"/>
          </a:xfrm>
          <a:prstGeom prst="rect">
            <a:avLst/>
          </a:prstGeom>
          <a:noFill/>
          <a:ln>
            <a:noFill/>
          </a:ln>
        </p:spPr>
        <p:txBody>
          <a:bodyPr wrap="none" lIns="0" tIns="0" rIns="0" bIns="0" anchor="t" anchorCtr="0">
            <a:spAutoFit/>
          </a:bodyPr>
          <a:lstStyle/>
          <a:p>
            <a:pPr algn="l"/>
            <a:r>
              <a:rPr lang="ja-JP" sz="2400" b="1" dirty="0">
                <a:solidFill>
                  <a:srgbClr val="247C7A"/>
                </a:solidFill>
                <a:latin typeface="Noto Sans CJK JP"/>
                <a:ea typeface="Noto Sans CJK JP"/>
                <a:cs typeface="Noto Sans CJK JP"/>
              </a:rPr>
              <a:t>どんな会社で、どんな開発に関わりたいか。</a:t>
            </a:r>
          </a:p>
        </p:txBody>
      </p:sp>
      <p:sp>
        <p:nvSpPr>
          <p:cNvPr id="15" name="TextBox 15"/>
          <p:cNvSpPr txBox="1"/>
          <p:nvPr/>
        </p:nvSpPr>
        <p:spPr>
          <a:xfrm>
            <a:off x="603504" y="6366510"/>
            <a:ext cx="5375453" cy="234696"/>
          </a:xfrm>
          <a:prstGeom prst="rect">
            <a:avLst/>
          </a:prstGeom>
          <a:noFill/>
          <a:ln>
            <a:noFill/>
          </a:ln>
        </p:spPr>
        <p:txBody>
          <a:bodyPr wrap="none" lIns="0" tIns="0" rIns="0" bIns="0" anchor="t" anchorCtr="0">
            <a:spAutoFit/>
          </a:bodyPr>
          <a:lstStyle/>
          <a:p>
            <a:pPr algn="l"/>
            <a:r>
              <a:rPr lang="ja-JP" sz="1200" dirty="0">
                <a:solidFill>
                  <a:srgbClr val="5C6B6B"/>
                </a:solidFill>
                <a:latin typeface="Noto Sans CJK JP"/>
                <a:ea typeface="Noto Sans CJK JP"/>
                <a:cs typeface="Noto Sans CJK JP"/>
              </a:rPr>
              <a:t>出典：福岡工業大学大学院「進路・就職状況」2025年度（全専攻の実績）</a:t>
            </a:r>
          </a:p>
        </p:txBody>
      </p:sp>
    </p:spTree>
    <p:extLst>
      <p:ext uri="{BB962C8B-B14F-4D97-AF65-F5344CB8AC3E}">
        <p14:creationId val="618285562"/>
      </p:ext>
    </p:extLst>
  </p:cSld>
</p:sld>
</file>

<file path=ppt/slides/slide12.xml><?xml version="1.0" encoding="utf-8"?>
<p:sld xmlns:a="http://schemas.openxmlformats.org/drawingml/2006/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2" name="TextBox 2"/>
          <p:cNvSpPr txBox="1"/>
          <p:nvPr/>
        </p:nvSpPr>
        <p:spPr>
          <a:xfrm>
            <a:off x="603504" y="289560"/>
            <a:ext cx="819912" cy="234696"/>
          </a:xfrm>
          <a:prstGeom prst="rect">
            <a:avLst/>
          </a:prstGeom>
          <a:noFill/>
          <a:ln>
            <a:noFill/>
          </a:ln>
        </p:spPr>
        <p:txBody>
          <a:bodyPr wrap="none" lIns="0" tIns="0" rIns="0" bIns="0" anchor="t" anchorCtr="0">
            <a:spAutoFit/>
          </a:bodyPr>
          <a:lstStyle/>
          <a:p>
            <a:pPr algn="l"/>
            <a:r>
              <a:rPr lang="ja-JP" sz="1200" b="1" dirty="0">
                <a:solidFill>
                  <a:srgbClr val="247C7A"/>
                </a:solidFill>
                <a:latin typeface="Noto Sans CJK JP"/>
                <a:ea typeface="Noto Sans CJK JP"/>
                <a:cs typeface="Noto Sans CJK JP"/>
              </a:rPr>
              <a:t>進路と研究</a:t>
            </a:r>
          </a:p>
        </p:txBody>
      </p:sp>
      <p:sp>
        <p:nvSpPr>
          <p:cNvPr id="3" name="TextBox 3"/>
          <p:cNvSpPr txBox="1"/>
          <p:nvPr/>
        </p:nvSpPr>
        <p:spPr>
          <a:xfrm>
            <a:off x="593217" y="775811"/>
            <a:ext cx="4776306" cy="630746"/>
          </a:xfrm>
          <a:prstGeom prst="rect">
            <a:avLst/>
          </a:prstGeom>
          <a:noFill/>
          <a:ln>
            <a:noFill/>
          </a:ln>
        </p:spPr>
        <p:txBody>
          <a:bodyPr wrap="none" lIns="0" tIns="0" rIns="0" bIns="0" anchor="t" anchorCtr="0">
            <a:spAutoFit/>
          </a:bodyPr>
          <a:lstStyle/>
          <a:p>
            <a:pPr algn="l"/>
            <a:r>
              <a:rPr lang="ja-JP" sz="3220" b="1" dirty="0">
                <a:solidFill>
                  <a:srgbClr val="17323B"/>
                </a:solidFill>
                <a:latin typeface="Noto Sans CJK JP"/>
                <a:ea typeface="Noto Sans CJK JP"/>
                <a:cs typeface="Noto Sans CJK JP"/>
              </a:rPr>
              <a:t>AIが変える技術者の仕事</a:t>
            </a:r>
          </a:p>
        </p:txBody>
      </p:sp>
      <p:sp>
        <p:nvSpPr>
          <p:cNvPr id="4" name="TextBox 4"/>
          <p:cNvSpPr txBox="1"/>
          <p:nvPr/>
        </p:nvSpPr>
        <p:spPr>
          <a:xfrm>
            <a:off x="600456" y="1367790"/>
            <a:ext cx="5349240" cy="352044"/>
          </a:xfrm>
          <a:prstGeom prst="rect">
            <a:avLst/>
          </a:prstGeom>
          <a:noFill/>
          <a:ln>
            <a:noFill/>
          </a:ln>
        </p:spPr>
        <p:txBody>
          <a:bodyPr wrap="none" lIns="0" tIns="0" rIns="0" bIns="0" anchor="t" anchorCtr="0">
            <a:spAutoFit/>
          </a:bodyPr>
          <a:lstStyle/>
          <a:p>
            <a:pPr algn="l"/>
            <a:r>
              <a:rPr lang="ja-JP" sz="1800" dirty="0">
                <a:solidFill>
                  <a:srgbClr val="5C6B6B"/>
                </a:solidFill>
                <a:latin typeface="Noto Sans CJK JP"/>
                <a:ea typeface="Noto Sans CJK JP"/>
                <a:cs typeface="Noto Sans CJK JP"/>
              </a:rPr>
              <a:t>日本企業でも、仕事の進め方が変わり始めている</a:t>
            </a:r>
          </a:p>
        </p:txBody>
      </p:sp>
      <p:sp>
        <p:nvSpPr>
          <p:cNvPr id="5" name="TextBox 5"/>
          <p:cNvSpPr txBox="1"/>
          <p:nvPr/>
        </p:nvSpPr>
        <p:spPr>
          <a:xfrm>
            <a:off x="11366106" y="6378892"/>
            <a:ext cx="213627" cy="264033"/>
          </a:xfrm>
          <a:prstGeom prst="rect">
            <a:avLst/>
          </a:prstGeom>
          <a:noFill/>
          <a:ln>
            <a:noFill/>
          </a:ln>
        </p:spPr>
        <p:txBody>
          <a:bodyPr wrap="none" lIns="0" tIns="0" rIns="0" bIns="0" anchor="t" anchorCtr="0">
            <a:spAutoFit/>
          </a:bodyPr>
          <a:lstStyle/>
          <a:p>
            <a:pPr algn="r"/>
            <a:r>
              <a:rPr lang="ja-JP" sz="1350" dirty="0">
                <a:solidFill>
                  <a:srgbClr val="5C6B6B"/>
                </a:solidFill>
                <a:latin typeface="Noto Sans CJK JP"/>
                <a:ea typeface="Noto Sans CJK JP"/>
                <a:cs typeface="Noto Sans CJK JP"/>
              </a:rPr>
              <a:t>12</a:t>
            </a:r>
          </a:p>
        </p:txBody>
      </p:sp>
      <p:sp>
        <p:nvSpPr>
          <p:cNvPr id="6" name="TextBox 6"/>
          <p:cNvSpPr txBox="1"/>
          <p:nvPr/>
        </p:nvSpPr>
        <p:spPr>
          <a:xfrm>
            <a:off x="598551" y="2184559"/>
            <a:ext cx="609041" cy="425386"/>
          </a:xfrm>
          <a:prstGeom prst="rect">
            <a:avLst/>
          </a:prstGeom>
          <a:noFill/>
          <a:ln>
            <a:noFill/>
          </a:ln>
        </p:spPr>
        <p:txBody>
          <a:bodyPr wrap="none" lIns="0" tIns="0" rIns="0" bIns="0" anchor="t" anchorCtr="0">
            <a:spAutoFit/>
          </a:bodyPr>
          <a:lstStyle/>
          <a:p>
            <a:pPr algn="l"/>
            <a:r>
              <a:rPr lang="ja-JP" sz="2180" b="1" dirty="0">
                <a:solidFill>
                  <a:srgbClr val="17323B"/>
                </a:solidFill>
                <a:latin typeface="Noto Sans CJK JP"/>
                <a:ea typeface="Noto Sans CJK JP"/>
                <a:cs typeface="Noto Sans CJK JP"/>
              </a:rPr>
              <a:t>日産</a:t>
            </a:r>
          </a:p>
        </p:txBody>
      </p:sp>
      <p:sp>
        <p:nvSpPr>
          <p:cNvPr id="7" name="TextBox 7"/>
          <p:cNvSpPr txBox="1"/>
          <p:nvPr/>
        </p:nvSpPr>
        <p:spPr>
          <a:xfrm>
            <a:off x="601980" y="2609850"/>
            <a:ext cx="792670" cy="293370"/>
          </a:xfrm>
          <a:prstGeom prst="rect">
            <a:avLst/>
          </a:prstGeom>
          <a:noFill/>
          <a:ln>
            <a:noFill/>
          </a:ln>
        </p:spPr>
        <p:txBody>
          <a:bodyPr wrap="none" lIns="0" tIns="0" rIns="0" bIns="0" anchor="t" anchorCtr="0">
            <a:spAutoFit/>
          </a:bodyPr>
          <a:lstStyle/>
          <a:p>
            <a:pPr algn="l"/>
            <a:r>
              <a:rPr lang="ja-JP" sz="1500" dirty="0">
                <a:solidFill>
                  <a:srgbClr val="5C6B6B"/>
                </a:solidFill>
                <a:latin typeface="Noto Sans CJK JP"/>
                <a:ea typeface="Noto Sans CJK JP"/>
                <a:cs typeface="Noto Sans CJK JP"/>
              </a:rPr>
              <a:t>2025.09</a:t>
            </a:r>
          </a:p>
        </p:txBody>
      </p:sp>
      <p:sp>
        <p:nvSpPr>
          <p:cNvPr id="8" name="TextBox 8"/>
          <p:cNvSpPr txBox="1"/>
          <p:nvPr/>
        </p:nvSpPr>
        <p:spPr>
          <a:xfrm>
            <a:off x="3247263" y="2200751"/>
            <a:ext cx="4071854" cy="396050"/>
          </a:xfrm>
          <a:prstGeom prst="rect">
            <a:avLst/>
          </a:prstGeom>
          <a:noFill/>
          <a:ln>
            <a:noFill/>
          </a:ln>
        </p:spPr>
        <p:txBody>
          <a:bodyPr wrap="none" lIns="0" tIns="0" rIns="0" bIns="0" anchor="t" anchorCtr="0">
            <a:spAutoFit/>
          </a:bodyPr>
          <a:lstStyle/>
          <a:p>
            <a:pPr algn="l"/>
            <a:r>
              <a:rPr lang="ja-JP" sz="2020" dirty="0">
                <a:solidFill>
                  <a:srgbClr val="17323B"/>
                </a:solidFill>
                <a:latin typeface="Noto Sans CJK JP"/>
                <a:ea typeface="Noto Sans CJK JP"/>
                <a:cs typeface="Noto Sans CJK JP"/>
              </a:rPr>
              <a:t>AIを使う運転支援の試作車を公開</a:t>
            </a:r>
          </a:p>
        </p:txBody>
      </p:sp>
      <p:sp>
        <p:nvSpPr>
          <p:cNvPr id="9" name="TextBox 9"/>
          <p:cNvSpPr txBox="1"/>
          <p:nvPr/>
        </p:nvSpPr>
        <p:spPr>
          <a:xfrm>
            <a:off x="3248406" y="2586990"/>
            <a:ext cx="3207715" cy="352044"/>
          </a:xfrm>
          <a:prstGeom prst="rect">
            <a:avLst/>
          </a:prstGeom>
          <a:noFill/>
          <a:ln>
            <a:noFill/>
          </a:ln>
        </p:spPr>
        <p:txBody>
          <a:bodyPr wrap="none" lIns="0" tIns="0" rIns="0" bIns="0" anchor="t" anchorCtr="0">
            <a:spAutoFit/>
          </a:bodyPr>
          <a:lstStyle/>
          <a:p>
            <a:pPr algn="l"/>
            <a:r>
              <a:rPr lang="ja-JP" sz="1800" dirty="0">
                <a:solidFill>
                  <a:srgbClr val="5C6B6B"/>
                </a:solidFill>
                <a:latin typeface="Noto Sans CJK JP"/>
                <a:ea typeface="Noto Sans CJK JP"/>
                <a:cs typeface="Noto Sans CJK JP"/>
              </a:rPr>
              <a:t>L2：運転者による監視が必要</a:t>
            </a:r>
          </a:p>
        </p:txBody>
      </p:sp>
      <p:sp>
        <p:nvSpPr>
          <p:cNvPr id="10" name="Line 10"/>
          <p:cNvSpPr/>
          <p:nvPr/>
        </p:nvSpPr>
        <p:spPr>
          <a:xfrm>
            <a:off x="609600" y="3076575"/>
            <a:ext cx="10972800" cy="9525"/>
          </a:xfrm>
          <a:custGeom>
            <a:avLst/>
            <a:gdLst/>
            <a:ahLst/>
            <a:cxnLst/>
            <a:rect l="l" t="t" r="r" b="b"/>
            <a:pathLst>
              <a:path w="10972800" h="9525">
                <a:moveTo>
                  <a:pt x="0" y="0"/>
                </a:moveTo>
                <a:lnTo>
                  <a:pt x="10972800" y="0"/>
                </a:lnTo>
              </a:path>
            </a:pathLst>
          </a:custGeom>
          <a:noFill/>
          <a:ln w="9525">
            <a:solidFill>
              <a:srgbClr val="C8D4D0"/>
            </a:solidFill>
          </a:ln>
        </p:spPr>
      </p:sp>
      <p:sp>
        <p:nvSpPr>
          <p:cNvPr id="11" name="TextBox 11"/>
          <p:cNvSpPr txBox="1"/>
          <p:nvPr/>
        </p:nvSpPr>
        <p:spPr>
          <a:xfrm>
            <a:off x="598551" y="3241834"/>
            <a:ext cx="1537408" cy="425386"/>
          </a:xfrm>
          <a:prstGeom prst="rect">
            <a:avLst/>
          </a:prstGeom>
          <a:noFill/>
          <a:ln>
            <a:noFill/>
          </a:ln>
        </p:spPr>
        <p:txBody>
          <a:bodyPr wrap="none" lIns="0" tIns="0" rIns="0" bIns="0" anchor="t" anchorCtr="0">
            <a:spAutoFit/>
          </a:bodyPr>
          <a:lstStyle/>
          <a:p>
            <a:pPr algn="l"/>
            <a:r>
              <a:rPr lang="ja-JP" sz="2180" b="1" dirty="0">
                <a:solidFill>
                  <a:srgbClr val="17323B"/>
                </a:solidFill>
                <a:latin typeface="Noto Sans CJK JP"/>
                <a:ea typeface="Noto Sans CJK JP"/>
                <a:cs typeface="Noto Sans CJK JP"/>
              </a:rPr>
              <a:t>LINEヤフー</a:t>
            </a:r>
          </a:p>
        </p:txBody>
      </p:sp>
      <p:sp>
        <p:nvSpPr>
          <p:cNvPr id="12" name="TextBox 12"/>
          <p:cNvSpPr txBox="1"/>
          <p:nvPr/>
        </p:nvSpPr>
        <p:spPr>
          <a:xfrm>
            <a:off x="601980" y="3667125"/>
            <a:ext cx="792670" cy="293370"/>
          </a:xfrm>
          <a:prstGeom prst="rect">
            <a:avLst/>
          </a:prstGeom>
          <a:noFill/>
          <a:ln>
            <a:noFill/>
          </a:ln>
        </p:spPr>
        <p:txBody>
          <a:bodyPr wrap="none" lIns="0" tIns="0" rIns="0" bIns="0" anchor="t" anchorCtr="0">
            <a:spAutoFit/>
          </a:bodyPr>
          <a:lstStyle/>
          <a:p>
            <a:pPr algn="l"/>
            <a:r>
              <a:rPr lang="ja-JP" sz="1500" dirty="0">
                <a:solidFill>
                  <a:srgbClr val="5C6B6B"/>
                </a:solidFill>
                <a:latin typeface="Noto Sans CJK JP"/>
                <a:ea typeface="Noto Sans CJK JP"/>
                <a:cs typeface="Noto Sans CJK JP"/>
              </a:rPr>
              <a:t>2025.07</a:t>
            </a:r>
          </a:p>
        </p:txBody>
      </p:sp>
      <p:sp>
        <p:nvSpPr>
          <p:cNvPr id="13" name="TextBox 13"/>
          <p:cNvSpPr txBox="1"/>
          <p:nvPr/>
        </p:nvSpPr>
        <p:spPr>
          <a:xfrm>
            <a:off x="3247263" y="3258026"/>
            <a:ext cx="5608272" cy="396050"/>
          </a:xfrm>
          <a:prstGeom prst="rect">
            <a:avLst/>
          </a:prstGeom>
          <a:noFill/>
          <a:ln>
            <a:noFill/>
          </a:ln>
        </p:spPr>
        <p:txBody>
          <a:bodyPr wrap="none" lIns="0" tIns="0" rIns="0" bIns="0" anchor="t" anchorCtr="0">
            <a:spAutoFit/>
          </a:bodyPr>
          <a:lstStyle/>
          <a:p>
            <a:pPr algn="l"/>
            <a:r>
              <a:rPr lang="ja-JP" sz="2020" dirty="0">
                <a:solidFill>
                  <a:srgbClr val="17323B"/>
                </a:solidFill>
                <a:latin typeface="Noto Sans CJK JP"/>
                <a:ea typeface="Noto Sans CJK JP"/>
                <a:cs typeface="Noto Sans CJK JP"/>
              </a:rPr>
              <a:t>約1.1万人を対象に、生成AIの業務活用を推進</a:t>
            </a:r>
          </a:p>
        </p:txBody>
      </p:sp>
      <p:sp>
        <p:nvSpPr>
          <p:cNvPr id="14" name="Line 14"/>
          <p:cNvSpPr/>
          <p:nvPr/>
        </p:nvSpPr>
        <p:spPr>
          <a:xfrm>
            <a:off x="609600" y="4133850"/>
            <a:ext cx="10972800" cy="9525"/>
          </a:xfrm>
          <a:custGeom>
            <a:avLst/>
            <a:gdLst/>
            <a:ahLst/>
            <a:cxnLst/>
            <a:rect l="l" t="t" r="r" b="b"/>
            <a:pathLst>
              <a:path w="10972800" h="9525">
                <a:moveTo>
                  <a:pt x="0" y="0"/>
                </a:moveTo>
                <a:lnTo>
                  <a:pt x="10972800" y="0"/>
                </a:lnTo>
              </a:path>
            </a:pathLst>
          </a:custGeom>
          <a:noFill/>
          <a:ln w="9525">
            <a:solidFill>
              <a:srgbClr val="C8D4D0"/>
            </a:solidFill>
          </a:ln>
        </p:spPr>
      </p:sp>
      <p:sp>
        <p:nvSpPr>
          <p:cNvPr id="15" name="TextBox 15"/>
          <p:cNvSpPr txBox="1"/>
          <p:nvPr/>
        </p:nvSpPr>
        <p:spPr>
          <a:xfrm>
            <a:off x="598551" y="4299109"/>
            <a:ext cx="902513" cy="425386"/>
          </a:xfrm>
          <a:prstGeom prst="rect">
            <a:avLst/>
          </a:prstGeom>
          <a:noFill/>
          <a:ln>
            <a:noFill/>
          </a:ln>
        </p:spPr>
        <p:txBody>
          <a:bodyPr wrap="none" lIns="0" tIns="0" rIns="0" bIns="0" anchor="t" anchorCtr="0">
            <a:spAutoFit/>
          </a:bodyPr>
          <a:lstStyle/>
          <a:p>
            <a:pPr algn="l"/>
            <a:r>
              <a:rPr lang="ja-JP" sz="2180" b="1" dirty="0">
                <a:solidFill>
                  <a:srgbClr val="17323B"/>
                </a:solidFill>
                <a:latin typeface="Noto Sans CJK JP"/>
                <a:ea typeface="Noto Sans CJK JP"/>
                <a:cs typeface="Noto Sans CJK JP"/>
              </a:rPr>
              <a:t>富士通</a:t>
            </a:r>
          </a:p>
        </p:txBody>
      </p:sp>
      <p:sp>
        <p:nvSpPr>
          <p:cNvPr id="16" name="TextBox 16"/>
          <p:cNvSpPr txBox="1"/>
          <p:nvPr/>
        </p:nvSpPr>
        <p:spPr>
          <a:xfrm>
            <a:off x="601980" y="4724400"/>
            <a:ext cx="792670" cy="293370"/>
          </a:xfrm>
          <a:prstGeom prst="rect">
            <a:avLst/>
          </a:prstGeom>
          <a:noFill/>
          <a:ln>
            <a:noFill/>
          </a:ln>
        </p:spPr>
        <p:txBody>
          <a:bodyPr wrap="none" lIns="0" tIns="0" rIns="0" bIns="0" anchor="t" anchorCtr="0">
            <a:spAutoFit/>
          </a:bodyPr>
          <a:lstStyle/>
          <a:p>
            <a:pPr algn="l"/>
            <a:r>
              <a:rPr lang="ja-JP" sz="1500" dirty="0">
                <a:solidFill>
                  <a:srgbClr val="5C6B6B"/>
                </a:solidFill>
                <a:latin typeface="Noto Sans CJK JP"/>
                <a:ea typeface="Noto Sans CJK JP"/>
                <a:cs typeface="Noto Sans CJK JP"/>
              </a:rPr>
              <a:t>2026.02</a:t>
            </a:r>
          </a:p>
        </p:txBody>
      </p:sp>
      <p:sp>
        <p:nvSpPr>
          <p:cNvPr id="17" name="TextBox 17"/>
          <p:cNvSpPr txBox="1"/>
          <p:nvPr/>
        </p:nvSpPr>
        <p:spPr>
          <a:xfrm>
            <a:off x="3247263" y="4315301"/>
            <a:ext cx="3827628" cy="396050"/>
          </a:xfrm>
          <a:prstGeom prst="rect">
            <a:avLst/>
          </a:prstGeom>
          <a:noFill/>
          <a:ln>
            <a:noFill/>
          </a:ln>
        </p:spPr>
        <p:txBody>
          <a:bodyPr wrap="none" lIns="0" tIns="0" rIns="0" bIns="0" anchor="t" anchorCtr="0">
            <a:spAutoFit/>
          </a:bodyPr>
          <a:lstStyle/>
          <a:p>
            <a:pPr algn="l"/>
            <a:r>
              <a:rPr lang="ja-JP" sz="2020" dirty="0">
                <a:solidFill>
                  <a:srgbClr val="17323B"/>
                </a:solidFill>
                <a:latin typeface="Noto Sans CJK JP"/>
                <a:ea typeface="Noto Sans CJK JP"/>
                <a:cs typeface="Noto Sans CJK JP"/>
              </a:rPr>
              <a:t>要件定義からテストまでを扱う</a:t>
            </a:r>
          </a:p>
        </p:txBody>
      </p:sp>
      <p:sp>
        <p:nvSpPr>
          <p:cNvPr id="18" name="TextBox 18"/>
          <p:cNvSpPr txBox="1"/>
          <p:nvPr/>
        </p:nvSpPr>
        <p:spPr>
          <a:xfrm>
            <a:off x="3248406" y="4701540"/>
            <a:ext cx="4597603" cy="352044"/>
          </a:xfrm>
          <a:prstGeom prst="rect">
            <a:avLst/>
          </a:prstGeom>
          <a:noFill/>
          <a:ln>
            <a:noFill/>
          </a:ln>
        </p:spPr>
        <p:txBody>
          <a:bodyPr wrap="none" lIns="0" tIns="0" rIns="0" bIns="0" anchor="t" anchorCtr="0">
            <a:spAutoFit/>
          </a:bodyPr>
          <a:lstStyle/>
          <a:p>
            <a:pPr algn="l"/>
            <a:r>
              <a:rPr lang="ja-JP" sz="1800" dirty="0">
                <a:solidFill>
                  <a:srgbClr val="5C6B6B"/>
                </a:solidFill>
                <a:latin typeface="Noto Sans CJK JP"/>
                <a:ea typeface="Noto Sans CJK JP"/>
                <a:cs typeface="Noto Sans CJK JP"/>
              </a:rPr>
              <a:t>AIによるソフトウェア開発基盤を運用開始</a:t>
            </a:r>
          </a:p>
        </p:txBody>
      </p:sp>
      <p:sp>
        <p:nvSpPr>
          <p:cNvPr id="19" name="TextBox 19"/>
          <p:cNvSpPr txBox="1"/>
          <p:nvPr/>
        </p:nvSpPr>
        <p:spPr>
          <a:xfrm>
            <a:off x="597408" y="5608320"/>
            <a:ext cx="6790822" cy="469392"/>
          </a:xfrm>
          <a:prstGeom prst="rect">
            <a:avLst/>
          </a:prstGeom>
          <a:noFill/>
          <a:ln>
            <a:noFill/>
          </a:ln>
        </p:spPr>
        <p:txBody>
          <a:bodyPr wrap="none" lIns="0" tIns="0" rIns="0" bIns="0" anchor="t" anchorCtr="0">
            <a:spAutoFit/>
          </a:bodyPr>
          <a:lstStyle/>
          <a:p>
            <a:pPr algn="l"/>
            <a:r>
              <a:rPr lang="ja-JP" sz="2400" b="1" dirty="0">
                <a:solidFill>
                  <a:srgbClr val="247C7A"/>
                </a:solidFill>
                <a:latin typeface="Noto Sans CJK JP"/>
                <a:ea typeface="Noto Sans CJK JP"/>
                <a:cs typeface="Noto Sans CJK JP"/>
              </a:rPr>
              <a:t>基礎を理解し、AIの結果を確かめる力が大切。</a:t>
            </a:r>
          </a:p>
        </p:txBody>
      </p:sp>
      <p:sp>
        <p:nvSpPr>
          <p:cNvPr id="20" name="TextBox 20"/>
          <p:cNvSpPr txBox="1"/>
          <p:nvPr/>
        </p:nvSpPr>
        <p:spPr>
          <a:xfrm>
            <a:off x="603504" y="6366510"/>
            <a:ext cx="2758440" cy="234696"/>
          </a:xfrm>
          <a:prstGeom prst="rect">
            <a:avLst/>
          </a:prstGeom>
          <a:noFill/>
          <a:ln>
            <a:noFill/>
          </a:ln>
        </p:spPr>
        <p:txBody>
          <a:bodyPr wrap="none" lIns="0" tIns="0" rIns="0" bIns="0" anchor="t" anchorCtr="0">
            <a:spAutoFit/>
          </a:bodyPr>
          <a:lstStyle/>
          <a:p>
            <a:pPr algn="l"/>
            <a:r>
              <a:rPr lang="ja-JP" sz="1200" dirty="0">
                <a:solidFill>
                  <a:srgbClr val="5C6B6B"/>
                </a:solidFill>
                <a:latin typeface="Noto Sans CJK JP"/>
                <a:ea typeface="Noto Sans CJK JP"/>
                <a:cs typeface="Noto Sans CJK JP"/>
              </a:rPr>
              <a:t>出典：各社公式発表（詳細はノート）</a:t>
            </a:r>
          </a:p>
        </p:txBody>
      </p:sp>
    </p:spTree>
    <p:extLst>
      <p:ext uri="{BB962C8B-B14F-4D97-AF65-F5344CB8AC3E}">
        <p14:creationId val="618285562"/>
      </p:ext>
    </p:extLst>
  </p:cSld>
</p:sld>
</file>

<file path=ppt/slides/slide13.xml><?xml version="1.0" encoding="utf-8"?>
<p:sld xmlns:a="http://schemas.openxmlformats.org/drawingml/2006/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2" name="TextBox 2"/>
          <p:cNvSpPr txBox="1"/>
          <p:nvPr/>
        </p:nvSpPr>
        <p:spPr>
          <a:xfrm>
            <a:off x="603504" y="289560"/>
            <a:ext cx="819912" cy="234696"/>
          </a:xfrm>
          <a:prstGeom prst="rect">
            <a:avLst/>
          </a:prstGeom>
          <a:noFill/>
          <a:ln>
            <a:noFill/>
          </a:ln>
        </p:spPr>
        <p:txBody>
          <a:bodyPr wrap="none" lIns="0" tIns="0" rIns="0" bIns="0" anchor="t" anchorCtr="0">
            <a:spAutoFit/>
          </a:bodyPr>
          <a:lstStyle/>
          <a:p>
            <a:pPr algn="l"/>
            <a:r>
              <a:rPr lang="ja-JP" sz="1200" b="1" dirty="0">
                <a:solidFill>
                  <a:srgbClr val="247C7A"/>
                </a:solidFill>
                <a:latin typeface="Noto Sans CJK JP"/>
                <a:ea typeface="Noto Sans CJK JP"/>
                <a:cs typeface="Noto Sans CJK JP"/>
              </a:rPr>
              <a:t>進路と研究</a:t>
            </a:r>
          </a:p>
        </p:txBody>
      </p:sp>
      <p:sp>
        <p:nvSpPr>
          <p:cNvPr id="3" name="TextBox 3"/>
          <p:cNvSpPr/>
          <p:nvPr/>
        </p:nvSpPr>
        <p:spPr>
          <a:xfrm>
            <a:off x="593217" y="775811"/>
            <a:ext cx="10989183" cy="630746"/>
          </a:xfrm>
          <a:prstGeom prst="rect">
            <a:avLst/>
          </a:prstGeom>
          <a:noFill/>
          <a:ln>
            <a:noFill/>
          </a:ln>
        </p:spPr>
        <p:txBody>
          <a:bodyPr wrap="none" lIns="0" tIns="-5" rIns="0" bIns="0" anchor="t" anchorCtr="0">
            <a:noAutofit/>
          </a:bodyPr>
          <a:lstStyle/>
          <a:p>
            <a:pPr algn="l"/>
            <a:r>
              <a:rPr lang="ja-JP" sz="3220" b="1" dirty="0">
                <a:solidFill>
                  <a:srgbClr val="17323B"/>
                </a:solidFill>
                <a:latin typeface="Noto Sans CJK JP"/>
                <a:ea typeface="Noto Sans CJK JP"/>
                <a:cs typeface="Noto Sans CJK JP"/>
              </a:rPr>
              <a:t>プロジェクトを通して学ぶ大学院</a:t>
            </a:r>
          </a:p>
        </p:txBody>
      </p:sp>
      <p:sp>
        <p:nvSpPr>
          <p:cNvPr id="4" name="TextBox 4"/>
          <p:cNvSpPr/>
          <p:nvPr/>
        </p:nvSpPr>
        <p:spPr>
          <a:xfrm>
            <a:off x="600456" y="1367790"/>
            <a:ext cx="10981944" cy="352044"/>
          </a:xfrm>
          <a:prstGeom prst="rect">
            <a:avLst/>
          </a:prstGeom>
          <a:noFill/>
          <a:ln>
            <a:noFill/>
          </a:ln>
        </p:spPr>
        <p:txBody>
          <a:bodyPr wrap="none" lIns="0" tIns="0" rIns="0" bIns="0" anchor="t" anchorCtr="0">
            <a:noAutofit/>
          </a:bodyPr>
          <a:lstStyle/>
          <a:p>
            <a:pPr algn="l"/>
            <a:r>
              <a:rPr lang="ja-JP" sz="1800" dirty="0">
                <a:solidFill>
                  <a:srgbClr val="5C6B6B"/>
                </a:solidFill>
                <a:latin typeface="Noto Sans CJK JP"/>
                <a:ea typeface="Noto Sans CJK JP"/>
                <a:cs typeface="Noto Sans CJK JP"/>
              </a:rPr>
              <a:t>「作ってみたい」「なぜだろう」が、学ぶきっかけになる</a:t>
            </a:r>
          </a:p>
        </p:txBody>
      </p:sp>
      <p:sp>
        <p:nvSpPr>
          <p:cNvPr id="5" name="TextBox 5"/>
          <p:cNvSpPr txBox="1"/>
          <p:nvPr/>
        </p:nvSpPr>
        <p:spPr>
          <a:xfrm>
            <a:off x="11366106" y="6378892"/>
            <a:ext cx="213627" cy="264033"/>
          </a:xfrm>
          <a:prstGeom prst="rect">
            <a:avLst/>
          </a:prstGeom>
          <a:noFill/>
          <a:ln>
            <a:noFill/>
          </a:ln>
        </p:spPr>
        <p:txBody>
          <a:bodyPr wrap="none" lIns="0" tIns="0" rIns="0" bIns="0" anchor="t" anchorCtr="0">
            <a:spAutoFit/>
          </a:bodyPr>
          <a:lstStyle/>
          <a:p>
            <a:pPr algn="r"/>
            <a:r>
              <a:rPr lang="ja-JP" sz="1350" dirty="0">
                <a:solidFill>
                  <a:srgbClr val="5C6B6B"/>
                </a:solidFill>
                <a:latin typeface="Noto Sans CJK JP"/>
                <a:ea typeface="Noto Sans CJK JP"/>
                <a:cs typeface="Noto Sans CJK JP"/>
              </a:rPr>
              <a:t>13</a:t>
            </a:r>
          </a:p>
        </p:txBody>
      </p:sp>
      <p:sp>
        <p:nvSpPr>
          <p:cNvPr id="6" name="TextBox 6"/>
          <p:cNvSpPr txBox="1"/>
          <p:nvPr/>
        </p:nvSpPr>
        <p:spPr>
          <a:xfrm>
            <a:off x="743712" y="2230755"/>
            <a:ext cx="596326" cy="704088"/>
          </a:xfrm>
          <a:prstGeom prst="rect">
            <a:avLst/>
          </a:prstGeom>
          <a:noFill/>
          <a:ln>
            <a:noFill/>
          </a:ln>
        </p:spPr>
        <p:txBody>
          <a:bodyPr wrap="none" lIns="0" tIns="0" rIns="0" bIns="0" anchor="t" anchorCtr="0">
            <a:spAutoFit/>
          </a:bodyPr>
          <a:lstStyle/>
          <a:p>
            <a:pPr algn="l"/>
            <a:r>
              <a:rPr lang="ja-JP" sz="3600" b="1" dirty="0">
                <a:solidFill>
                  <a:srgbClr val="C9633D"/>
                </a:solidFill>
                <a:latin typeface="Noto Sans CJK JP"/>
                <a:ea typeface="Noto Sans CJK JP"/>
                <a:cs typeface="Noto Sans CJK JP"/>
              </a:rPr>
              <a:t>01</a:t>
            </a:r>
          </a:p>
        </p:txBody>
      </p:sp>
      <p:sp>
        <p:nvSpPr>
          <p:cNvPr id="7" name="TextBox 7"/>
          <p:cNvSpPr/>
          <p:nvPr/>
        </p:nvSpPr>
        <p:spPr>
          <a:xfrm>
            <a:off x="2083308" y="2322195"/>
            <a:ext cx="9499092" cy="469392"/>
          </a:xfrm>
          <a:prstGeom prst="rect">
            <a:avLst/>
          </a:prstGeom>
          <a:noFill/>
          <a:ln>
            <a:noFill/>
          </a:ln>
        </p:spPr>
        <p:txBody>
          <a:bodyPr wrap="none" lIns="0" tIns="0" rIns="0" bIns="0" anchor="t" anchorCtr="0">
            <a:noAutofit/>
          </a:bodyPr>
          <a:lstStyle/>
          <a:p>
            <a:pPr algn="l"/>
            <a:r>
              <a:rPr lang="ja-JP" sz="2400" b="1" dirty="0">
                <a:solidFill>
                  <a:srgbClr val="17323B"/>
                </a:solidFill>
                <a:latin typeface="Noto Sans CJK JP"/>
                <a:ea typeface="Noto Sans CJK JP"/>
                <a:cs typeface="Noto Sans CJK JP"/>
              </a:rPr>
              <a:t>自分のテーマを決め、アイデアを考える</a:t>
            </a:r>
          </a:p>
        </p:txBody>
      </p:sp>
      <p:sp>
        <p:nvSpPr>
          <p:cNvPr id="8" name="TextBox 8"/>
          <p:cNvSpPr txBox="1"/>
          <p:nvPr/>
        </p:nvSpPr>
        <p:spPr>
          <a:xfrm>
            <a:off x="743712" y="3259455"/>
            <a:ext cx="596326" cy="704088"/>
          </a:xfrm>
          <a:prstGeom prst="rect">
            <a:avLst/>
          </a:prstGeom>
          <a:noFill/>
          <a:ln>
            <a:noFill/>
          </a:ln>
        </p:spPr>
        <p:txBody>
          <a:bodyPr wrap="none" lIns="0" tIns="0" rIns="0" bIns="0" anchor="t" anchorCtr="0">
            <a:spAutoFit/>
          </a:bodyPr>
          <a:lstStyle/>
          <a:p>
            <a:pPr algn="l"/>
            <a:r>
              <a:rPr lang="ja-JP" sz="3600" b="1" dirty="0">
                <a:solidFill>
                  <a:srgbClr val="C9633D"/>
                </a:solidFill>
                <a:latin typeface="Noto Sans CJK JP"/>
                <a:ea typeface="Noto Sans CJK JP"/>
                <a:cs typeface="Noto Sans CJK JP"/>
              </a:rPr>
              <a:t>02</a:t>
            </a:r>
          </a:p>
        </p:txBody>
      </p:sp>
      <p:sp>
        <p:nvSpPr>
          <p:cNvPr id="9" name="TextBox 9"/>
          <p:cNvSpPr/>
          <p:nvPr/>
        </p:nvSpPr>
        <p:spPr>
          <a:xfrm>
            <a:off x="2083308" y="3350895"/>
            <a:ext cx="9499092" cy="469392"/>
          </a:xfrm>
          <a:prstGeom prst="rect">
            <a:avLst/>
          </a:prstGeom>
          <a:noFill/>
          <a:ln>
            <a:noFill/>
          </a:ln>
        </p:spPr>
        <p:txBody>
          <a:bodyPr wrap="none" lIns="0" tIns="0" rIns="0" bIns="0" anchor="t" anchorCtr="0">
            <a:noAutofit/>
          </a:bodyPr>
          <a:lstStyle/>
          <a:p>
            <a:pPr algn="l"/>
            <a:r>
              <a:rPr lang="ja-JP" sz="2400" b="1" dirty="0">
                <a:solidFill>
                  <a:srgbClr val="17323B"/>
                </a:solidFill>
                <a:latin typeface="Noto Sans CJK JP"/>
                <a:ea typeface="Noto Sans CJK JP"/>
                <a:cs typeface="Noto Sans CJK JP"/>
              </a:rPr>
              <a:t>必要な知識を調べ、実験や制作で確かめる</a:t>
            </a:r>
          </a:p>
        </p:txBody>
      </p:sp>
      <p:sp>
        <p:nvSpPr>
          <p:cNvPr id="10" name="TextBox 10"/>
          <p:cNvSpPr txBox="1"/>
          <p:nvPr/>
        </p:nvSpPr>
        <p:spPr>
          <a:xfrm>
            <a:off x="743712" y="4288155"/>
            <a:ext cx="596326" cy="704088"/>
          </a:xfrm>
          <a:prstGeom prst="rect">
            <a:avLst/>
          </a:prstGeom>
          <a:noFill/>
          <a:ln>
            <a:noFill/>
          </a:ln>
        </p:spPr>
        <p:txBody>
          <a:bodyPr wrap="none" lIns="0" tIns="0" rIns="0" bIns="0" anchor="t" anchorCtr="0">
            <a:spAutoFit/>
          </a:bodyPr>
          <a:lstStyle/>
          <a:p>
            <a:pPr algn="l"/>
            <a:r>
              <a:rPr lang="ja-JP" sz="3600" b="1" dirty="0">
                <a:solidFill>
                  <a:srgbClr val="C9633D"/>
                </a:solidFill>
                <a:latin typeface="Noto Sans CJK JP"/>
                <a:ea typeface="Noto Sans CJK JP"/>
                <a:cs typeface="Noto Sans CJK JP"/>
              </a:rPr>
              <a:t>03</a:t>
            </a:r>
          </a:p>
        </p:txBody>
      </p:sp>
      <p:sp>
        <p:nvSpPr>
          <p:cNvPr id="11" name="TextBox 11"/>
          <p:cNvSpPr/>
          <p:nvPr/>
        </p:nvSpPr>
        <p:spPr>
          <a:xfrm>
            <a:off x="2083308" y="4379595"/>
            <a:ext cx="9499092" cy="469392"/>
          </a:xfrm>
          <a:prstGeom prst="rect">
            <a:avLst/>
          </a:prstGeom>
          <a:noFill/>
          <a:ln>
            <a:noFill/>
          </a:ln>
        </p:spPr>
        <p:txBody>
          <a:bodyPr wrap="none" lIns="0" tIns="0" rIns="0" bIns="0" anchor="t" anchorCtr="0">
            <a:noAutofit/>
          </a:bodyPr>
          <a:lstStyle/>
          <a:p>
            <a:pPr algn="l"/>
            <a:r>
              <a:rPr lang="ja-JP" sz="2400" b="1" dirty="0">
                <a:solidFill>
                  <a:srgbClr val="17323B"/>
                </a:solidFill>
                <a:latin typeface="Noto Sans CJK JP"/>
                <a:ea typeface="Noto Sans CJK JP"/>
                <a:cs typeface="Noto Sans CJK JP"/>
              </a:rPr>
              <a:t>失敗から考え直し、結果を説明する</a:t>
            </a:r>
          </a:p>
        </p:txBody>
      </p:sp>
      <p:sp>
        <p:nvSpPr>
          <p:cNvPr id="12" name="TextBox 12"/>
          <p:cNvSpPr/>
          <p:nvPr/>
        </p:nvSpPr>
        <p:spPr>
          <a:xfrm>
            <a:off x="598170" y="5576888"/>
            <a:ext cx="10984230" cy="440055"/>
          </a:xfrm>
          <a:prstGeom prst="rect">
            <a:avLst/>
          </a:prstGeom>
          <a:noFill/>
          <a:ln>
            <a:noFill/>
          </a:ln>
        </p:spPr>
        <p:txBody>
          <a:bodyPr wrap="none" lIns="0" tIns="0" rIns="0" bIns="0" anchor="t" anchorCtr="0">
            <a:noAutofit/>
          </a:bodyPr>
          <a:lstStyle/>
          <a:p>
            <a:pPr algn="l"/>
            <a:r>
              <a:rPr lang="ja-JP" sz="2250" b="1" dirty="0">
                <a:solidFill>
                  <a:srgbClr val="247C7A"/>
                </a:solidFill>
                <a:latin typeface="Noto Sans CJK JP"/>
                <a:ea typeface="Noto Sans CJK JP"/>
                <a:cs typeface="Noto Sans CJK JP"/>
              </a:rPr>
              <a:t>手を動かし、試行錯誤することが好きな人にも。</a:t>
            </a:r>
          </a:p>
        </p:txBody>
      </p:sp>
      <p:sp>
        <p:nvSpPr>
          <p:cNvPr id="24" name="TextBox 24"/>
          <p:cNvSpPr txBox="1"/>
          <p:nvPr/>
        </p:nvSpPr>
        <p:spPr>
          <a:xfrm>
            <a:off x="602742" y="6340792"/>
            <a:ext cx="6192774" cy="264033"/>
          </a:xfrm>
          <a:prstGeom prst="rect">
            <a:avLst/>
          </a:prstGeom>
          <a:noFill/>
          <a:ln>
            <a:noFill/>
          </a:ln>
        </p:spPr>
        <p:txBody>
          <a:bodyPr wrap="none" lIns="0" tIns="0" rIns="0" bIns="0" anchor="t" anchorCtr="0">
            <a:spAutoFit/>
          </a:bodyPr>
          <a:lstStyle/>
          <a:p>
            <a:pPr algn="l"/>
            <a:r>
              <a:rPr lang="ja-JP" sz="1350" dirty="0">
                <a:solidFill>
                  <a:srgbClr val="5C6B6B"/>
                </a:solidFill>
                <a:latin typeface="Noto Sans CJK JP"/>
                <a:ea typeface="Noto Sans CJK JP"/>
                <a:cs typeface="Noto Sans CJK JP"/>
              </a:rPr>
              <a:t>大学院にも授業があります。研究では、課題に応じて基礎を学び直します。</a:t>
            </a:r>
          </a:p>
        </p:txBody>
      </p:sp>
    </p:spTree>
    <p:extLst>
      <p:ext uri="{BB962C8B-B14F-4D97-AF65-F5344CB8AC3E}">
        <p14:creationId val="618285562"/>
      </p:ext>
    </p:extLst>
  </p:cSld>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7F5EF"/>
        </a:solidFill>
      </p:bgPr>
    </p:bg>
    <p:spTree>
      <p:nvGrpSpPr>
        <p:cNvPr id="1" name=""/>
        <p:cNvGrpSpPr/>
        <p:nvPr/>
      </p:nvGrpSpPr>
      <p:grpSpPr>
        <a:xfrm/>
      </p:grpSpPr>
      <p:sp>
        <p:nvSpPr>
          <p:cNvPr id="18" name="学び方と計画">
            <a:extLst>
              <a:ext uri="{FF2B5EF4-FFF2-40B4-BE49-F238E27FC236}">
                <a16:creationId id="{6022F8F7-2148-4EEF-9295-7A85B4DE827B}"/>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学び方と計画</a:t>
            </a:r>
          </a:p>
        </p:txBody>
      </p:sp>
      <p:sp>
        <p:nvSpPr>
          <p:cNvPr id="2" name="倒立振子から学ぶこと">
            <a:extLst>
              <a:ext uri="{FF2B5EF4-FFF2-40B4-BE49-F238E27FC236}">
                <a16:creationId id="{7463A5AB-2118-4346-8636-B3F13BAD854A}"/>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倒立振子から学ぶこと</a:t>
            </a:r>
          </a:p>
        </p:txBody>
      </p:sp>
      <p:sp>
        <p:nvSpPr>
          <p:cNvPr id="3" name="状態を観察し、入力を変え、動きの違いを確かめる">
            <a:extLst>
              <a:ext uri="{FF2B5EF4-FFF2-40B4-BE49-F238E27FC236}">
                <a16:creationId id="{168DF213-3D23-4B96-9C3E-07A4E2C1C321}"/>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状態を観察し、入力を変え、動きの違いを確かめる</a:t>
            </a:r>
          </a:p>
        </p:txBody>
      </p:sp>
      <p:sp>
        <p:nvSpPr>
          <p:cNvPr id="4" name="11"/>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14</a:t>
            </a:r>
          </a:p>
        </p:txBody>
      </p:sp>
      <p:pic>
        <p:nvPicPr>
          <p:cNvPr id="22" name=""/>
          <p:cNvPicPr>
            <a:picLocks noChangeAspect="1"/>
          </p:cNvPicPr>
          <p:nvPr/>
        </p:nvPicPr>
        <p:blipFill>
          <a:blip r:embed="Ra53c2e94b196469e"/>
          <a:stretch/>
        </p:blipFill>
        <p:spPr>
          <a:xfrm>
            <a:off x="657225" y="2233613"/>
            <a:ext cx="4381500" cy="3286125"/>
          </a:xfrm>
          <a:prstGeom prst="rect">
            <a:avLst/>
          </a:prstGeom>
        </p:spPr>
      </p:pic>
      <p:sp>
        <p:nvSpPr>
          <p:cNvPr id="6" name="小車型の概念図">
            <a:extLst>
              <a:ext uri="{FF2B5EF4-FFF2-40B4-BE49-F238E27FC236}">
                <a16:creationId id="{4306890D-85F3-4755-993A-198CB2A6EFB7}"/>
              </a:ext>
            </a:extLst>
          </p:cNvPr>
          <p:cNvSpPr>
            <a:spLocks noGrp="1"/>
          </p:cNvSpPr>
          <p:nvPr/>
        </p:nvSpPr>
        <p:spPr>
          <a:xfrm>
            <a:off x="657225" y="5619750"/>
            <a:ext cx="4381500" cy="333375"/>
          </a:xfrm>
          <a:prstGeom prst="rect">
            <a:avLst/>
          </a:prstGeom>
          <a:noFill/>
          <a:ln w="0">
            <a:noFill/>
          </a:ln>
        </p:spPr>
        <p:txBody>
          <a:bodyPr wrap="square" lIns="0" tIns="0" rIns="0" bIns="0" anchor="t">
            <a:noAutofit/>
          </a:bodyPr>
          <a:lstStyle/>
          <a:p>
            <a:pPr algn="ctr">
              <a:lnSpc>
                <a:spcPct val="118000"/>
              </a:lnSpc>
              <a:buNone/>
              <a:defRPr sz="1500" b="0">
                <a:solidFill>
                  <a:srgbClr val="5C6B6B"/>
                </a:solidFill>
                <a:latin typeface="Noto Sans CJK JP"/>
                <a:ea typeface="Noto Sans CJK JP"/>
                <a:cs typeface="Noto Sans CJK JP"/>
              </a:defRPr>
            </a:pPr>
            <a:r>
              <a:rPr sz="1500" b="0">
                <a:solidFill>
                  <a:srgbClr val="5C6B6B"/>
                </a:solidFill>
                <a:latin typeface="Noto Sans CJK JP"/>
                <a:ea typeface="Noto Sans CJK JP"/>
                <a:cs typeface="Noto Sans CJK JP"/>
              </a:rPr>
              <a:t>小車型の概念図</a:t>
            </a:r>
          </a:p>
        </p:txBody>
      </p:sp>
      <p:sp>
        <p:nvSpPr>
          <p:cNvPr id="7" name="状態">
            <a:extLst>
              <a:ext uri="{FF2B5EF4-FFF2-40B4-BE49-F238E27FC236}">
                <a16:creationId id="{A8B74CAA-C54A-460A-B744-A3CABB9C6661}"/>
              </a:ext>
            </a:extLst>
          </p:cNvPr>
          <p:cNvSpPr>
            <a:spLocks noGrp="1"/>
          </p:cNvSpPr>
          <p:nvPr/>
        </p:nvSpPr>
        <p:spPr>
          <a:xfrm>
            <a:off x="5591175" y="2095500"/>
            <a:ext cx="1047750" cy="438150"/>
          </a:xfrm>
          <a:prstGeom prst="rect">
            <a:avLst/>
          </a:prstGeom>
          <a:noFill/>
          <a:ln w="0">
            <a:noFill/>
          </a:ln>
        </p:spPr>
        <p:txBody>
          <a:bodyPr wrap="square" lIns="0" tIns="0" rIns="0" bIns="0" anchor="t">
            <a:noAutofit/>
          </a:bodyPr>
          <a:lstStyle/>
          <a:p>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状態</a:t>
            </a:r>
          </a:p>
        </p:txBody>
      </p:sp>
      <p:sp>
        <p:nvSpPr>
          <p:cNvPr id="8" name="位置・傾き・速度など、現在の動き。">
            <a:extLst>
              <a:ext uri="{FF2B5EF4-FFF2-40B4-BE49-F238E27FC236}">
                <a16:creationId id="{9BA8838D-6730-4731-B2CA-A516499C9038}"/>
              </a:ext>
            </a:extLst>
          </p:cNvPr>
          <p:cNvSpPr>
            <a:spLocks noGrp="1"/>
          </p:cNvSpPr>
          <p:nvPr/>
        </p:nvSpPr>
        <p:spPr>
          <a:xfrm>
            <a:off x="6991350" y="2095500"/>
            <a:ext cx="4562475" cy="7429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位置・傾き・速度など、現在の動き。</a:t>
            </a:r>
          </a:p>
        </p:txBody>
      </p:sp>
      <p:sp>
        <p:nvSpPr>
          <p:cNvPr id="9" name="">
            <a:extLst>
              <a:ext uri="{FF2B5EF4-FFF2-40B4-BE49-F238E27FC236}">
                <a16:creationId id="{099849DD-4B42-4329-BB06-B8F0676FC47D}"/>
              </a:ext>
            </a:extLst>
          </p:cNvPr>
          <p:cNvSpPr>
            <a:spLocks noGrp="1"/>
          </p:cNvSpPr>
          <p:nvPr/>
        </p:nvSpPr>
        <p:spPr>
          <a:xfrm>
            <a:off x="5591175" y="2876550"/>
            <a:ext cx="5991225" cy="9525"/>
          </a:xfrm>
          <a:prstGeom prst="rect">
            <a:avLst/>
          </a:prstGeom>
          <a:solidFill>
            <a:srgbClr val="C8D4D0"/>
          </a:solidFill>
          <a:ln w="0">
            <a:noFill/>
          </a:ln>
        </p:spPr>
      </p:sp>
      <p:sp>
        <p:nvSpPr>
          <p:cNvPr id="10" name="入力">
            <a:extLst>
              <a:ext uri="{FF2B5EF4-FFF2-40B4-BE49-F238E27FC236}">
                <a16:creationId id="{D1962D1A-2E1D-49DA-9510-DE3B3B014ED5}"/>
              </a:ext>
            </a:extLst>
          </p:cNvPr>
          <p:cNvSpPr>
            <a:spLocks noGrp="1"/>
          </p:cNvSpPr>
          <p:nvPr/>
        </p:nvSpPr>
        <p:spPr>
          <a:xfrm>
            <a:off x="5591175" y="3048000"/>
            <a:ext cx="1047750" cy="438150"/>
          </a:xfrm>
          <a:prstGeom prst="rect">
            <a:avLst/>
          </a:prstGeom>
          <a:noFill/>
          <a:ln w="0">
            <a:noFill/>
          </a:ln>
        </p:spPr>
        <p:txBody>
          <a:bodyPr wrap="square" lIns="0" tIns="0" rIns="0" bIns="0" anchor="t">
            <a:noAutofit/>
          </a:bodyPr>
          <a:lstStyle/>
          <a:p>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入力</a:t>
            </a:r>
          </a:p>
        </p:txBody>
      </p:sp>
      <p:sp>
        <p:nvSpPr>
          <p:cNvPr id="11" name="台車に加える力など、操作できる量。">
            <a:extLst>
              <a:ext uri="{FF2B5EF4-FFF2-40B4-BE49-F238E27FC236}">
                <a16:creationId id="{460757AD-E8D3-44BD-8276-F72E281ED6DC}"/>
              </a:ext>
            </a:extLst>
          </p:cNvPr>
          <p:cNvSpPr>
            <a:spLocks noGrp="1"/>
          </p:cNvSpPr>
          <p:nvPr/>
        </p:nvSpPr>
        <p:spPr>
          <a:xfrm>
            <a:off x="6991350" y="3048000"/>
            <a:ext cx="4562475" cy="7429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台車に加える力など、操作できる量。</a:t>
            </a:r>
          </a:p>
        </p:txBody>
      </p:sp>
      <p:sp>
        <p:nvSpPr>
          <p:cNvPr id="12" name="">
            <a:extLst>
              <a:ext uri="{FF2B5EF4-FFF2-40B4-BE49-F238E27FC236}">
                <a16:creationId id="{4C4824F5-291B-4410-9ED0-6E403985509A}"/>
              </a:ext>
            </a:extLst>
          </p:cNvPr>
          <p:cNvSpPr>
            <a:spLocks noGrp="1"/>
          </p:cNvSpPr>
          <p:nvPr/>
        </p:nvSpPr>
        <p:spPr>
          <a:xfrm>
            <a:off x="5591175" y="3829050"/>
            <a:ext cx="5991225" cy="9525"/>
          </a:xfrm>
          <a:prstGeom prst="rect">
            <a:avLst/>
          </a:prstGeom>
          <a:solidFill>
            <a:srgbClr val="C8D4D0"/>
          </a:solidFill>
          <a:ln w="0">
            <a:noFill/>
          </a:ln>
        </p:spPr>
      </p:sp>
      <p:sp>
        <p:nvSpPr>
          <p:cNvPr id="13" name="制御">
            <a:extLst>
              <a:ext uri="{FF2B5EF4-FFF2-40B4-BE49-F238E27FC236}">
                <a16:creationId id="{B28C51EF-077B-4334-AF22-11BD5A6ECCF5}"/>
              </a:ext>
            </a:extLst>
          </p:cNvPr>
          <p:cNvSpPr>
            <a:spLocks noGrp="1"/>
          </p:cNvSpPr>
          <p:nvPr/>
        </p:nvSpPr>
        <p:spPr>
          <a:xfrm>
            <a:off x="5591175" y="4000500"/>
            <a:ext cx="1047750" cy="438150"/>
          </a:xfrm>
          <a:prstGeom prst="rect">
            <a:avLst/>
          </a:prstGeom>
          <a:noFill/>
          <a:ln w="0">
            <a:noFill/>
          </a:ln>
        </p:spPr>
        <p:txBody>
          <a:bodyPr wrap="square" lIns="0" tIns="0" rIns="0" bIns="0" anchor="t">
            <a:noAutofit/>
          </a:bodyPr>
          <a:lstStyle/>
          <a:p>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制御</a:t>
            </a:r>
          </a:p>
        </p:txBody>
      </p:sp>
      <p:sp>
        <p:nvSpPr>
          <p:cNvPr id="14" name="状態に応じて、入力を決める規則。">
            <a:extLst>
              <a:ext uri="{FF2B5EF4-FFF2-40B4-BE49-F238E27FC236}">
                <a16:creationId id="{8FBC1920-EC47-4617-AA51-DF45A1EA2BC5}"/>
              </a:ext>
            </a:extLst>
          </p:cNvPr>
          <p:cNvSpPr>
            <a:spLocks noGrp="1"/>
          </p:cNvSpPr>
          <p:nvPr/>
        </p:nvSpPr>
        <p:spPr>
          <a:xfrm>
            <a:off x="6991350" y="4000500"/>
            <a:ext cx="4562475" cy="7429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状態に応じて、入力を決める規則。</a:t>
            </a:r>
          </a:p>
        </p:txBody>
      </p:sp>
      <p:sp>
        <p:nvSpPr>
          <p:cNvPr id="15" name="">
            <a:extLst>
              <a:ext uri="{FF2B5EF4-FFF2-40B4-BE49-F238E27FC236}">
                <a16:creationId id="{48CA8646-BE2C-41AF-ABFF-C771BFBEF715}"/>
              </a:ext>
            </a:extLst>
          </p:cNvPr>
          <p:cNvSpPr>
            <a:spLocks noGrp="1"/>
          </p:cNvSpPr>
          <p:nvPr/>
        </p:nvSpPr>
        <p:spPr>
          <a:xfrm>
            <a:off x="5591175" y="4781550"/>
            <a:ext cx="5991225" cy="9525"/>
          </a:xfrm>
          <a:prstGeom prst="rect">
            <a:avLst/>
          </a:prstGeom>
          <a:solidFill>
            <a:srgbClr val="C8D4D0"/>
          </a:solidFill>
          <a:ln w="0">
            <a:noFill/>
          </a:ln>
        </p:spPr>
      </p:sp>
      <p:sp>
        <p:nvSpPr>
          <p:cNvPr id="16" name="比較">
            <a:extLst>
              <a:ext uri="{FF2B5EF4-FFF2-40B4-BE49-F238E27FC236}">
                <a16:creationId id="{F445A198-9A64-4639-9E5B-C68D8C06A000}"/>
              </a:ext>
            </a:extLst>
          </p:cNvPr>
          <p:cNvSpPr>
            <a:spLocks noGrp="1"/>
          </p:cNvSpPr>
          <p:nvPr/>
        </p:nvSpPr>
        <p:spPr>
          <a:xfrm>
            <a:off x="5591175" y="4953000"/>
            <a:ext cx="1047750" cy="438150"/>
          </a:xfrm>
          <a:prstGeom prst="rect">
            <a:avLst/>
          </a:prstGeom>
          <a:noFill/>
          <a:ln w="0">
            <a:noFill/>
          </a:ln>
        </p:spPr>
        <p:txBody>
          <a:bodyPr wrap="square" lIns="0" tIns="0" rIns="0" bIns="0" anchor="t">
            <a:noAutofit/>
          </a:bodyPr>
          <a:lstStyle/>
          <a:p>
            <a:pPr algn="l">
              <a:lnSpc>
                <a:spcPct val="118000"/>
              </a:lnSpc>
              <a:buNone/>
              <a:defRPr sz="2250" b="1">
                <a:solidFill>
                  <a:srgbClr val="247C7A"/>
                </a:solidFill>
                <a:latin typeface="Noto Sans CJK JP"/>
                <a:ea typeface="Noto Sans CJK JP"/>
                <a:cs typeface="Noto Sans CJK JP"/>
              </a:defRPr>
            </a:pPr>
            <a:r>
              <a:rPr sz="2250" b="1">
                <a:solidFill>
                  <a:srgbClr val="247C7A"/>
                </a:solidFill>
                <a:latin typeface="Noto Sans CJK JP"/>
                <a:ea typeface="Noto Sans CJK JP"/>
                <a:cs typeface="Noto Sans CJK JP"/>
              </a:rPr>
              <a:t>比較</a:t>
            </a:r>
          </a:p>
        </p:txBody>
      </p:sp>
      <p:sp>
        <p:nvSpPr>
          <p:cNvPr id="17" name="初期条件や設定を変え、結果を説明する。">
            <a:extLst>
              <a:ext uri="{FF2B5EF4-FFF2-40B4-BE49-F238E27FC236}">
                <a16:creationId id="{CC731B01-2F0D-40EC-8017-13B6055234D7}"/>
              </a:ext>
            </a:extLst>
          </p:cNvPr>
          <p:cNvSpPr>
            <a:spLocks noGrp="1"/>
          </p:cNvSpPr>
          <p:nvPr/>
        </p:nvSpPr>
        <p:spPr>
          <a:xfrm>
            <a:off x="6991350" y="4953000"/>
            <a:ext cx="4562475" cy="7429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初期条件や設定を変え、結果を説明する。</a:t>
            </a:r>
          </a:p>
        </p:txBody>
      </p:sp>
    </p:spTree>
    <p:extLst>
      <p:ext uri="{BB962C8B-B14F-4D97-AF65-F5344CB8AC3E}">
        <p14:creationId val="1276500212"/>
      </p:ext>
    </p:extLst>
  </p:cSld>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7F5EF"/>
        </a:solidFill>
      </p:bgPr>
    </p:bg>
    <p:spTree>
      <p:nvGrpSpPr>
        <p:cNvPr id="1" name=""/>
        <p:cNvGrpSpPr/>
        <p:nvPr/>
      </p:nvGrpSpPr>
      <p:grpSpPr>
        <a:xfrm/>
      </p:grpSpPr>
      <p:sp>
        <p:nvSpPr>
          <p:cNvPr id="14" name="学び方と計画">
            <a:extLst>
              <a:ext uri="{FF2B5EF4-FFF2-40B4-BE49-F238E27FC236}">
                <a16:creationId id="{D50714B7-25E8-43C5-AC6A-2E49C4FCAA9E}"/>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学び方と計画</a:t>
            </a:r>
          </a:p>
        </p:txBody>
      </p:sp>
      <p:sp>
        <p:nvSpPr>
          <p:cNvPr id="2" name="学習に使う環境">
            <a:extLst>
              <a:ext uri="{FF2B5EF4-FFF2-40B4-BE49-F238E27FC236}">
                <a16:creationId id="{FC6BED47-9991-4E6F-95B7-B62794F5217F}"/>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学習に使う環境</a:t>
            </a:r>
          </a:p>
        </p:txBody>
      </p:sp>
      <p:sp>
        <p:nvSpPr>
          <p:cNvPr id="3" name="目的に合わせて、Colabと研究室のPCを使い分ける">
            <a:extLst>
              <a:ext uri="{FF2B5EF4-FFF2-40B4-BE49-F238E27FC236}">
                <a16:creationId id="{E85C773A-75B5-413F-AA26-BDBB9806B574}"/>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目的に合わせて、Colabと研究室のPCを使い分ける</a:t>
            </a:r>
          </a:p>
        </p:txBody>
      </p:sp>
      <p:sp>
        <p:nvSpPr>
          <p:cNvPr id="4" name="12"/>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15</a:t>
            </a:r>
          </a:p>
        </p:txBody>
      </p:sp>
      <p:pic>
        <p:nvPicPr>
          <p:cNvPr id="18" name=""/>
          <p:cNvPicPr>
            <a:picLocks noChangeAspect="1"/>
          </p:cNvPicPr>
          <p:nvPr/>
        </p:nvPicPr>
        <p:blipFill>
          <a:blip r:embed="R927999376d9a40e6"/>
          <a:stretch/>
        </p:blipFill>
        <p:spPr>
          <a:xfrm>
            <a:off x="609600" y="2346472"/>
            <a:ext cx="3762375" cy="2641306"/>
          </a:xfrm>
          <a:prstGeom prst="rect">
            <a:avLst/>
          </a:prstGeom>
        </p:spPr>
      </p:pic>
      <p:sp>
        <p:nvSpPr>
          <p:cNvPr id="6" name="画面は操作イメージ">
            <a:extLst>
              <a:ext uri="{FF2B5EF4-FFF2-40B4-BE49-F238E27FC236}">
                <a16:creationId id="{C986BE41-6415-4301-9F86-6567798E74A8}"/>
              </a:ext>
            </a:extLst>
          </p:cNvPr>
          <p:cNvSpPr>
            <a:spLocks noGrp="1"/>
          </p:cNvSpPr>
          <p:nvPr/>
        </p:nvSpPr>
        <p:spPr>
          <a:xfrm>
            <a:off x="657225" y="4895850"/>
            <a:ext cx="3762375" cy="276225"/>
          </a:xfrm>
          <a:prstGeom prst="rect">
            <a:avLst/>
          </a:prstGeom>
          <a:noFill/>
          <a:ln w="0">
            <a:noFill/>
          </a:ln>
        </p:spPr>
        <p:txBody>
          <a:bodyPr wrap="square" lIns="0" tIns="0" rIns="0" bIns="0" anchor="t">
            <a:noAutofit/>
          </a:bodyPr>
          <a:lstStyle/>
          <a:p>
            <a:pPr algn="ct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画面は操作イメージ</a:t>
            </a:r>
          </a:p>
        </p:txBody>
      </p:sp>
      <p:sp>
        <p:nvSpPr>
          <p:cNvPr id="7" name="コード・説明・結果を&#10;一つのNotebookに残す。">
            <a:extLst>
              <a:ext uri="{FF2B5EF4-FFF2-40B4-BE49-F238E27FC236}">
                <a16:creationId id="{D9E543B5-02ED-41D0-91C1-680526806AD9}"/>
              </a:ext>
            </a:extLst>
          </p:cNvPr>
          <p:cNvSpPr>
            <a:spLocks noGrp="1"/>
          </p:cNvSpPr>
          <p:nvPr/>
        </p:nvSpPr>
        <p:spPr>
          <a:xfrm>
            <a:off x="657225" y="5276850"/>
            <a:ext cx="4019550" cy="771525"/>
          </a:xfrm>
          <a:prstGeom prst="rect">
            <a:avLst/>
          </a:prstGeom>
          <a:noFill/>
          <a:ln w="0">
            <a:noFill/>
          </a:ln>
        </p:spPr>
        <p:txBody>
          <a:bodyPr wrap="square" lIns="0" tIns="0" rIns="0" bIns="0" anchor="t">
            <a:noAutofit/>
          </a:bodyPr>
          <a:lstStyle/>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コード・説明・結果を</a:t>
            </a:r>
          </a:p>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一つのNotebookに残す。</a:t>
            </a:r>
          </a:p>
        </p:txBody>
      </p:sp>
      <p:sp>
        <p:nvSpPr>
          <p:cNvPr id="8" name="Google Colab">
            <a:extLst>
              <a:ext uri="{FF2B5EF4-FFF2-40B4-BE49-F238E27FC236}">
                <a16:creationId id="{78018789-B0B9-4577-BC01-C42C47E07D5B}"/>
              </a:ext>
            </a:extLst>
          </p:cNvPr>
          <p:cNvSpPr>
            <a:spLocks noGrp="1"/>
          </p:cNvSpPr>
          <p:nvPr/>
        </p:nvSpPr>
        <p:spPr>
          <a:xfrm>
            <a:off x="5181600" y="2066925"/>
            <a:ext cx="6381750"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Google Colab</a:t>
            </a:r>
          </a:p>
        </p:txBody>
      </p:sp>
      <p:sp>
        <p:nvSpPr>
          <p:cNvPr id="9" name="個人のPython学習とデータ分析。&#10;自分のコピーに、変更と">
            <a:extLst>
              <a:ext uri="{FF2B5EF4-FFF2-40B4-BE49-F238E27FC236}">
                <a16:creationId id="{D80519FA-8B6F-4A7C-95BF-62E9E9C994CA}"/>
              </a:ext>
            </a:extLst>
          </p:cNvPr>
          <p:cNvSpPr>
            <a:spLocks noGrp="1"/>
          </p:cNvSpPr>
          <p:nvPr/>
        </p:nvSpPr>
        <p:spPr>
          <a:xfrm>
            <a:off x="5181600" y="2533650"/>
            <a:ext cx="6381750"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個人のPython学習とデータ分析。</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自分のコピーに、変更と考察を残す。</a:t>
            </a:r>
          </a:p>
        </p:txBody>
      </p:sp>
      <p:sp>
        <p:nvSpPr>
          <p:cNvPr id="10" name="MuJoCo">
            <a:extLst>
              <a:ext uri="{FF2B5EF4-FFF2-40B4-BE49-F238E27FC236}">
                <a16:creationId id="{AEAC89FB-052B-4592-A9F2-C63095D6E4A1}"/>
              </a:ext>
            </a:extLst>
          </p:cNvPr>
          <p:cNvSpPr>
            <a:spLocks noGrp="1"/>
          </p:cNvSpPr>
          <p:nvPr/>
        </p:nvSpPr>
        <p:spPr>
          <a:xfrm>
            <a:off x="5181600" y="3552825"/>
            <a:ext cx="6381750"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MuJoCo</a:t>
            </a:r>
          </a:p>
        </p:txBody>
      </p:sp>
      <p:sp>
        <p:nvSpPr>
          <p:cNvPr id="11" name="物理モデルと制御の動きを確認する。&#10;条件を変え、状態や入力を">
            <a:extLst>
              <a:ext uri="{FF2B5EF4-FFF2-40B4-BE49-F238E27FC236}">
                <a16:creationId id="{017353AD-A356-463C-97AA-7177A07FD2E4}"/>
              </a:ext>
            </a:extLst>
          </p:cNvPr>
          <p:cNvSpPr>
            <a:spLocks noGrp="1"/>
          </p:cNvSpPr>
          <p:nvPr/>
        </p:nvSpPr>
        <p:spPr>
          <a:xfrm>
            <a:off x="5181600" y="4019550"/>
            <a:ext cx="6381750"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物理モデルと制御の動きを確認する。</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条件を変え、状態や入力を記録する。</a:t>
            </a:r>
          </a:p>
        </p:txBody>
      </p:sp>
      <p:sp>
        <p:nvSpPr>
          <p:cNvPr id="12" name="研究室のPC">
            <a:extLst>
              <a:ext uri="{FF2B5EF4-FFF2-40B4-BE49-F238E27FC236}">
                <a16:creationId id="{45DA1418-9B8F-40BE-AD76-B9F94DC947A5}"/>
              </a:ext>
            </a:extLst>
          </p:cNvPr>
          <p:cNvSpPr>
            <a:spLocks noGrp="1"/>
          </p:cNvSpPr>
          <p:nvPr/>
        </p:nvSpPr>
        <p:spPr>
          <a:xfrm>
            <a:off x="5181600" y="5038725"/>
            <a:ext cx="6381750"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研究室のPC</a:t>
            </a:r>
          </a:p>
        </p:txBody>
      </p:sp>
      <p:sp>
        <p:nvSpPr>
          <p:cNvPr id="13" name="必要な回に、ローカルの仮想環境を操作。&#10;使い方と保存場所を確">
            <a:extLst>
              <a:ext uri="{FF2B5EF4-FFF2-40B4-BE49-F238E27FC236}">
                <a16:creationId id="{AD72791C-4546-4D33-8220-62B50DD446F3}"/>
              </a:ext>
            </a:extLst>
          </p:cNvPr>
          <p:cNvSpPr>
            <a:spLocks noGrp="1"/>
          </p:cNvSpPr>
          <p:nvPr/>
        </p:nvSpPr>
        <p:spPr>
          <a:xfrm>
            <a:off x="5181600" y="5505450"/>
            <a:ext cx="6381750"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必要な回に、ローカルの仮想環境を操作。</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使い方と保存場所を確認してから作業する。</a:t>
            </a:r>
          </a:p>
        </p:txBody>
      </p:sp>
    </p:spTree>
    <p:extLst>
      <p:ext uri="{BB962C8B-B14F-4D97-AF65-F5344CB8AC3E}">
        <p14:creationId val="526373358"/>
      </p:ext>
    </p:extLst>
  </p:cSld>
</p:sld>
</file>

<file path=ppt/slides/slide16.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6" name="学習計画">
            <a:extLst>
              <a:ext uri="{FF2B5EF4-FFF2-40B4-BE49-F238E27FC236}">
                <a16:creationId id="{F40993F6-6387-41B8-8395-57148570AD5B}"/>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学習計画</a:t>
            </a:r>
          </a:p>
        </p:txBody>
      </p:sp>
      <p:sp>
        <p:nvSpPr>
          <p:cNvPr id="2" name="前半：Pythonと倒立振子の制御">
            <a:extLst>
              <a:ext uri="{FF2B5EF4-FFF2-40B4-BE49-F238E27FC236}">
                <a16:creationId id="{EFC9A8FE-FDF8-481F-8EB4-45AD77646DE8}"/>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前半：Pythonと倒立振子の制御</a:t>
            </a:r>
          </a:p>
        </p:txBody>
      </p:sp>
      <p:sp>
        <p:nvSpPr>
          <p:cNvPr id="3" name="第1–8回の予定。各回180分。具体的な日付は別途案内。">
            <a:extLst>
              <a:ext uri="{FF2B5EF4-FFF2-40B4-BE49-F238E27FC236}">
                <a16:creationId id="{C0D6F02B-3B98-4407-97FC-D53B942FD891}"/>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第1–8回の予定。各回180分。具体的な日付は別途案内。</a:t>
            </a:r>
          </a:p>
        </p:txBody>
      </p:sp>
      <p:sp>
        <p:nvSpPr>
          <p:cNvPr id="4" name="13"/>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16</a:t>
            </a:r>
          </a:p>
        </p:txBody>
      </p:sp>
      <p:graphicFrame>
        <p:nvGraphicFramePr>
          <p:cNvPr id="10" name="table-shape-10"/>
          <p:cNvGraphicFramePr>
            <a:graphicFrameLocks noGrp="1"/>
          </p:cNvGraphicFramePr>
          <p:nvPr/>
        </p:nvGraphicFramePr>
        <p:xfrm>
          <a:off x="609600" y="1981200"/>
          <a:ext cx="10972800" cy="4029075"/>
        </p:xfrm>
        <a:graphic>
          <a:graphicData uri="http://schemas.openxmlformats.org/drawingml/2006/table">
            <a:tbl>
              <a:tblPr firstRow="1" bandRow="0">
                <a:tableStyleId>{5C22544A-7EE6-4342-B048-85BDC9FD1C3A}</a:tableStyleId>
              </a:tblPr>
              <a:tblGrid>
                <a:gridCol w="609601"/>
                <a:gridCol w="5381624"/>
                <a:gridCol w="3190875"/>
                <a:gridCol w="1790700"/>
              </a:tblGrid>
              <a:tr h="447675">
                <a:tc>
                  <a:txBody>
                    <a:bodyPr/>
                    <a:lstStyle/>
                    <a:p>
                      <a:pPr/>
                      <a:r>
                        <a:rPr lang="ja-JP" sz="1720" b="1">
                          <a:solidFill>
                            <a:srgbClr val="FFFFFF"/>
                          </a:solidFill>
                          <a:latin typeface="Noto Sans CJK JP"/>
                          <a:ea typeface="Noto Sans CJK JP"/>
                          <a:cs typeface="Noto Sans CJK JP"/>
                        </a:rPr>
                        <a:t>回</a:t>
                      </a:r>
                    </a:p>
                  </a:txBody>
                  <a:tcPr anchor="ctr" marL="76200" marR="76200" marT="70929" marB="70929">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学習内容</a:t>
                      </a:r>
                    </a:p>
                  </a:txBody>
                  <a:tcPr anchor="ctr" marL="76200" marR="76200" marT="70929" marB="70929">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残すもの</a:t>
                      </a:r>
                    </a:p>
                  </a:txBody>
                  <a:tcPr anchor="ctr" marL="76200" marR="76200" marT="70929" marB="70929">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発表</a:t>
                      </a:r>
                    </a:p>
                  </a:txBody>
                  <a:tcPr anchor="ctr" marL="76200" marR="76200" marT="70929" marB="70929">
                    <a:lnL>
                      <a:noFill/>
                    </a:lnL>
                    <a:lnR>
                      <a:noFill/>
                    </a:lnR>
                    <a:lnT>
                      <a:noFill/>
                    </a:lnT>
                    <a:lnB w="6668">
                      <a:solidFill>
                        <a:srgbClr val="C8D4D0"/>
                      </a:solidFill>
                      <a:prstDash val="solid"/>
                    </a:lnB>
                    <a:solidFill>
                      <a:srgbClr val="214C55"/>
                    </a:solidFill>
                  </a:tcPr>
                </a:tc>
              </a:tr>
              <a:tr h="447675">
                <a:tc>
                  <a:txBody>
                    <a:bodyPr/>
                    <a:lstStyle/>
                    <a:p>
                      <a:pPr/>
                      <a:r>
                        <a:rPr lang="ja-JP" sz="1720" b="0">
                          <a:solidFill>
                            <a:srgbClr val="17323B"/>
                          </a:solidFill>
                          <a:latin typeface="Noto Sans CJK JP"/>
                          <a:ea typeface="Noto Sans CJK JP"/>
                          <a:cs typeface="Noto Sans CJK JP"/>
                        </a:rPr>
                        <a:t>1</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Colab・Python基礎・ベクトルと行列</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個人のNotebook</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なし</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2</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Pythonの基礎・データ処理・描画</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コードとグラフ</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なし</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3</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MuJoCoと倒立振子の状態・入力</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動作の観察記録</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短い発表</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4</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初期条件と、制御なしの応答</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条件と応答グラフ</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まとめ</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5</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フィードバックとパラメータ調整</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制御の実行結果</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短い発表</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6</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モデルと制御方法のつながり</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方法と結果の説明</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短い発表</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7</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設定や外乱を変えた比較</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比較条件と結果</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短い発表</a:t>
                      </a:r>
                    </a:p>
                  </a:txBody>
                  <a:tcPr anchor="ctr" marL="76200" marR="76200" marT="70929" marB="70929">
                    <a:lnL>
                      <a:noFill/>
                    </a:lnL>
                    <a:lnR>
                      <a:noFill/>
                    </a:lnR>
                    <a:lnT>
                      <a:noFill/>
                    </a:lnT>
                    <a:lnB w="6668">
                      <a:solidFill>
                        <a:srgbClr val="C8D4D0"/>
                      </a:solidFill>
                      <a:prstDash val="solid"/>
                    </a:lnB>
                    <a:solidFill>
                      <a:srgbClr val="F7F5EF"/>
                    </a:solidFill>
                  </a:tcPr>
                </a:tc>
              </a:tr>
              <a:tr h="447675">
                <a:tc>
                  <a:txBody>
                    <a:bodyPr/>
                    <a:lstStyle/>
                    <a:p>
                      <a:pPr/>
                      <a:r>
                        <a:rPr lang="ja-JP" sz="1720" b="0">
                          <a:solidFill>
                            <a:srgbClr val="17323B"/>
                          </a:solidFill>
                          <a:latin typeface="Noto Sans CJK JP"/>
                          <a:ea typeface="Noto Sans CJK JP"/>
                          <a:cs typeface="Noto Sans CJK JP"/>
                        </a:rPr>
                        <a:t>8</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倒立振子の制御を振り返る</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再現コードと考察</a:t>
                      </a:r>
                    </a:p>
                  </a:txBody>
                  <a:tcPr anchor="ctr" marL="76200" marR="76200" marT="70929" marB="70929">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まとめ</a:t>
                      </a:r>
                    </a:p>
                  </a:txBody>
                  <a:tcPr anchor="ctr" marL="76200" marR="76200" marT="70929" marB="70929">
                    <a:lnL>
                      <a:noFill/>
                    </a:lnL>
                    <a:lnR>
                      <a:noFill/>
                    </a:lnR>
                    <a:lnT>
                      <a:noFill/>
                    </a:lnT>
                    <a:lnB w="6668">
                      <a:solidFill>
                        <a:srgbClr val="C8D4D0"/>
                      </a:solidFill>
                      <a:prstDash val="solid"/>
                    </a:lnB>
                    <a:solidFill>
                      <a:srgbClr val="F7F5EF"/>
                    </a:solidFill>
                  </a:tcPr>
                </a:tc>
              </a:tr>
            </a:tbl>
          </a:graphicData>
        </a:graphic>
      </p:graphicFrame>
    </p:spTree>
    <p:extLst>
      <p:ext uri="{BB962C8B-B14F-4D97-AF65-F5344CB8AC3E}">
        <p14:creationId val="391264392"/>
      </p:ext>
    </p:extLst>
  </p:cSld>
</p:sld>
</file>

<file path=ppt/slides/slide17.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7" name="学習計画">
            <a:extLst>
              <a:ext uri="{FF2B5EF4-FFF2-40B4-BE49-F238E27FC236}">
                <a16:creationId id="{E0001F6C-0D6F-429F-81A5-4F3AAC9C4C1C}"/>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学習計画</a:t>
            </a:r>
          </a:p>
        </p:txBody>
      </p:sp>
      <p:sp>
        <p:nvSpPr>
          <p:cNvPr id="2" name="後半：研究への参加とAIプロジェクト"/>
          <p:cNvSpPr/>
          <p:nvPr/>
        </p:nvSpPr>
        <p:spPr>
          <a:xfrm>
            <a:off x="609600" y="657225"/>
            <a:ext cx="10972800" cy="619125"/>
          </a:xfrm>
          <a:prstGeom prst="rect">
            <a:avLst/>
          </a:prstGeom>
          <a:noFill/>
          <a:ln>
            <a:noFill/>
          </a:ln>
        </p:spPr>
        <p:txBody>
          <a:bodyPr wrap="none" lIns="0" tIns="0" rIns="0" bIns="0" anchor="t" anchorCtr="0">
            <a:noAutofit/>
          </a:bodyPr>
          <a:lstStyle/>
          <a:p>
            <a:pPr algn="l"/>
            <a:r>
              <a:rPr lang="ja-JP" sz="3220" b="1" dirty="0">
                <a:solidFill>
                  <a:srgbClr val="17323B"/>
                </a:solidFill>
                <a:latin typeface="Noto Sans CJK JP"/>
                <a:ea typeface="Noto Sans CJK JP"/>
                <a:cs typeface="Noto Sans CJK JP"/>
              </a:rPr>
              <a:t>後半：業界研究会とAIプロジェクト</a:t>
            </a:r>
          </a:p>
        </p:txBody>
      </p:sp>
      <p:sp>
        <p:nvSpPr>
          <p:cNvPr id="3" name="第9–12回は先輩と研究。第13–15回はB3でAIの小課題"/>
          <p:cNvSpPr/>
          <p:nvPr/>
        </p:nvSpPr>
        <p:spPr>
          <a:xfrm>
            <a:off x="609600" y="1323975"/>
            <a:ext cx="10972800" cy="400050"/>
          </a:xfrm>
          <a:prstGeom prst="rect">
            <a:avLst/>
          </a:prstGeom>
          <a:noFill/>
          <a:ln>
            <a:noFill/>
          </a:ln>
        </p:spPr>
        <p:txBody>
          <a:bodyPr wrap="none" lIns="0" tIns="0" rIns="0" bIns="0" anchor="t" anchorCtr="0">
            <a:noAutofit/>
          </a:bodyPr>
          <a:lstStyle/>
          <a:p>
            <a:pPr algn="l"/>
            <a:r>
              <a:rPr lang="ja-JP" sz="1800" dirty="0">
                <a:solidFill>
                  <a:srgbClr val="5C6B6B"/>
                </a:solidFill>
                <a:latin typeface="Noto Sans CJK JP"/>
                <a:ea typeface="Noto Sans CJK JP"/>
                <a:cs typeface="Noto Sans CJK JP"/>
              </a:rPr>
              <a:t>第9–11回は研究会に参加。第12回は未定。第13–15回はAIの小課題。</a:t>
            </a:r>
          </a:p>
        </p:txBody>
      </p:sp>
      <p:sp>
        <p:nvSpPr>
          <p:cNvPr id="4" name="14"/>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17</a:t>
            </a:r>
          </a:p>
        </p:txBody>
      </p:sp>
      <p:sp>
        <p:nvSpPr>
          <p:cNvPr id="6" name="AI課題の例：既存の制御器から学習した方策を、元の制御器と比">
            <a:extLst>
              <a:ext uri="{FF2B5EF4-FFF2-40B4-BE49-F238E27FC236}">
                <a16:creationId id="{67768C45-053E-4E3B-B68C-BB4B2338B20F}"/>
              </a:ext>
            </a:extLst>
          </p:cNvPr>
          <p:cNvSpPr>
            <a:spLocks noGrp="1"/>
          </p:cNvSpPr>
          <p:nvPr/>
        </p:nvSpPr>
        <p:spPr>
          <a:xfrm>
            <a:off x="609600" y="5943600"/>
            <a:ext cx="10972800" cy="381000"/>
          </a:xfrm>
          <a:prstGeom prst="rect">
            <a:avLst/>
          </a:prstGeom>
          <a:noFill/>
          <a:ln w="0">
            <a:noFill/>
          </a:ln>
        </p:spPr>
        <p:txBody>
          <a:bodyPr wrap="square" lIns="0" tIns="0" rIns="0" bIns="0" anchor="t">
            <a:noAutofit/>
          </a:bodyPr>
          <a:lstStyle/>
          <a:p>
            <a:pPr algn="l">
              <a:lnSpc>
                <a:spcPct val="118000"/>
              </a:lnSpc>
              <a:buNone/>
              <a:defRPr sz="1725" b="1">
                <a:solidFill>
                  <a:srgbClr val="247C7A"/>
                </a:solidFill>
                <a:latin typeface="Noto Sans CJK JP"/>
                <a:ea typeface="Noto Sans CJK JP"/>
                <a:cs typeface="Noto Sans CJK JP"/>
              </a:defRPr>
            </a:pPr>
            <a:r>
              <a:rPr sz="1725" b="1">
                <a:solidFill>
                  <a:srgbClr val="247C7A"/>
                </a:solidFill>
                <a:latin typeface="Noto Sans CJK JP"/>
                <a:ea typeface="Noto Sans CJK JP"/>
                <a:cs typeface="Noto Sans CJK JP"/>
              </a:rPr>
              <a:t>AI課題の例：既存の制御器から学習した方策を、元の制御器と比較する。</a:t>
            </a:r>
          </a:p>
        </p:txBody>
      </p:sp>
      <p:graphicFrame>
        <p:nvGraphicFramePr>
          <p:cNvPr id="11" name="table-shape-11"/>
          <p:cNvGraphicFramePr>
            <a:graphicFrameLocks noGrp="1"/>
          </p:cNvGraphicFramePr>
          <p:nvPr/>
        </p:nvGraphicFramePr>
        <p:xfrm>
          <a:off x="609600" y="1981200"/>
          <a:ext cx="10972800" cy="3733800"/>
        </p:xfrm>
        <a:graphic>
          <a:graphicData uri="http://schemas.openxmlformats.org/drawingml/2006/table">
            <a:tbl>
              <a:tblPr firstRow="1" bandRow="0">
                <a:tableStyleId>{5C22544A-7EE6-4342-B048-85BDC9FD1C3A}</a:tableStyleId>
              </a:tblPr>
              <a:tblGrid>
                <a:gridCol w="609601"/>
                <a:gridCol w="5381624"/>
                <a:gridCol w="3190875"/>
                <a:gridCol w="1790700"/>
              </a:tblGrid>
              <a:tr h="466725">
                <a:tc>
                  <a:txBody>
                    <a:bodyPr/>
                    <a:lstStyle/>
                    <a:p>
                      <a:pPr/>
                      <a:r>
                        <a:rPr lang="ja-JP" sz="1720" b="1">
                          <a:solidFill>
                            <a:srgbClr val="FFFFFF"/>
                          </a:solidFill>
                          <a:latin typeface="Noto Sans CJK JP"/>
                          <a:ea typeface="Noto Sans CJK JP"/>
                          <a:cs typeface="Noto Sans CJK JP"/>
                        </a:rPr>
                        <a:t>回</a:t>
                      </a:r>
                    </a:p>
                  </a:txBody>
                  <a:tcPr anchor="ctr" marL="76200" marR="76200" marT="76200" marB="76200">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取り組むこと</a:t>
                      </a:r>
                    </a:p>
                  </a:txBody>
                  <a:tcPr anchor="ctr" marL="76200" marR="76200" marT="76200" marB="76200">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残すもの</a:t>
                      </a:r>
                    </a:p>
                  </a:txBody>
                  <a:tcPr anchor="ctr" marL="76200" marR="76200" marT="76200" marB="76200">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発表</a:t>
                      </a:r>
                    </a:p>
                  </a:txBody>
                  <a:tcPr anchor="ctr" marL="76200" marR="76200" marT="76200" marB="76200">
                    <a:lnL>
                      <a:noFill/>
                    </a:lnL>
                    <a:lnR>
                      <a:noFill/>
                    </a:lnR>
                    <a:lnT>
                      <a:noFill/>
                    </a:lnT>
                    <a:lnB w="6668">
                      <a:solidFill>
                        <a:srgbClr val="C8D4D0"/>
                      </a:solidFill>
                      <a:prstDash val="solid"/>
                    </a:lnB>
                    <a:solidFill>
                      <a:srgbClr val="214C55"/>
                    </a:solidFill>
                  </a:tcPr>
                </a:tc>
              </a:tr>
              <a:tr h="466725">
                <a:tc>
                  <a:txBody>
                    <a:bodyPr/>
                    <a:lstStyle/>
                    <a:p>
                      <a:pPr/>
                      <a:r>
                        <a:rPr lang="ja-JP" sz="1720" b="0">
                          <a:solidFill>
                            <a:srgbClr val="17323B"/>
                          </a:solidFill>
                          <a:latin typeface="Noto Sans CJK JP"/>
                          <a:ea typeface="Noto Sans CJK JP"/>
                          <a:cs typeface="Noto Sans CJK JP"/>
                        </a:rPr>
                        <a:t>9</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業界研究会1に参加</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参加記録・質問メモ</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参加</a:t>
                      </a:r>
                    </a:p>
                  </a:txBody>
                  <a:tcPr anchor="ctr" marL="76200" marR="76200" marT="76200" marB="76200">
                    <a:lnL>
                      <a:noFill/>
                    </a:lnL>
                    <a:lnR>
                      <a:noFill/>
                    </a:lnR>
                    <a:lnT>
                      <a:noFill/>
                    </a:lnT>
                    <a:lnB w="6668">
                      <a:solidFill>
                        <a:srgbClr val="C8D4D0"/>
                      </a:solidFill>
                      <a:prstDash val="solid"/>
                    </a:lnB>
                    <a:solidFill>
                      <a:srgbClr val="F7F5EF"/>
                    </a:solidFill>
                  </a:tcPr>
                </a:tc>
              </a:tr>
              <a:tr h="466725">
                <a:tc>
                  <a:txBody>
                    <a:bodyPr/>
                    <a:lstStyle/>
                    <a:p>
                      <a:pPr/>
                      <a:r>
                        <a:rPr lang="ja-JP" sz="1720" b="0">
                          <a:solidFill>
                            <a:srgbClr val="17323B"/>
                          </a:solidFill>
                          <a:latin typeface="Noto Sans CJK JP"/>
                          <a:ea typeface="Noto Sans CJK JP"/>
                          <a:cs typeface="Noto Sans CJK JP"/>
                        </a:rPr>
                        <a:t>10</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業界研究会2に参加</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参加記録・質問メモ</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参加</a:t>
                      </a:r>
                    </a:p>
                  </a:txBody>
                  <a:tcPr anchor="ctr" marL="76200" marR="76200" marT="76200" marB="76200">
                    <a:lnL>
                      <a:noFill/>
                    </a:lnL>
                    <a:lnR>
                      <a:noFill/>
                    </a:lnR>
                    <a:lnT>
                      <a:noFill/>
                    </a:lnT>
                    <a:lnB w="6668">
                      <a:solidFill>
                        <a:srgbClr val="C8D4D0"/>
                      </a:solidFill>
                      <a:prstDash val="solid"/>
                    </a:lnB>
                    <a:solidFill>
                      <a:srgbClr val="F7F5EF"/>
                    </a:solidFill>
                  </a:tcPr>
                </a:tc>
              </a:tr>
              <a:tr h="466725">
                <a:tc>
                  <a:txBody>
                    <a:bodyPr/>
                    <a:lstStyle/>
                    <a:p>
                      <a:pPr/>
                      <a:r>
                        <a:rPr lang="ja-JP" sz="1720" b="0">
                          <a:solidFill>
                            <a:srgbClr val="17323B"/>
                          </a:solidFill>
                          <a:latin typeface="Noto Sans CJK JP"/>
                          <a:ea typeface="Noto Sans CJK JP"/>
                          <a:cs typeface="Noto Sans CJK JP"/>
                        </a:rPr>
                        <a:t>11</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業界研究会3に参加</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参加記録・質問メモ</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参加</a:t>
                      </a:r>
                    </a:p>
                  </a:txBody>
                  <a:tcPr anchor="ctr" marL="76200" marR="76200" marT="76200" marB="76200">
                    <a:lnL>
                      <a:noFill/>
                    </a:lnL>
                    <a:lnR>
                      <a:noFill/>
                    </a:lnR>
                    <a:lnT>
                      <a:noFill/>
                    </a:lnT>
                    <a:lnB w="6668">
                      <a:solidFill>
                        <a:srgbClr val="C8D4D0"/>
                      </a:solidFill>
                      <a:prstDash val="solid"/>
                    </a:lnB>
                    <a:solidFill>
                      <a:srgbClr val="F7F5EF"/>
                    </a:solidFill>
                  </a:tcPr>
                </a:tc>
              </a:tr>
              <a:tr h="466725">
                <a:tc>
                  <a:txBody>
                    <a:bodyPr/>
                    <a:lstStyle/>
                    <a:p>
                      <a:pPr/>
                      <a:r>
                        <a:rPr lang="ja-JP" sz="1720" b="0">
                          <a:solidFill>
                            <a:srgbClr val="17323B"/>
                          </a:solidFill>
                          <a:latin typeface="Noto Sans CJK JP"/>
                          <a:ea typeface="Noto Sans CJK JP"/>
                          <a:cs typeface="Noto Sans CJK JP"/>
                        </a:rPr>
                        <a:t>12</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内容は別途案内</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未定</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未定</a:t>
                      </a:r>
                    </a:p>
                  </a:txBody>
                  <a:tcPr anchor="ctr" marL="76200" marR="76200" marT="76200" marB="76200">
                    <a:lnL>
                      <a:noFill/>
                    </a:lnL>
                    <a:lnR>
                      <a:noFill/>
                    </a:lnR>
                    <a:lnT>
                      <a:noFill/>
                    </a:lnT>
                    <a:lnB w="6668">
                      <a:solidFill>
                        <a:srgbClr val="C8D4D0"/>
                      </a:solidFill>
                      <a:prstDash val="solid"/>
                    </a:lnB>
                    <a:solidFill>
                      <a:srgbClr val="F7F5EF"/>
                    </a:solidFill>
                  </a:tcPr>
                </a:tc>
              </a:tr>
              <a:tr h="466725">
                <a:tc>
                  <a:txBody>
                    <a:bodyPr/>
                    <a:lstStyle/>
                    <a:p>
                      <a:pPr/>
                      <a:r>
                        <a:rPr lang="ja-JP" sz="1720" b="0">
                          <a:solidFill>
                            <a:srgbClr val="17323B"/>
                          </a:solidFill>
                          <a:latin typeface="Noto Sans CJK JP"/>
                          <a:ea typeface="Noto Sans CJK JP"/>
                          <a:cs typeface="Noto Sans CJK JP"/>
                        </a:rPr>
                        <a:t>13</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AI課題を決め、比較の基準を実行する</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問いと基準の結果</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短い発表</a:t>
                      </a:r>
                    </a:p>
                  </a:txBody>
                  <a:tcPr anchor="ctr" marL="76200" marR="76200" marT="76200" marB="76200">
                    <a:lnL>
                      <a:noFill/>
                    </a:lnL>
                    <a:lnR>
                      <a:noFill/>
                    </a:lnR>
                    <a:lnT>
                      <a:noFill/>
                    </a:lnT>
                    <a:lnB w="6668">
                      <a:solidFill>
                        <a:srgbClr val="C8D4D0"/>
                      </a:solidFill>
                      <a:prstDash val="solid"/>
                    </a:lnB>
                    <a:solidFill>
                      <a:srgbClr val="F7F5EF"/>
                    </a:solidFill>
                  </a:tcPr>
                </a:tc>
              </a:tr>
              <a:tr h="466725">
                <a:tc>
                  <a:txBody>
                    <a:bodyPr/>
                    <a:lstStyle/>
                    <a:p>
                      <a:pPr/>
                      <a:r>
                        <a:rPr lang="ja-JP" sz="1720" b="0">
                          <a:solidFill>
                            <a:srgbClr val="17323B"/>
                          </a:solidFill>
                          <a:latin typeface="Noto Sans CJK JP"/>
                          <a:ea typeface="Noto Sans CJK JP"/>
                          <a:cs typeface="Noto Sans CJK JP"/>
                        </a:rPr>
                        <a:t>14</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一つの要因を変え、結果を比較する</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AIと基準の比較</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短い発表</a:t>
                      </a:r>
                    </a:p>
                  </a:txBody>
                  <a:tcPr anchor="ctr" marL="76200" marR="76200" marT="76200" marB="76200">
                    <a:lnL>
                      <a:noFill/>
                    </a:lnL>
                    <a:lnR>
                      <a:noFill/>
                    </a:lnR>
                    <a:lnT>
                      <a:noFill/>
                    </a:lnT>
                    <a:lnB w="6668">
                      <a:solidFill>
                        <a:srgbClr val="C8D4D0"/>
                      </a:solidFill>
                      <a:prstDash val="solid"/>
                    </a:lnB>
                    <a:solidFill>
                      <a:srgbClr val="F7F5EF"/>
                    </a:solidFill>
                  </a:tcPr>
                </a:tc>
              </a:tr>
              <a:tr h="466725">
                <a:tc>
                  <a:txBody>
                    <a:bodyPr/>
                    <a:lstStyle/>
                    <a:p>
                      <a:pPr/>
                      <a:r>
                        <a:rPr lang="ja-JP" sz="1720" b="0">
                          <a:solidFill>
                            <a:srgbClr val="17323B"/>
                          </a:solidFill>
                          <a:latin typeface="Noto Sans CJK JP"/>
                          <a:ea typeface="Noto Sans CJK JP"/>
                          <a:cs typeface="Noto Sans CJK JP"/>
                        </a:rPr>
                        <a:t>15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AI課題と15回の学びをまとめる</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最終報告とコード</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まとめ</a:t>
                      </a:r>
                    </a:p>
                  </a:txBody>
                  <a:tcPr anchor="ctr" marL="76200" marR="76200" marT="76200" marB="76200">
                    <a:lnL>
                      <a:noFill/>
                    </a:lnL>
                    <a:lnR>
                      <a:noFill/>
                    </a:lnR>
                    <a:lnT>
                      <a:noFill/>
                    </a:lnT>
                    <a:lnB w="6668">
                      <a:solidFill>
                        <a:srgbClr val="C8D4D0"/>
                      </a:solidFill>
                      <a:prstDash val="solid"/>
                    </a:lnB>
                    <a:solidFill>
                      <a:srgbClr val="F7F5EF"/>
                    </a:solidFill>
                  </a:tcPr>
                </a:tc>
              </a:tr>
            </a:tbl>
          </a:graphicData>
        </a:graphic>
      </p:graphicFrame>
    </p:spTree>
    <p:extLst>
      <p:ext uri="{BB962C8B-B14F-4D97-AF65-F5344CB8AC3E}">
        <p14:creationId val="1719926748"/>
      </p:ext>
    </p:extLst>
  </p:cSld>
</p:sld>
</file>

<file path=ppt/slides/slide18.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8" name="学び方と計画">
            <a:extLst>
              <a:ext uri="{FF2B5EF4-FFF2-40B4-BE49-F238E27FC236}">
                <a16:creationId id="{43861585-08D1-46FE-8C03-10F1A3F7613A}"/>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学び方と計画</a:t>
            </a:r>
          </a:p>
        </p:txBody>
      </p:sp>
      <p:sp>
        <p:nvSpPr>
          <p:cNvPr id="2" name="毎週の進め方">
            <a:extLst>
              <a:ext uri="{FF2B5EF4-FFF2-40B4-BE49-F238E27FC236}">
                <a16:creationId id="{E951F251-530F-4307-B87F-544524D9767B}"/>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毎週の進め方</a:t>
            </a:r>
          </a:p>
        </p:txBody>
      </p:sp>
      <p:sp>
        <p:nvSpPr>
          <p:cNvPr id="3" name="資料を読み、自分で試し、結果を持って議論する">
            <a:extLst>
              <a:ext uri="{FF2B5EF4-FFF2-40B4-BE49-F238E27FC236}">
                <a16:creationId id="{E29CCDBD-0F33-49B6-9552-02AB622D3D31}"/>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資料を読み、自分で試し、結果を持って議論する</a:t>
            </a:r>
          </a:p>
        </p:txBody>
      </p:sp>
      <p:sp>
        <p:nvSpPr>
          <p:cNvPr id="4" name="15"/>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18</a:t>
            </a:r>
          </a:p>
        </p:txBody>
      </p:sp>
      <p:sp>
        <p:nvSpPr>
          <p:cNvPr id="5" name="授業前">
            <a:extLst>
              <a:ext uri="{FF2B5EF4-FFF2-40B4-BE49-F238E27FC236}">
                <a16:creationId id="{84083445-6C7E-4995-87B3-121FC3F43A13}"/>
              </a:ext>
            </a:extLst>
          </p:cNvPr>
          <p:cNvSpPr>
            <a:spLocks noGrp="1"/>
          </p:cNvSpPr>
          <p:nvPr/>
        </p:nvSpPr>
        <p:spPr>
          <a:xfrm>
            <a:off x="609600" y="2085975"/>
            <a:ext cx="1543050" cy="476250"/>
          </a:xfrm>
          <a:prstGeom prst="rect">
            <a:avLst/>
          </a:prstGeom>
          <a:noFill/>
          <a:ln w="0">
            <a:noFill/>
          </a:ln>
        </p:spPr>
        <p:txBody>
          <a:bodyPr wrap="square" lIns="0" tIns="0" rIns="0" bIns="0" anchor="t">
            <a:noAutofit/>
          </a:bodyPr>
          <a:lstStyle/>
          <a:p>
            <a:pPr algn="l">
              <a:lnSpc>
                <a:spcPct val="118000"/>
              </a:lnSpc>
              <a:buNone/>
              <a:defRPr sz="2325" b="1">
                <a:solidFill>
                  <a:srgbClr val="C9633D"/>
                </a:solidFill>
                <a:latin typeface="Noto Sans CJK JP"/>
                <a:ea typeface="Noto Sans CJK JP"/>
                <a:cs typeface="Noto Sans CJK JP"/>
              </a:defRPr>
            </a:pPr>
            <a:r>
              <a:rPr sz="2325" b="1">
                <a:solidFill>
                  <a:srgbClr val="C9633D"/>
                </a:solidFill>
                <a:latin typeface="Noto Sans CJK JP"/>
                <a:ea typeface="Noto Sans CJK JP"/>
                <a:cs typeface="Noto Sans CJK JP"/>
              </a:rPr>
              <a:t>授業前</a:t>
            </a:r>
          </a:p>
        </p:txBody>
      </p:sp>
      <p:sp>
        <p:nvSpPr>
          <p:cNvPr id="6" name="資料を読み、まず試す">
            <a:extLst>
              <a:ext uri="{FF2B5EF4-FFF2-40B4-BE49-F238E27FC236}">
                <a16:creationId id="{629D6F56-FEB8-4260-AE97-E275E447BA9B}"/>
              </a:ext>
            </a:extLst>
          </p:cNvPr>
          <p:cNvSpPr>
            <a:spLocks noGrp="1"/>
          </p:cNvSpPr>
          <p:nvPr/>
        </p:nvSpPr>
        <p:spPr>
          <a:xfrm>
            <a:off x="2438400" y="2085975"/>
            <a:ext cx="9144000" cy="409575"/>
          </a:xfrm>
          <a:prstGeom prst="rect">
            <a:avLst/>
          </a:prstGeom>
          <a:noFill/>
          <a:ln w="0">
            <a:noFill/>
          </a:ln>
        </p:spPr>
        <p:txBody>
          <a:bodyPr wrap="square" lIns="0" tIns="0" rIns="0" bIns="0" anchor="t">
            <a:noAutofit/>
          </a:bodyPr>
          <a:lstStyle/>
          <a:p>
            <a:pPr algn="l">
              <a:lnSpc>
                <a:spcPct val="118000"/>
              </a:lnSpc>
              <a:buNone/>
              <a:defRPr sz="2250" b="1">
                <a:solidFill>
                  <a:srgbClr val="17323B"/>
                </a:solidFill>
                <a:latin typeface="Noto Sans CJK JP"/>
                <a:ea typeface="Noto Sans CJK JP"/>
                <a:cs typeface="Noto Sans CJK JP"/>
              </a:defRPr>
            </a:pPr>
            <a:r>
              <a:rPr sz="2250" b="1">
                <a:solidFill>
                  <a:srgbClr val="17323B"/>
                </a:solidFill>
                <a:latin typeface="Noto Sans CJK JP"/>
                <a:ea typeface="Noto Sans CJK JP"/>
                <a:cs typeface="Noto Sans CJK JP"/>
              </a:rPr>
              <a:t>資料を読み、まず試す</a:t>
            </a:r>
          </a:p>
        </p:txBody>
      </p:sp>
      <p:sp>
        <p:nvSpPr>
          <p:cNvPr id="7" name="動いたところ、止まったところ、調べたことを記録する。">
            <a:extLst>
              <a:ext uri="{FF2B5EF4-FFF2-40B4-BE49-F238E27FC236}">
                <a16:creationId id="{DD5647FF-3D6C-470A-B8C6-B8238E49A54E}"/>
              </a:ext>
            </a:extLst>
          </p:cNvPr>
          <p:cNvSpPr>
            <a:spLocks noGrp="1"/>
          </p:cNvSpPr>
          <p:nvPr/>
        </p:nvSpPr>
        <p:spPr>
          <a:xfrm>
            <a:off x="2438400" y="2562225"/>
            <a:ext cx="9096375" cy="609600"/>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動いたところ、止まったところ、調べたことを記録する。</a:t>
            </a:r>
          </a:p>
        </p:txBody>
      </p:sp>
      <p:sp>
        <p:nvSpPr>
          <p:cNvPr id="8" name="">
            <a:extLst>
              <a:ext uri="{FF2B5EF4-FFF2-40B4-BE49-F238E27FC236}">
                <a16:creationId id="{75635AA7-7B8C-4CC4-A7AE-BAA7D487D04E}"/>
              </a:ext>
            </a:extLst>
          </p:cNvPr>
          <p:cNvSpPr>
            <a:spLocks noGrp="1"/>
          </p:cNvSpPr>
          <p:nvPr/>
        </p:nvSpPr>
        <p:spPr>
          <a:xfrm>
            <a:off x="2438400" y="3086100"/>
            <a:ext cx="9144000" cy="9525"/>
          </a:xfrm>
          <a:prstGeom prst="rect">
            <a:avLst/>
          </a:prstGeom>
          <a:solidFill>
            <a:srgbClr val="C8D4D0"/>
          </a:solidFill>
          <a:ln w="0">
            <a:noFill/>
          </a:ln>
        </p:spPr>
      </p:sp>
      <p:sp>
        <p:nvSpPr>
          <p:cNvPr id="9" name="授業中">
            <a:extLst>
              <a:ext uri="{FF2B5EF4-FFF2-40B4-BE49-F238E27FC236}">
                <a16:creationId id="{5122EF1D-D495-46FB-9E20-956993C96BC6}"/>
              </a:ext>
            </a:extLst>
          </p:cNvPr>
          <p:cNvSpPr>
            <a:spLocks noGrp="1"/>
          </p:cNvSpPr>
          <p:nvPr/>
        </p:nvSpPr>
        <p:spPr>
          <a:xfrm>
            <a:off x="609600" y="3219450"/>
            <a:ext cx="1543050" cy="476250"/>
          </a:xfrm>
          <a:prstGeom prst="rect">
            <a:avLst/>
          </a:prstGeom>
          <a:noFill/>
          <a:ln w="0">
            <a:noFill/>
          </a:ln>
        </p:spPr>
        <p:txBody>
          <a:bodyPr wrap="square" lIns="0" tIns="0" rIns="0" bIns="0" anchor="t">
            <a:noAutofit/>
          </a:bodyPr>
          <a:lstStyle/>
          <a:p>
            <a:pPr algn="l">
              <a:lnSpc>
                <a:spcPct val="118000"/>
              </a:lnSpc>
              <a:buNone/>
              <a:defRPr sz="2325" b="1">
                <a:solidFill>
                  <a:srgbClr val="C9633D"/>
                </a:solidFill>
                <a:latin typeface="Noto Sans CJK JP"/>
                <a:ea typeface="Noto Sans CJK JP"/>
                <a:cs typeface="Noto Sans CJK JP"/>
              </a:defRPr>
            </a:pPr>
            <a:r>
              <a:rPr sz="2325" b="1">
                <a:solidFill>
                  <a:srgbClr val="C9633D"/>
                </a:solidFill>
                <a:latin typeface="Noto Sans CJK JP"/>
                <a:ea typeface="Noto Sans CJK JP"/>
                <a:cs typeface="Noto Sans CJK JP"/>
              </a:rPr>
              <a:t>授業中</a:t>
            </a:r>
          </a:p>
        </p:txBody>
      </p:sp>
      <p:sp>
        <p:nvSpPr>
          <p:cNvPr id="10" name="説明し、議論し、試す">
            <a:extLst>
              <a:ext uri="{FF2B5EF4-FFF2-40B4-BE49-F238E27FC236}">
                <a16:creationId id="{73AC8F49-BFAE-41ED-9255-AC8C61B71B7C}"/>
              </a:ext>
            </a:extLst>
          </p:cNvPr>
          <p:cNvSpPr>
            <a:spLocks noGrp="1"/>
          </p:cNvSpPr>
          <p:nvPr/>
        </p:nvSpPr>
        <p:spPr>
          <a:xfrm>
            <a:off x="2438400" y="3219450"/>
            <a:ext cx="9144000" cy="409575"/>
          </a:xfrm>
          <a:prstGeom prst="rect">
            <a:avLst/>
          </a:prstGeom>
          <a:noFill/>
          <a:ln w="0">
            <a:noFill/>
          </a:ln>
        </p:spPr>
        <p:txBody>
          <a:bodyPr wrap="square" lIns="0" tIns="0" rIns="0" bIns="0" anchor="t">
            <a:noAutofit/>
          </a:bodyPr>
          <a:lstStyle/>
          <a:p>
            <a:pPr algn="l">
              <a:lnSpc>
                <a:spcPct val="118000"/>
              </a:lnSpc>
              <a:buNone/>
              <a:defRPr sz="2250" b="1">
                <a:solidFill>
                  <a:srgbClr val="17323B"/>
                </a:solidFill>
                <a:latin typeface="Noto Sans CJK JP"/>
                <a:ea typeface="Noto Sans CJK JP"/>
                <a:cs typeface="Noto Sans CJK JP"/>
              </a:defRPr>
            </a:pPr>
            <a:r>
              <a:rPr sz="2250" b="1">
                <a:solidFill>
                  <a:srgbClr val="17323B"/>
                </a:solidFill>
                <a:latin typeface="Noto Sans CJK JP"/>
                <a:ea typeface="Noto Sans CJK JP"/>
                <a:cs typeface="Noto Sans CJK JP"/>
              </a:rPr>
              <a:t>説明し、議論し、試す</a:t>
            </a:r>
          </a:p>
        </p:txBody>
      </p:sp>
      <p:sp>
        <p:nvSpPr>
          <p:cNvPr id="11" name="発表への質問を受け、各自の課題を進める。必要に応じて互いに確">
            <a:extLst>
              <a:ext uri="{FF2B5EF4-FFF2-40B4-BE49-F238E27FC236}">
                <a16:creationId id="{1734AC9B-DB4B-463E-AACB-8279E43332F5}"/>
              </a:ext>
            </a:extLst>
          </p:cNvPr>
          <p:cNvSpPr>
            <a:spLocks noGrp="1"/>
          </p:cNvSpPr>
          <p:nvPr/>
        </p:nvSpPr>
        <p:spPr>
          <a:xfrm>
            <a:off x="2438400" y="3695700"/>
            <a:ext cx="9096375" cy="609600"/>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発表への質問を受け、各自の課題を進める。必要に応じて互いに確認する。</a:t>
            </a:r>
          </a:p>
        </p:txBody>
      </p:sp>
      <p:sp>
        <p:nvSpPr>
          <p:cNvPr id="12" name="">
            <a:extLst>
              <a:ext uri="{FF2B5EF4-FFF2-40B4-BE49-F238E27FC236}">
                <a16:creationId id="{2E41D3BA-E1BA-49B5-91FB-7C5EFDDBF869}"/>
              </a:ext>
            </a:extLst>
          </p:cNvPr>
          <p:cNvSpPr>
            <a:spLocks noGrp="1"/>
          </p:cNvSpPr>
          <p:nvPr/>
        </p:nvSpPr>
        <p:spPr>
          <a:xfrm>
            <a:off x="2438400" y="4219575"/>
            <a:ext cx="9144000" cy="9525"/>
          </a:xfrm>
          <a:prstGeom prst="rect">
            <a:avLst/>
          </a:prstGeom>
          <a:solidFill>
            <a:srgbClr val="C8D4D0"/>
          </a:solidFill>
          <a:ln w="0">
            <a:noFill/>
          </a:ln>
        </p:spPr>
      </p:sp>
      <p:sp>
        <p:nvSpPr>
          <p:cNvPr id="13" name="授業後">
            <a:extLst>
              <a:ext uri="{FF2B5EF4-FFF2-40B4-BE49-F238E27FC236}">
                <a16:creationId id="{C77532FE-1249-4425-AFBA-0B8A69C3329B}"/>
              </a:ext>
            </a:extLst>
          </p:cNvPr>
          <p:cNvSpPr>
            <a:spLocks noGrp="1"/>
          </p:cNvSpPr>
          <p:nvPr/>
        </p:nvSpPr>
        <p:spPr>
          <a:xfrm>
            <a:off x="609600" y="4352925"/>
            <a:ext cx="1543050" cy="476250"/>
          </a:xfrm>
          <a:prstGeom prst="rect">
            <a:avLst/>
          </a:prstGeom>
          <a:noFill/>
          <a:ln w="0">
            <a:noFill/>
          </a:ln>
        </p:spPr>
        <p:txBody>
          <a:bodyPr wrap="square" lIns="0" tIns="0" rIns="0" bIns="0" anchor="t">
            <a:noAutofit/>
          </a:bodyPr>
          <a:lstStyle/>
          <a:p>
            <a:pPr algn="l">
              <a:lnSpc>
                <a:spcPct val="118000"/>
              </a:lnSpc>
              <a:buNone/>
              <a:defRPr sz="2325" b="1">
                <a:solidFill>
                  <a:srgbClr val="C9633D"/>
                </a:solidFill>
                <a:latin typeface="Noto Sans CJK JP"/>
                <a:ea typeface="Noto Sans CJK JP"/>
                <a:cs typeface="Noto Sans CJK JP"/>
              </a:defRPr>
            </a:pPr>
            <a:r>
              <a:rPr sz="2325" b="1">
                <a:solidFill>
                  <a:srgbClr val="C9633D"/>
                </a:solidFill>
                <a:latin typeface="Noto Sans CJK JP"/>
                <a:ea typeface="Noto Sans CJK JP"/>
                <a:cs typeface="Noto Sans CJK JP"/>
              </a:rPr>
              <a:t>授業後</a:t>
            </a:r>
          </a:p>
        </p:txBody>
      </p:sp>
      <p:sp>
        <p:nvSpPr>
          <p:cNvPr id="14" name="結果と次の行動を残す">
            <a:extLst>
              <a:ext uri="{FF2B5EF4-FFF2-40B4-BE49-F238E27FC236}">
                <a16:creationId id="{FB297616-39EE-478F-998C-E0B8CB49FED6}"/>
              </a:ext>
            </a:extLst>
          </p:cNvPr>
          <p:cNvSpPr>
            <a:spLocks noGrp="1"/>
          </p:cNvSpPr>
          <p:nvPr/>
        </p:nvSpPr>
        <p:spPr>
          <a:xfrm>
            <a:off x="2438400" y="4352925"/>
            <a:ext cx="9144000" cy="409575"/>
          </a:xfrm>
          <a:prstGeom prst="rect">
            <a:avLst/>
          </a:prstGeom>
          <a:noFill/>
          <a:ln w="0">
            <a:noFill/>
          </a:ln>
        </p:spPr>
        <p:txBody>
          <a:bodyPr wrap="square" lIns="0" tIns="0" rIns="0" bIns="0" anchor="t">
            <a:noAutofit/>
          </a:bodyPr>
          <a:lstStyle/>
          <a:p>
            <a:pPr algn="l">
              <a:lnSpc>
                <a:spcPct val="118000"/>
              </a:lnSpc>
              <a:buNone/>
              <a:defRPr sz="2250" b="1">
                <a:solidFill>
                  <a:srgbClr val="17323B"/>
                </a:solidFill>
                <a:latin typeface="Noto Sans CJK JP"/>
                <a:ea typeface="Noto Sans CJK JP"/>
                <a:cs typeface="Noto Sans CJK JP"/>
              </a:defRPr>
            </a:pPr>
            <a:r>
              <a:rPr sz="2250" b="1">
                <a:solidFill>
                  <a:srgbClr val="17323B"/>
                </a:solidFill>
                <a:latin typeface="Noto Sans CJK JP"/>
                <a:ea typeface="Noto Sans CJK JP"/>
                <a:cs typeface="Noto Sans CJK JP"/>
              </a:rPr>
              <a:t>結果と次の行動を残す</a:t>
            </a:r>
          </a:p>
        </p:txBody>
      </p:sp>
      <p:sp>
        <p:nvSpPr>
          <p:cNvPr id="15" name="コード・条件・図を整理し、次回までの作業を具体的に決める。">
            <a:extLst>
              <a:ext uri="{FF2B5EF4-FFF2-40B4-BE49-F238E27FC236}">
                <a16:creationId id="{28A8A79B-6044-4934-A412-DD14BB39ABAA}"/>
              </a:ext>
            </a:extLst>
          </p:cNvPr>
          <p:cNvSpPr>
            <a:spLocks noGrp="1"/>
          </p:cNvSpPr>
          <p:nvPr/>
        </p:nvSpPr>
        <p:spPr>
          <a:xfrm>
            <a:off x="2438400" y="4829175"/>
            <a:ext cx="9096375" cy="609600"/>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コード・条件・図を整理し、次回までの作業を具体的に決める。</a:t>
            </a:r>
          </a:p>
        </p:txBody>
      </p:sp>
      <p:sp>
        <p:nvSpPr>
          <p:cNvPr id="16" name="">
            <a:extLst>
              <a:ext uri="{FF2B5EF4-FFF2-40B4-BE49-F238E27FC236}">
                <a16:creationId id="{0DB6E4BB-EB60-4835-AFBF-3FBE406240B7}"/>
              </a:ext>
            </a:extLst>
          </p:cNvPr>
          <p:cNvSpPr>
            <a:spLocks noGrp="1"/>
          </p:cNvSpPr>
          <p:nvPr/>
        </p:nvSpPr>
        <p:spPr>
          <a:xfrm>
            <a:off x="609600" y="5791200"/>
            <a:ext cx="10972800" cy="457200"/>
          </a:xfrm>
          <a:prstGeom prst="rect">
            <a:avLst/>
          </a:prstGeom>
          <a:solidFill>
            <a:srgbClr val="17323B"/>
          </a:solidFill>
          <a:ln w="0">
            <a:noFill/>
          </a:ln>
        </p:spPr>
      </p:sp>
      <p:sp>
        <p:nvSpPr>
          <p:cNvPr id="17" name="教員は問い返しとフィードバックを担当。作業は各自が進める。">
            <a:extLst>
              <a:ext uri="{FF2B5EF4-FFF2-40B4-BE49-F238E27FC236}">
                <a16:creationId id="{315AABB8-19CF-4BFE-A987-5F6C0019E6DC}"/>
              </a:ext>
            </a:extLst>
          </p:cNvPr>
          <p:cNvSpPr>
            <a:spLocks noGrp="1"/>
          </p:cNvSpPr>
          <p:nvPr/>
        </p:nvSpPr>
        <p:spPr>
          <a:xfrm>
            <a:off x="800100" y="5857875"/>
            <a:ext cx="10591800" cy="342900"/>
          </a:xfrm>
          <a:prstGeom prst="rect">
            <a:avLst/>
          </a:prstGeom>
          <a:noFill/>
          <a:ln w="0">
            <a:noFill/>
          </a:ln>
        </p:spPr>
        <p:txBody>
          <a:bodyPr wrap="square" lIns="0" tIns="0" rIns="0" bIns="0" anchor="t">
            <a:noAutofit/>
          </a:bodyPr>
          <a:lstStyle/>
          <a:p>
            <a:pPr algn="l">
              <a:lnSpc>
                <a:spcPct val="118000"/>
              </a:lnSpc>
              <a:buNone/>
              <a:defRPr sz="1875" b="1">
                <a:solidFill>
                  <a:srgbClr val="FFFFFF"/>
                </a:solidFill>
                <a:latin typeface="Noto Sans CJK JP"/>
                <a:ea typeface="Noto Sans CJK JP"/>
                <a:cs typeface="Noto Sans CJK JP"/>
              </a:defRPr>
            </a:pPr>
            <a:r>
              <a:rPr sz="1875" b="1">
                <a:solidFill>
                  <a:srgbClr val="FFFFFF"/>
                </a:solidFill>
                <a:latin typeface="Noto Sans CJK JP"/>
                <a:ea typeface="Noto Sans CJK JP"/>
                <a:cs typeface="Noto Sans CJK JP"/>
              </a:rPr>
              <a:t>教員は問い返しとフィードバックを担当。作業は各自が進める。</a:t>
            </a:r>
          </a:p>
        </p:txBody>
      </p:sp>
    </p:spTree>
    <p:extLst>
      <p:ext uri="{BB962C8B-B14F-4D97-AF65-F5344CB8AC3E}">
        <p14:creationId val="345572298"/>
      </p:ext>
    </p:extLst>
  </p:cSld>
</p:sld>
</file>

<file path=ppt/slides/slide1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bg>
      <p:bgPr>
        <a:solidFill>
          <a:srgbClr val="F7F5EF"/>
        </a:solidFill>
      </p:bgPr>
    </p:bg>
    <p:spTree>
      <p:nvGrpSpPr>
        <p:cNvPr id="1" name=""/>
        <p:cNvGrpSpPr/>
        <p:nvPr/>
      </p:nvGrpSpPr>
      <p:grpSpPr>
        <a:xfrm/>
      </p:grpSpPr>
      <p:sp>
        <p:nvSpPr>
          <p:cNvPr id="28" name="学び方と計画">
            <a:extLst>
              <a:ext uri="{FF2B5EF4-FFF2-40B4-BE49-F238E27FC236}">
                <a16:creationId id="{78956209-BF52-4E0C-B32E-E461B68179C4}"/>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学び方と計画</a:t>
            </a:r>
          </a:p>
        </p:txBody>
      </p:sp>
      <p:sp>
        <p:nvSpPr>
          <p:cNvPr id="2" name="発表で伝えること">
            <a:extLst>
              <a:ext uri="{FF2B5EF4-FFF2-40B4-BE49-F238E27FC236}">
                <a16:creationId id="{F41D6000-3CCE-4C8B-BE1C-7720A25679C0}"/>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発表で伝えること</a:t>
            </a:r>
          </a:p>
        </p:txBody>
      </p:sp>
      <p:sp>
        <p:nvSpPr>
          <p:cNvPr id="3" name="結果の図と、自分の説明をセットにする">
            <a:extLst>
              <a:ext uri="{FF2B5EF4-FFF2-40B4-BE49-F238E27FC236}">
                <a16:creationId id="{047FE0FE-BBAC-45A9-B3DB-EA427F478A1F}"/>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結果の図と、自分の説明をセットにする</a:t>
            </a:r>
          </a:p>
        </p:txBody>
      </p:sp>
      <p:sp>
        <p:nvSpPr>
          <p:cNvPr id="4" name="16"/>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19</a:t>
            </a:r>
          </a:p>
        </p:txBody>
      </p:sp>
      <p:sp>
        <p:nvSpPr>
          <p:cNvPr id="5" name="1">
            <a:extLst>
              <a:ext uri="{FF2B5EF4-FFF2-40B4-BE49-F238E27FC236}">
                <a16:creationId id="{EBD440E8-65D9-45C8-A49C-29E6AAA54F47}"/>
              </a:ext>
            </a:extLst>
          </p:cNvPr>
          <p:cNvSpPr>
            <a:spLocks noGrp="1"/>
          </p:cNvSpPr>
          <p:nvPr/>
        </p:nvSpPr>
        <p:spPr>
          <a:xfrm>
            <a:off x="609600" y="1971675"/>
            <a:ext cx="476250" cy="409575"/>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1</a:t>
            </a:r>
          </a:p>
        </p:txBody>
      </p:sp>
      <p:sp>
        <p:nvSpPr>
          <p:cNvPr id="6" name="問い">
            <a:extLst>
              <a:ext uri="{FF2B5EF4-FFF2-40B4-BE49-F238E27FC236}">
                <a16:creationId id="{43AD2156-C9EE-40F8-B5F1-E3D15F9BB75A}"/>
              </a:ext>
            </a:extLst>
          </p:cNvPr>
          <p:cNvSpPr>
            <a:spLocks noGrp="1"/>
          </p:cNvSpPr>
          <p:nvPr/>
        </p:nvSpPr>
        <p:spPr>
          <a:xfrm>
            <a:off x="1295400" y="1971675"/>
            <a:ext cx="1485900" cy="400050"/>
          </a:xfrm>
          <a:prstGeom prst="rect">
            <a:avLst/>
          </a:prstGeom>
          <a:noFill/>
          <a:ln w="0">
            <a:noFill/>
          </a:ln>
        </p:spPr>
        <p:txBody>
          <a:bodyPr wrap="square" lIns="0" tIns="0" rIns="0" bIns="0" anchor="t">
            <a:noAutofit/>
          </a:bodyPr>
          <a:lstStyle/>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問い</a:t>
            </a:r>
          </a:p>
        </p:txBody>
      </p:sp>
      <p:sp>
        <p:nvSpPr>
          <p:cNvPr id="7" name="何を確かめたいか">
            <a:extLst>
              <a:ext uri="{FF2B5EF4-FFF2-40B4-BE49-F238E27FC236}">
                <a16:creationId id="{B742D9B2-F610-41F7-A4CB-164C82A882A9}"/>
              </a:ext>
            </a:extLst>
          </p:cNvPr>
          <p:cNvSpPr>
            <a:spLocks noGrp="1"/>
          </p:cNvSpPr>
          <p:nvPr/>
        </p:nvSpPr>
        <p:spPr>
          <a:xfrm>
            <a:off x="2971800" y="2000250"/>
            <a:ext cx="4267200" cy="409575"/>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何を確かめたいか</a:t>
            </a:r>
          </a:p>
        </p:txBody>
      </p:sp>
      <p:sp>
        <p:nvSpPr>
          <p:cNvPr id="8" name="">
            <a:extLst>
              <a:ext uri="{FF2B5EF4-FFF2-40B4-BE49-F238E27FC236}">
                <a16:creationId id="{8D50860C-38E2-4865-9DEE-5FC491DF291E}"/>
              </a:ext>
            </a:extLst>
          </p:cNvPr>
          <p:cNvSpPr>
            <a:spLocks noGrp="1"/>
          </p:cNvSpPr>
          <p:nvPr/>
        </p:nvSpPr>
        <p:spPr>
          <a:xfrm>
            <a:off x="609600" y="2533650"/>
            <a:ext cx="6648450" cy="9525"/>
          </a:xfrm>
          <a:prstGeom prst="rect">
            <a:avLst/>
          </a:prstGeom>
          <a:solidFill>
            <a:srgbClr val="C8D4D0"/>
          </a:solidFill>
          <a:ln w="0">
            <a:noFill/>
          </a:ln>
        </p:spPr>
      </p:sp>
      <p:sp>
        <p:nvSpPr>
          <p:cNvPr id="9" name="2">
            <a:extLst>
              <a:ext uri="{FF2B5EF4-FFF2-40B4-BE49-F238E27FC236}">
                <a16:creationId id="{63982995-CD77-4954-82DE-63EC456F233E}"/>
              </a:ext>
            </a:extLst>
          </p:cNvPr>
          <p:cNvSpPr>
            <a:spLocks noGrp="1"/>
          </p:cNvSpPr>
          <p:nvPr/>
        </p:nvSpPr>
        <p:spPr>
          <a:xfrm>
            <a:off x="609600" y="2676525"/>
            <a:ext cx="476250" cy="409575"/>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2</a:t>
            </a:r>
          </a:p>
        </p:txBody>
      </p:sp>
      <p:sp>
        <p:nvSpPr>
          <p:cNvPr id="10" name="方法">
            <a:extLst>
              <a:ext uri="{FF2B5EF4-FFF2-40B4-BE49-F238E27FC236}">
                <a16:creationId id="{1C599F07-40AB-40B5-961B-08E888F26B40}"/>
              </a:ext>
            </a:extLst>
          </p:cNvPr>
          <p:cNvSpPr>
            <a:spLocks noGrp="1"/>
          </p:cNvSpPr>
          <p:nvPr/>
        </p:nvSpPr>
        <p:spPr>
          <a:xfrm>
            <a:off x="1295400" y="2676525"/>
            <a:ext cx="1485900" cy="400050"/>
          </a:xfrm>
          <a:prstGeom prst="rect">
            <a:avLst/>
          </a:prstGeom>
          <a:noFill/>
          <a:ln w="0">
            <a:noFill/>
          </a:ln>
        </p:spPr>
        <p:txBody>
          <a:bodyPr wrap="square" lIns="0" tIns="0" rIns="0" bIns="0" anchor="t">
            <a:noAutofit/>
          </a:bodyPr>
          <a:lstStyle/>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方法</a:t>
            </a:r>
          </a:p>
        </p:txBody>
      </p:sp>
      <p:sp>
        <p:nvSpPr>
          <p:cNvPr id="11" name="何を変え、何をそろえたか">
            <a:extLst>
              <a:ext uri="{FF2B5EF4-FFF2-40B4-BE49-F238E27FC236}">
                <a16:creationId id="{8DDF8F59-C399-4142-B733-9127170D3BFF}"/>
              </a:ext>
            </a:extLst>
          </p:cNvPr>
          <p:cNvSpPr>
            <a:spLocks noGrp="1"/>
          </p:cNvSpPr>
          <p:nvPr/>
        </p:nvSpPr>
        <p:spPr>
          <a:xfrm>
            <a:off x="2971800" y="2705100"/>
            <a:ext cx="4267200" cy="409575"/>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何を変え、何をそろえたか</a:t>
            </a:r>
          </a:p>
        </p:txBody>
      </p:sp>
      <p:sp>
        <p:nvSpPr>
          <p:cNvPr id="12" name="">
            <a:extLst>
              <a:ext uri="{FF2B5EF4-FFF2-40B4-BE49-F238E27FC236}">
                <a16:creationId id="{41370408-4461-4763-B4AE-7B242CB4E8BF}"/>
              </a:ext>
            </a:extLst>
          </p:cNvPr>
          <p:cNvSpPr>
            <a:spLocks noGrp="1"/>
          </p:cNvSpPr>
          <p:nvPr/>
        </p:nvSpPr>
        <p:spPr>
          <a:xfrm>
            <a:off x="609600" y="3238500"/>
            <a:ext cx="6648450" cy="9525"/>
          </a:xfrm>
          <a:prstGeom prst="rect">
            <a:avLst/>
          </a:prstGeom>
          <a:solidFill>
            <a:srgbClr val="C8D4D0"/>
          </a:solidFill>
          <a:ln w="0">
            <a:noFill/>
          </a:ln>
        </p:spPr>
      </p:sp>
      <p:sp>
        <p:nvSpPr>
          <p:cNvPr id="13" name="3">
            <a:extLst>
              <a:ext uri="{FF2B5EF4-FFF2-40B4-BE49-F238E27FC236}">
                <a16:creationId id="{8638C318-DE8E-4C97-8F20-3E640CEDFF48}"/>
              </a:ext>
            </a:extLst>
          </p:cNvPr>
          <p:cNvSpPr>
            <a:spLocks noGrp="1"/>
          </p:cNvSpPr>
          <p:nvPr/>
        </p:nvSpPr>
        <p:spPr>
          <a:xfrm>
            <a:off x="609600" y="3381375"/>
            <a:ext cx="476250" cy="409575"/>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3</a:t>
            </a:r>
          </a:p>
        </p:txBody>
      </p:sp>
      <p:sp>
        <p:nvSpPr>
          <p:cNvPr id="14" name="結果">
            <a:extLst>
              <a:ext uri="{FF2B5EF4-FFF2-40B4-BE49-F238E27FC236}">
                <a16:creationId id="{D25FC679-E8D8-4D71-A04E-5A78E1221818}"/>
              </a:ext>
            </a:extLst>
          </p:cNvPr>
          <p:cNvSpPr>
            <a:spLocks noGrp="1"/>
          </p:cNvSpPr>
          <p:nvPr/>
        </p:nvSpPr>
        <p:spPr>
          <a:xfrm>
            <a:off x="1295400" y="3381375"/>
            <a:ext cx="1485900" cy="400050"/>
          </a:xfrm>
          <a:prstGeom prst="rect">
            <a:avLst/>
          </a:prstGeom>
          <a:noFill/>
          <a:ln w="0">
            <a:noFill/>
          </a:ln>
        </p:spPr>
        <p:txBody>
          <a:bodyPr wrap="square" lIns="0" tIns="0" rIns="0" bIns="0" anchor="t">
            <a:noAutofit/>
          </a:bodyPr>
          <a:lstStyle/>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結果</a:t>
            </a:r>
          </a:p>
        </p:txBody>
      </p:sp>
      <p:sp>
        <p:nvSpPr>
          <p:cNvPr id="15" name="図や数値から何が分かるか">
            <a:extLst>
              <a:ext uri="{FF2B5EF4-FFF2-40B4-BE49-F238E27FC236}">
                <a16:creationId id="{A4FC3101-F11D-4A27-915E-F90ACC0BED50}"/>
              </a:ext>
            </a:extLst>
          </p:cNvPr>
          <p:cNvSpPr>
            <a:spLocks noGrp="1"/>
          </p:cNvSpPr>
          <p:nvPr/>
        </p:nvSpPr>
        <p:spPr>
          <a:xfrm>
            <a:off x="2971800" y="3409950"/>
            <a:ext cx="4267200" cy="409575"/>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図や数値から何が分かるか</a:t>
            </a:r>
          </a:p>
        </p:txBody>
      </p:sp>
      <p:sp>
        <p:nvSpPr>
          <p:cNvPr id="16" name="">
            <a:extLst>
              <a:ext uri="{FF2B5EF4-FFF2-40B4-BE49-F238E27FC236}">
                <a16:creationId id="{13B73D04-AA47-4758-BC99-2BC55D189884}"/>
              </a:ext>
            </a:extLst>
          </p:cNvPr>
          <p:cNvSpPr>
            <a:spLocks noGrp="1"/>
          </p:cNvSpPr>
          <p:nvPr/>
        </p:nvSpPr>
        <p:spPr>
          <a:xfrm>
            <a:off x="609600" y="3943350"/>
            <a:ext cx="6648450" cy="9525"/>
          </a:xfrm>
          <a:prstGeom prst="rect">
            <a:avLst/>
          </a:prstGeom>
          <a:solidFill>
            <a:srgbClr val="C8D4D0"/>
          </a:solidFill>
          <a:ln w="0">
            <a:noFill/>
          </a:ln>
        </p:spPr>
      </p:sp>
      <p:sp>
        <p:nvSpPr>
          <p:cNvPr id="17" name="4">
            <a:extLst>
              <a:ext uri="{FF2B5EF4-FFF2-40B4-BE49-F238E27FC236}">
                <a16:creationId id="{50CBCF98-1844-4927-BA60-2F672253350C}"/>
              </a:ext>
            </a:extLst>
          </p:cNvPr>
          <p:cNvSpPr>
            <a:spLocks noGrp="1"/>
          </p:cNvSpPr>
          <p:nvPr/>
        </p:nvSpPr>
        <p:spPr>
          <a:xfrm>
            <a:off x="609600" y="4086225"/>
            <a:ext cx="476250" cy="409575"/>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4</a:t>
            </a:r>
          </a:p>
        </p:txBody>
      </p:sp>
      <p:sp>
        <p:nvSpPr>
          <p:cNvPr id="18" name="考察">
            <a:extLst>
              <a:ext uri="{FF2B5EF4-FFF2-40B4-BE49-F238E27FC236}">
                <a16:creationId id="{902E74D3-9169-44AC-A784-B9B8EA6DC9C2}"/>
              </a:ext>
            </a:extLst>
          </p:cNvPr>
          <p:cNvSpPr>
            <a:spLocks noGrp="1"/>
          </p:cNvSpPr>
          <p:nvPr/>
        </p:nvSpPr>
        <p:spPr>
          <a:xfrm>
            <a:off x="1295400" y="4086225"/>
            <a:ext cx="1485900" cy="400050"/>
          </a:xfrm>
          <a:prstGeom prst="rect">
            <a:avLst/>
          </a:prstGeom>
          <a:noFill/>
          <a:ln w="0">
            <a:noFill/>
          </a:ln>
        </p:spPr>
        <p:txBody>
          <a:bodyPr wrap="square" lIns="0" tIns="0" rIns="0" bIns="0" anchor="t">
            <a:noAutofit/>
          </a:bodyPr>
          <a:lstStyle/>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考察</a:t>
            </a:r>
          </a:p>
        </p:txBody>
      </p:sp>
      <p:sp>
        <p:nvSpPr>
          <p:cNvPr id="19" name="なぜそうなったと考えるか">
            <a:extLst>
              <a:ext uri="{FF2B5EF4-FFF2-40B4-BE49-F238E27FC236}">
                <a16:creationId id="{CBBC92F1-E242-4970-AF63-5A4247154D53}"/>
              </a:ext>
            </a:extLst>
          </p:cNvPr>
          <p:cNvSpPr>
            <a:spLocks noGrp="1"/>
          </p:cNvSpPr>
          <p:nvPr/>
        </p:nvSpPr>
        <p:spPr>
          <a:xfrm>
            <a:off x="2971800" y="4114800"/>
            <a:ext cx="4267200" cy="409575"/>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なぜそうなったと考えるか</a:t>
            </a:r>
          </a:p>
        </p:txBody>
      </p:sp>
      <p:sp>
        <p:nvSpPr>
          <p:cNvPr id="20" name="">
            <a:extLst>
              <a:ext uri="{FF2B5EF4-FFF2-40B4-BE49-F238E27FC236}">
                <a16:creationId id="{B2E29D51-7BF9-4B94-9D81-68726EAE21BA}"/>
              </a:ext>
            </a:extLst>
          </p:cNvPr>
          <p:cNvSpPr>
            <a:spLocks noGrp="1"/>
          </p:cNvSpPr>
          <p:nvPr/>
        </p:nvSpPr>
        <p:spPr>
          <a:xfrm>
            <a:off x="609600" y="4648200"/>
            <a:ext cx="6648450" cy="9525"/>
          </a:xfrm>
          <a:prstGeom prst="rect">
            <a:avLst/>
          </a:prstGeom>
          <a:solidFill>
            <a:srgbClr val="C8D4D0"/>
          </a:solidFill>
          <a:ln w="0">
            <a:noFill/>
          </a:ln>
        </p:spPr>
      </p:sp>
      <p:sp>
        <p:nvSpPr>
          <p:cNvPr id="21" name="5">
            <a:extLst>
              <a:ext uri="{FF2B5EF4-FFF2-40B4-BE49-F238E27FC236}">
                <a16:creationId id="{B6B726F5-50A5-4E38-ADB8-000400E39DF4}"/>
              </a:ext>
            </a:extLst>
          </p:cNvPr>
          <p:cNvSpPr>
            <a:spLocks noGrp="1"/>
          </p:cNvSpPr>
          <p:nvPr/>
        </p:nvSpPr>
        <p:spPr>
          <a:xfrm>
            <a:off x="609600" y="4791075"/>
            <a:ext cx="476250" cy="409575"/>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5</a:t>
            </a:r>
          </a:p>
        </p:txBody>
      </p:sp>
      <p:sp>
        <p:nvSpPr>
          <p:cNvPr id="22" name="次の一歩">
            <a:extLst>
              <a:ext uri="{FF2B5EF4-FFF2-40B4-BE49-F238E27FC236}">
                <a16:creationId id="{4917B498-E091-4421-BC12-5E48312753D9}"/>
              </a:ext>
            </a:extLst>
          </p:cNvPr>
          <p:cNvSpPr>
            <a:spLocks noGrp="1"/>
          </p:cNvSpPr>
          <p:nvPr/>
        </p:nvSpPr>
        <p:spPr>
          <a:xfrm>
            <a:off x="1295400" y="4791075"/>
            <a:ext cx="1485900" cy="400050"/>
          </a:xfrm>
          <a:prstGeom prst="rect">
            <a:avLst/>
          </a:prstGeom>
          <a:noFill/>
          <a:ln w="0">
            <a:noFill/>
          </a:ln>
        </p:spPr>
        <p:txBody>
          <a:bodyPr wrap="square" lIns="0" tIns="0" rIns="0" bIns="0" anchor="t">
            <a:noAutofit/>
          </a:bodyPr>
          <a:lstStyle/>
          <a:p>
            <a:pPr algn="l">
              <a:lnSpc>
                <a:spcPct val="118000"/>
              </a:lnSpc>
              <a:buNone/>
              <a:defRPr sz="2025" b="1">
                <a:solidFill>
                  <a:srgbClr val="17323B"/>
                </a:solidFill>
                <a:latin typeface="Noto Sans CJK JP"/>
                <a:ea typeface="Noto Sans CJK JP"/>
                <a:cs typeface="Noto Sans CJK JP"/>
              </a:defRPr>
            </a:pPr>
            <a:r>
              <a:rPr sz="2025" b="1">
                <a:solidFill>
                  <a:srgbClr val="17323B"/>
                </a:solidFill>
                <a:latin typeface="Noto Sans CJK JP"/>
                <a:ea typeface="Noto Sans CJK JP"/>
                <a:cs typeface="Noto Sans CJK JP"/>
              </a:rPr>
              <a:t>次の一歩</a:t>
            </a:r>
          </a:p>
        </p:txBody>
      </p:sp>
      <p:sp>
        <p:nvSpPr>
          <p:cNvPr id="23" name="次に何を確かめるか">
            <a:extLst>
              <a:ext uri="{FF2B5EF4-FFF2-40B4-BE49-F238E27FC236}">
                <a16:creationId id="{39150531-E99B-4FFA-8988-1A80D5AF4598}"/>
              </a:ext>
            </a:extLst>
          </p:cNvPr>
          <p:cNvSpPr>
            <a:spLocks noGrp="1"/>
          </p:cNvSpPr>
          <p:nvPr/>
        </p:nvSpPr>
        <p:spPr>
          <a:xfrm>
            <a:off x="2971800" y="4819650"/>
            <a:ext cx="4267200" cy="409575"/>
          </a:xfrm>
          <a:prstGeom prst="rect">
            <a:avLst/>
          </a:prstGeom>
          <a:noFill/>
          <a:ln w="0">
            <a:noFill/>
          </a:ln>
        </p:spPr>
        <p:txBody>
          <a:bodyPr wrap="square" lIns="0" tIns="0" rIns="0" bIns="0" anchor="t">
            <a:noAutofit/>
          </a:bodyPr>
          <a:lstStyle/>
          <a:p>
            <a:pPr algn="l">
              <a:lnSpc>
                <a:spcPct val="118000"/>
              </a:lnSpc>
              <a:buNone/>
              <a:defRPr sz="1800" b="0">
                <a:solidFill>
                  <a:srgbClr val="17323B"/>
                </a:solidFill>
                <a:latin typeface="Noto Sans CJK JP"/>
                <a:ea typeface="Noto Sans CJK JP"/>
                <a:cs typeface="Noto Sans CJK JP"/>
              </a:defRPr>
            </a:pPr>
            <a:r>
              <a:rPr sz="1800" b="0">
                <a:solidFill>
                  <a:srgbClr val="17323B"/>
                </a:solidFill>
                <a:latin typeface="Noto Sans CJK JP"/>
                <a:ea typeface="Noto Sans CJK JP"/>
                <a:cs typeface="Noto Sans CJK JP"/>
              </a:rPr>
              <a:t>次に何を確かめるか</a:t>
            </a:r>
          </a:p>
        </p:txBody>
      </p:sp>
      <p:pic>
        <p:nvPicPr>
          <p:cNvPr id="51" name=""/>
          <p:cNvPicPr>
            <a:picLocks noChangeAspect="1"/>
          </p:cNvPicPr>
          <p:nvPr/>
        </p:nvPicPr>
        <p:blipFill>
          <a:blip r:embed="R7b2ea4de4efc4e58"/>
          <a:stretch/>
        </p:blipFill>
        <p:spPr>
          <a:xfrm>
            <a:off x="7543800" y="2440781"/>
            <a:ext cx="4019550" cy="3014663"/>
          </a:xfrm>
          <a:prstGeom prst="rect">
            <a:avLst/>
          </a:prstGeom>
        </p:spPr>
      </p:pic>
      <p:sp>
        <p:nvSpPr>
          <p:cNvPr id="25" name="発表資料のイメージ">
            <a:extLst>
              <a:ext uri="{FF2B5EF4-FFF2-40B4-BE49-F238E27FC236}">
                <a16:creationId id="{0FDA5737-2F39-4699-A91F-C3653DA20DC6}"/>
              </a:ext>
            </a:extLst>
          </p:cNvPr>
          <p:cNvSpPr>
            <a:spLocks noGrp="1"/>
          </p:cNvSpPr>
          <p:nvPr/>
        </p:nvSpPr>
        <p:spPr>
          <a:xfrm>
            <a:off x="7543800" y="5562600"/>
            <a:ext cx="4019550" cy="304800"/>
          </a:xfrm>
          <a:prstGeom prst="rect">
            <a:avLst/>
          </a:prstGeom>
          <a:noFill/>
          <a:ln w="0">
            <a:noFill/>
          </a:ln>
        </p:spPr>
        <p:txBody>
          <a:bodyPr wrap="square" lIns="0" tIns="0" rIns="0" bIns="0" anchor="t">
            <a:noAutofit/>
          </a:bodyPr>
          <a:lstStyle/>
          <a:p>
            <a:pPr algn="ctr">
              <a:lnSpc>
                <a:spcPct val="118000"/>
              </a:lnSpc>
              <a:buNone/>
              <a:defRPr sz="1350" b="0">
                <a:solidFill>
                  <a:srgbClr val="5C6B6B"/>
                </a:solidFill>
                <a:latin typeface="Noto Sans CJK JP"/>
                <a:ea typeface="Noto Sans CJK JP"/>
                <a:cs typeface="Noto Sans CJK JP"/>
              </a:defRPr>
            </a:pPr>
            <a:r>
              <a:rPr sz="1350" b="0">
                <a:solidFill>
                  <a:srgbClr val="5C6B6B"/>
                </a:solidFill>
                <a:latin typeface="Noto Sans CJK JP"/>
                <a:ea typeface="Noto Sans CJK JP"/>
                <a:cs typeface="Noto Sans CJK JP"/>
              </a:rPr>
              <a:t>発表資料のイメージ</a:t>
            </a:r>
          </a:p>
        </p:txBody>
      </p:sp>
      <p:sp>
        <p:nvSpPr>
          <p:cNvPr id="26" name="">
            <a:extLst>
              <a:ext uri="{FF2B5EF4-FFF2-40B4-BE49-F238E27FC236}">
                <a16:creationId id="{557341BA-DBB9-4EBA-9B44-0B6D7A4A2C7B}"/>
              </a:ext>
            </a:extLst>
          </p:cNvPr>
          <p:cNvSpPr>
            <a:spLocks noGrp="1"/>
          </p:cNvSpPr>
          <p:nvPr/>
        </p:nvSpPr>
        <p:spPr>
          <a:xfrm>
            <a:off x="609600" y="5791200"/>
            <a:ext cx="10972800" cy="457200"/>
          </a:xfrm>
          <a:prstGeom prst="rect">
            <a:avLst/>
          </a:prstGeom>
          <a:solidFill>
            <a:srgbClr val="17323B"/>
          </a:solidFill>
          <a:ln w="0">
            <a:noFill/>
          </a:ln>
        </p:spPr>
      </p:sp>
      <p:sp>
        <p:nvSpPr>
          <p:cNvPr id="27" name="短い発表は3–5枚が目安。第4・8・12・15回は、まとめの"/>
          <p:cNvSpPr/>
          <p:nvPr/>
        </p:nvSpPr>
        <p:spPr>
          <a:xfrm>
            <a:off x="800100" y="5857875"/>
            <a:ext cx="10591800" cy="342900"/>
          </a:xfrm>
          <a:prstGeom prst="rect">
            <a:avLst/>
          </a:prstGeom>
          <a:noFill/>
          <a:ln>
            <a:noFill/>
          </a:ln>
        </p:spPr>
        <p:txBody>
          <a:bodyPr wrap="none" lIns="0" tIns="0" rIns="0" bIns="0" anchor="t" anchorCtr="0">
            <a:noAutofit/>
          </a:bodyPr>
          <a:lstStyle/>
          <a:p>
            <a:pPr algn="l"/>
            <a:r>
              <a:rPr lang="ja-JP" sz="1880" b="1" dirty="0">
                <a:solidFill>
                  <a:srgbClr val="FFFFFF"/>
                </a:solidFill>
                <a:latin typeface="Noto Sans CJK JP"/>
                <a:ea typeface="Noto Sans CJK JP"/>
                <a:cs typeface="Noto Sans CJK JP"/>
              </a:rPr>
              <a:t>短い発表は3–5枚が目安。第4・8・15回はまとめ。第12回は別途案内。</a:t>
            </a:r>
          </a:p>
        </p:txBody>
      </p:sp>
    </p:spTree>
    <p:extLst>
      <p:ext uri="{BB962C8B-B14F-4D97-AF65-F5344CB8AC3E}">
        <p14:creationId val="1083769215"/>
      </p:ext>
    </p:extLst>
  </p:cSld>
</p:sld>
</file>

<file path=ppt/slides/slide20.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3" name="学び方と計画">
            <a:extLst>
              <a:ext uri="{FF2B5EF4-FFF2-40B4-BE49-F238E27FC236}">
                <a16:creationId id="{89C1B6DA-7858-4F02-9B7E-EB9F8430D12C}"/>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学び方と計画</a:t>
            </a:r>
          </a:p>
        </p:txBody>
      </p:sp>
      <p:sp>
        <p:nvSpPr>
          <p:cNvPr id="2" name="一つの条件を変える比較">
            <a:extLst>
              <a:ext uri="{FF2B5EF4-FFF2-40B4-BE49-F238E27FC236}">
                <a16:creationId id="{BC520E1F-23D4-44A4-9B4A-07A091149E79}"/>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一つの条件を変える比較</a:t>
            </a:r>
          </a:p>
        </p:txBody>
      </p:sp>
      <p:sp>
        <p:nvSpPr>
          <p:cNvPr id="3" name="倒立振子の制御パラメータを変える場合">
            <a:extLst>
              <a:ext uri="{FF2B5EF4-FFF2-40B4-BE49-F238E27FC236}">
                <a16:creationId id="{8B877803-B7E2-488A-BAC1-F18493C99DF2}"/>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倒立振子の制御パラメータを変える場合</a:t>
            </a:r>
          </a:p>
        </p:txBody>
      </p:sp>
      <p:sp>
        <p:nvSpPr>
          <p:cNvPr id="4" name="17"/>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20</a:t>
            </a:r>
          </a:p>
        </p:txBody>
      </p:sp>
      <p:sp>
        <p:nvSpPr>
          <p:cNvPr id="5" name="問いの例">
            <a:extLst>
              <a:ext uri="{FF2B5EF4-FFF2-40B4-BE49-F238E27FC236}">
                <a16:creationId id="{48E7468B-90C4-42F2-9B29-052125521B0C}"/>
              </a:ext>
            </a:extLst>
          </p:cNvPr>
          <p:cNvSpPr>
            <a:spLocks noGrp="1"/>
          </p:cNvSpPr>
          <p:nvPr/>
        </p:nvSpPr>
        <p:spPr>
          <a:xfrm>
            <a:off x="609600" y="2000250"/>
            <a:ext cx="5486400" cy="342900"/>
          </a:xfrm>
          <a:prstGeom prst="rect">
            <a:avLst/>
          </a:prstGeom>
          <a:noFill/>
          <a:ln w="0">
            <a:noFill/>
          </a:ln>
        </p:spPr>
        <p:txBody>
          <a:bodyPr wrap="square" lIns="0" tIns="0" rIns="0" bIns="0" anchor="t">
            <a:noAutofit/>
          </a:bodyPr>
          <a:lstStyle/>
          <a:p>
            <a:pPr algn="l">
              <a:lnSpc>
                <a:spcPct val="118000"/>
              </a:lnSpc>
              <a:buNone/>
              <a:defRPr sz="1875" b="1">
                <a:solidFill>
                  <a:srgbClr val="247C7A"/>
                </a:solidFill>
                <a:latin typeface="Noto Sans CJK JP"/>
                <a:ea typeface="Noto Sans CJK JP"/>
                <a:cs typeface="Noto Sans CJK JP"/>
              </a:defRPr>
            </a:pPr>
            <a:r>
              <a:rPr sz="1875" b="1">
                <a:solidFill>
                  <a:srgbClr val="247C7A"/>
                </a:solidFill>
                <a:latin typeface="Noto Sans CJK JP"/>
                <a:ea typeface="Noto Sans CJK JP"/>
                <a:cs typeface="Noto Sans CJK JP"/>
              </a:rPr>
              <a:t>問いの例</a:t>
            </a:r>
          </a:p>
        </p:txBody>
      </p:sp>
      <p:sp>
        <p:nvSpPr>
          <p:cNvPr id="6" name="ゲインを変えると、&#10;動きと入力はどう変わるか。">
            <a:extLst>
              <a:ext uri="{FF2B5EF4-FFF2-40B4-BE49-F238E27FC236}">
                <a16:creationId id="{4040B481-8DA8-40B9-BE4D-DEE46310F7DE}"/>
              </a:ext>
            </a:extLst>
          </p:cNvPr>
          <p:cNvSpPr>
            <a:spLocks noGrp="1"/>
          </p:cNvSpPr>
          <p:nvPr/>
        </p:nvSpPr>
        <p:spPr>
          <a:xfrm>
            <a:off x="609600" y="2447925"/>
            <a:ext cx="5314950" cy="1028700"/>
          </a:xfrm>
          <a:prstGeom prst="rect">
            <a:avLst/>
          </a:prstGeom>
          <a:noFill/>
          <a:ln w="0">
            <a:noFill/>
          </a:ln>
        </p:spPr>
        <p:txBody>
          <a:bodyPr wrap="square" lIns="0" tIns="0" rIns="0" bIns="0" anchor="t">
            <a:noAutofit/>
          </a:bodyPr>
          <a:lstStyle/>
          <a:p>
            <a:pPr algn="l">
              <a:lnSpc>
                <a:spcPct val="118000"/>
              </a:lnSpc>
              <a:buNone/>
              <a:defRPr sz="2625" b="1">
                <a:solidFill>
                  <a:srgbClr val="17323B"/>
                </a:solidFill>
                <a:latin typeface="Noto Sans CJK JP"/>
                <a:ea typeface="Noto Sans CJK JP"/>
                <a:cs typeface="Noto Sans CJK JP"/>
              </a:defRPr>
            </a:pPr>
            <a:r>
              <a:rPr sz="2625" b="1">
                <a:solidFill>
                  <a:srgbClr val="17323B"/>
                </a:solidFill>
                <a:latin typeface="Noto Sans CJK JP"/>
                <a:ea typeface="Noto Sans CJK JP"/>
                <a:cs typeface="Noto Sans CJK JP"/>
              </a:rPr>
              <a:t>ゲインを変えると、</a:t>
            </a:r>
          </a:p>
          <a:p>
            <a:pPr algn="l">
              <a:lnSpc>
                <a:spcPct val="118000"/>
              </a:lnSpc>
              <a:buNone/>
              <a:defRPr sz="2625" b="1">
                <a:solidFill>
                  <a:srgbClr val="17323B"/>
                </a:solidFill>
                <a:latin typeface="Noto Sans CJK JP"/>
                <a:ea typeface="Noto Sans CJK JP"/>
                <a:cs typeface="Noto Sans CJK JP"/>
              </a:defRPr>
            </a:pPr>
            <a:r>
              <a:rPr sz="2625" b="1">
                <a:solidFill>
                  <a:srgbClr val="17323B"/>
                </a:solidFill>
                <a:latin typeface="Noto Sans CJK JP"/>
                <a:ea typeface="Noto Sans CJK JP"/>
                <a:cs typeface="Noto Sans CJK JP"/>
              </a:rPr>
              <a:t>動きと入力はどう変わるか。</a:t>
            </a:r>
          </a:p>
        </p:txBody>
      </p:sp>
      <p:graphicFrame>
        <p:nvGraphicFramePr>
          <p:cNvPr id="19" name=""/>
          <p:cNvGraphicFramePr/>
          <p:nvPr/>
        </p:nvGraphicFramePr>
        <p:xfrm>
          <a:off x="609600" y="3838575"/>
          <a:ext cx="5438775" cy="2019300"/>
        </p:xfrm>
        <a:graphic>
          <a:graphicData uri="http://schemas.openxmlformats.org/drawingml/2006/table">
            <a:tbl>
              <a:tblPr/>
              <a:tblGrid>
                <a:gridCol w="2714625"/>
                <a:gridCol w="1362075"/>
                <a:gridCol w="1362075"/>
              </a:tblGrid>
              <a:tr h="504825">
                <a:tc>
                  <a:txBody>
                    <a:bodyPr wrap="square" lIns="104775" tIns="57150" rIns="85725" bIns="57150">
                      <a:noAutofit/>
                    </a:bodyPr>
                    <a:lstStyle/>
                    <a:p>
                      <a:r>
                        <a:rPr sz="1725" b="1">
                          <a:solidFill>
                            <a:srgbClr val="FFFFFF"/>
                          </a:solidFill>
                          <a:latin typeface="Noto Sans CJK JP"/>
                          <a:ea typeface="Noto Sans CJK JP"/>
                          <a:cs typeface="Noto Sans CJK JP"/>
                        </a:rPr>
                        <a:t>比較する項目</a:t>
                      </a:r>
                    </a:p>
                  </a:txBody>
                  <a:tcPr marL="91440" marR="91440" marT="45720" marB="45720" anchor="ctr">
                    <a:solidFill>
                      <a:srgbClr val="17323B"/>
                    </a:solidFill>
                  </a:tcPr>
                </a:tc>
                <a:tc>
                  <a:txBody>
                    <a:bodyPr wrap="square" lIns="104775" tIns="57150" rIns="85725" bIns="57150">
                      <a:noAutofit/>
                    </a:bodyPr>
                    <a:lstStyle/>
                    <a:p>
                      <a:r>
                        <a:rPr sz="1725" b="1">
                          <a:solidFill>
                            <a:srgbClr val="FFFFFF"/>
                          </a:solidFill>
                          <a:latin typeface="Noto Sans CJK JP"/>
                          <a:ea typeface="Noto Sans CJK JP"/>
                          <a:cs typeface="Noto Sans CJK JP"/>
                        </a:rPr>
                        <a:t>条件A</a:t>
                      </a:r>
                    </a:p>
                  </a:txBody>
                  <a:tcPr marL="91440" marR="91440" marT="45720" marB="45720" anchor="ctr">
                    <a:solidFill>
                      <a:srgbClr val="17323B"/>
                    </a:solidFill>
                  </a:tcPr>
                </a:tc>
                <a:tc>
                  <a:txBody>
                    <a:bodyPr wrap="square" lIns="104775" tIns="57150" rIns="85725" bIns="57150">
                      <a:noAutofit/>
                    </a:bodyPr>
                    <a:lstStyle/>
                    <a:p>
                      <a:r>
                        <a:rPr sz="1725" b="1">
                          <a:solidFill>
                            <a:srgbClr val="FFFFFF"/>
                          </a:solidFill>
                          <a:latin typeface="Noto Sans CJK JP"/>
                          <a:ea typeface="Noto Sans CJK JP"/>
                          <a:cs typeface="Noto Sans CJK JP"/>
                        </a:rPr>
                        <a:t>条件B</a:t>
                      </a:r>
                    </a:p>
                  </a:txBody>
                  <a:tcPr marL="91440" marR="91440" marT="45720" marB="45720" anchor="ctr">
                    <a:solidFill>
                      <a:srgbClr val="17323B"/>
                    </a:solidFill>
                  </a:tcPr>
                </a:tc>
              </a:tr>
              <a:tr h="504825">
                <a:tc>
                  <a:txBody>
                    <a:bodyPr wrap="square" lIns="104775" tIns="57150" rIns="85725" bIns="57150">
                      <a:noAutofit/>
                    </a:bodyPr>
                    <a:lstStyle/>
                    <a:p>
                      <a:r>
                        <a:rPr sz="1725" b="0">
                          <a:solidFill>
                            <a:srgbClr val="17323B"/>
                          </a:solidFill>
                          <a:latin typeface="Noto Sans CJK JP"/>
                          <a:ea typeface="Noto Sans CJK JP"/>
                          <a:cs typeface="Noto Sans CJK JP"/>
                        </a:rPr>
                        <a:t>制御ゲイン</a:t>
                      </a:r>
                    </a:p>
                  </a:txBody>
                  <a:tcPr marL="91440" marR="91440" marT="45720" marB="45720" anchor="ctr">
                    <a:solidFill>
                      <a:srgbClr val="F7F5EF"/>
                    </a:solidFill>
                  </a:tcPr>
                </a:tc>
                <a:tc>
                  <a:txBody>
                    <a:bodyPr wrap="square" lIns="104775" tIns="57150" rIns="85725" bIns="57150">
                      <a:noAutofit/>
                    </a:bodyPr>
                    <a:lstStyle/>
                    <a:p>
                      <a:r>
                        <a:rPr sz="1725" b="0">
                          <a:solidFill>
                            <a:srgbClr val="17323B"/>
                          </a:solidFill>
                          <a:latin typeface="Noto Sans CJK JP"/>
                          <a:ea typeface="Noto Sans CJK JP"/>
                          <a:cs typeface="Noto Sans CJK JP"/>
                        </a:rPr>
                        <a:t>小さめ</a:t>
                      </a:r>
                    </a:p>
                  </a:txBody>
                  <a:tcPr marL="91440" marR="91440" marT="45720" marB="45720" anchor="ctr">
                    <a:solidFill>
                      <a:srgbClr val="F7F5EF"/>
                    </a:solidFill>
                  </a:tcPr>
                </a:tc>
                <a:tc>
                  <a:txBody>
                    <a:bodyPr wrap="square" lIns="104775" tIns="57150" rIns="85725" bIns="57150">
                      <a:noAutofit/>
                    </a:bodyPr>
                    <a:lstStyle/>
                    <a:p>
                      <a:r>
                        <a:rPr sz="1725" b="0">
                          <a:solidFill>
                            <a:srgbClr val="17323B"/>
                          </a:solidFill>
                          <a:latin typeface="Noto Sans CJK JP"/>
                          <a:ea typeface="Noto Sans CJK JP"/>
                          <a:cs typeface="Noto Sans CJK JP"/>
                        </a:rPr>
                        <a:t>大きめ</a:t>
                      </a:r>
                    </a:p>
                  </a:txBody>
                  <a:tcPr marL="91440" marR="91440" marT="45720" marB="45720" anchor="ctr">
                    <a:solidFill>
                      <a:srgbClr val="F7F5EF"/>
                    </a:solidFill>
                  </a:tcPr>
                </a:tc>
              </a:tr>
              <a:tr h="504825">
                <a:tc>
                  <a:txBody>
                    <a:bodyPr wrap="square" lIns="104775" tIns="57150" rIns="85725" bIns="57150">
                      <a:noAutofit/>
                    </a:bodyPr>
                    <a:lstStyle/>
                    <a:p>
                      <a:r>
                        <a:rPr sz="1725" b="0">
                          <a:solidFill>
                            <a:srgbClr val="17323B"/>
                          </a:solidFill>
                          <a:latin typeface="Noto Sans CJK JP"/>
                          <a:ea typeface="Noto Sans CJK JP"/>
                          <a:cs typeface="Noto Sans CJK JP"/>
                        </a:rPr>
                        <a:t>初期状態</a:t>
                      </a:r>
                    </a:p>
                  </a:txBody>
                  <a:tcPr marL="91440" marR="91440" marT="45720" marB="45720" anchor="ctr">
                    <a:solidFill>
                      <a:srgbClr val="F7F5EF"/>
                    </a:solidFill>
                  </a:tcPr>
                </a:tc>
                <a:tc>
                  <a:txBody>
                    <a:bodyPr wrap="square" lIns="104775" tIns="57150" rIns="85725" bIns="57150">
                      <a:noAutofit/>
                    </a:bodyPr>
                    <a:lstStyle/>
                    <a:p>
                      <a:r>
                        <a:rPr sz="1725" b="0">
                          <a:solidFill>
                            <a:srgbClr val="17323B"/>
                          </a:solidFill>
                          <a:latin typeface="Noto Sans CJK JP"/>
                          <a:ea typeface="Noto Sans CJK JP"/>
                          <a:cs typeface="Noto Sans CJK JP"/>
                        </a:rPr>
                        <a:t>同じ</a:t>
                      </a:r>
                    </a:p>
                  </a:txBody>
                  <a:tcPr marL="91440" marR="91440" marT="45720" marB="45720" anchor="ctr">
                    <a:solidFill>
                      <a:srgbClr val="F7F5EF"/>
                    </a:solidFill>
                  </a:tcPr>
                </a:tc>
                <a:tc>
                  <a:txBody>
                    <a:bodyPr wrap="square" lIns="104775" tIns="57150" rIns="85725" bIns="57150">
                      <a:noAutofit/>
                    </a:bodyPr>
                    <a:lstStyle/>
                    <a:p>
                      <a:r>
                        <a:rPr sz="1725" b="0">
                          <a:solidFill>
                            <a:srgbClr val="17323B"/>
                          </a:solidFill>
                          <a:latin typeface="Noto Sans CJK JP"/>
                          <a:ea typeface="Noto Sans CJK JP"/>
                          <a:cs typeface="Noto Sans CJK JP"/>
                        </a:rPr>
                        <a:t>同じ</a:t>
                      </a:r>
                    </a:p>
                  </a:txBody>
                  <a:tcPr marL="91440" marR="91440" marT="45720" marB="45720" anchor="ctr">
                    <a:solidFill>
                      <a:srgbClr val="F7F5EF"/>
                    </a:solidFill>
                  </a:tcPr>
                </a:tc>
              </a:tr>
              <a:tr h="504825">
                <a:tc>
                  <a:txBody>
                    <a:bodyPr wrap="square" lIns="104775" tIns="57150" rIns="85725" bIns="57150">
                      <a:noAutofit/>
                    </a:bodyPr>
                    <a:lstStyle/>
                    <a:p>
                      <a:r>
                        <a:rPr sz="1725" b="0">
                          <a:solidFill>
                            <a:srgbClr val="17323B"/>
                          </a:solidFill>
                          <a:latin typeface="Noto Sans CJK JP"/>
                          <a:ea typeface="Noto Sans CJK JP"/>
                          <a:cs typeface="Noto Sans CJK JP"/>
                        </a:rPr>
                        <a:t>モデル・時間刻み</a:t>
                      </a:r>
                    </a:p>
                  </a:txBody>
                  <a:tcPr marL="91440" marR="91440" marT="45720" marB="45720" anchor="ctr">
                    <a:solidFill>
                      <a:srgbClr val="F7F5EF"/>
                    </a:solidFill>
                  </a:tcPr>
                </a:tc>
                <a:tc>
                  <a:txBody>
                    <a:bodyPr wrap="square" lIns="104775" tIns="57150" rIns="85725" bIns="57150">
                      <a:noAutofit/>
                    </a:bodyPr>
                    <a:lstStyle/>
                    <a:p>
                      <a:r>
                        <a:rPr sz="1725" b="0">
                          <a:solidFill>
                            <a:srgbClr val="17323B"/>
                          </a:solidFill>
                          <a:latin typeface="Noto Sans CJK JP"/>
                          <a:ea typeface="Noto Sans CJK JP"/>
                          <a:cs typeface="Noto Sans CJK JP"/>
                        </a:rPr>
                        <a:t>同じ</a:t>
                      </a:r>
                    </a:p>
                  </a:txBody>
                  <a:tcPr marL="91440" marR="91440" marT="45720" marB="45720" anchor="ctr">
                    <a:solidFill>
                      <a:srgbClr val="F7F5EF"/>
                    </a:solidFill>
                  </a:tcPr>
                </a:tc>
                <a:tc>
                  <a:txBody>
                    <a:bodyPr wrap="square" lIns="104775" tIns="57150" rIns="85725" bIns="57150">
                      <a:noAutofit/>
                    </a:bodyPr>
                    <a:lstStyle/>
                    <a:p>
                      <a:r>
                        <a:rPr sz="1725" b="0">
                          <a:solidFill>
                            <a:srgbClr val="17323B"/>
                          </a:solidFill>
                          <a:latin typeface="Noto Sans CJK JP"/>
                          <a:ea typeface="Noto Sans CJK JP"/>
                          <a:cs typeface="Noto Sans CJK JP"/>
                        </a:rPr>
                        <a:t>同じ</a:t>
                      </a:r>
                    </a:p>
                  </a:txBody>
                  <a:tcPr marL="91440" marR="91440" marT="45720" marB="45720" anchor="ctr">
                    <a:solidFill>
                      <a:srgbClr val="F7F5EF"/>
                    </a:solidFill>
                  </a:tcPr>
                </a:tc>
              </a:tr>
            </a:tbl>
          </a:graphicData>
        </a:graphic>
      </p:graphicFrame>
      <p:sp>
        <p:nvSpPr>
          <p:cNvPr id="8" name="記録する">
            <a:extLst>
              <a:ext uri="{FF2B5EF4-FFF2-40B4-BE49-F238E27FC236}">
                <a16:creationId id="{835E1113-A685-468A-94C0-91CCA3E17D8C}"/>
              </a:ext>
            </a:extLst>
          </p:cNvPr>
          <p:cNvSpPr>
            <a:spLocks noGrp="1"/>
          </p:cNvSpPr>
          <p:nvPr/>
        </p:nvSpPr>
        <p:spPr>
          <a:xfrm>
            <a:off x="6619875" y="2047875"/>
            <a:ext cx="4953000"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記録する</a:t>
            </a:r>
          </a:p>
        </p:txBody>
      </p:sp>
      <p:sp>
        <p:nvSpPr>
          <p:cNvPr id="9" name="角度などの状態と、制御入力。&#10;比較した条件を図に添える。">
            <a:extLst>
              <a:ext uri="{FF2B5EF4-FFF2-40B4-BE49-F238E27FC236}">
                <a16:creationId id="{638E2CE4-C61F-4C71-9B0E-6C8BADA234F6}"/>
              </a:ext>
            </a:extLst>
          </p:cNvPr>
          <p:cNvSpPr>
            <a:spLocks noGrp="1"/>
          </p:cNvSpPr>
          <p:nvPr/>
        </p:nvSpPr>
        <p:spPr>
          <a:xfrm>
            <a:off x="6619875" y="2514600"/>
            <a:ext cx="4953000"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角度などの状態と、制御入力。</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比較した条件を図に添える。</a:t>
            </a:r>
          </a:p>
        </p:txBody>
      </p:sp>
      <p:sp>
        <p:nvSpPr>
          <p:cNvPr id="10" name="考える">
            <a:extLst>
              <a:ext uri="{FF2B5EF4-FFF2-40B4-BE49-F238E27FC236}">
                <a16:creationId id="{A5E1C954-8825-4B7D-8030-3815D0B56C3B}"/>
              </a:ext>
            </a:extLst>
          </p:cNvPr>
          <p:cNvSpPr>
            <a:spLocks noGrp="1"/>
          </p:cNvSpPr>
          <p:nvPr/>
        </p:nvSpPr>
        <p:spPr>
          <a:xfrm>
            <a:off x="6619875" y="3657600"/>
            <a:ext cx="4953000"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考える</a:t>
            </a:r>
          </a:p>
        </p:txBody>
      </p:sp>
      <p:sp>
        <p:nvSpPr>
          <p:cNvPr id="11" name="安定したか、揺れが残ったか。&#10;入力が過大になっていないか。">
            <a:extLst>
              <a:ext uri="{FF2B5EF4-FFF2-40B4-BE49-F238E27FC236}">
                <a16:creationId id="{4BCF1468-00AF-4F16-B45B-6B94A4974C99}"/>
              </a:ext>
            </a:extLst>
          </p:cNvPr>
          <p:cNvSpPr>
            <a:spLocks noGrp="1"/>
          </p:cNvSpPr>
          <p:nvPr/>
        </p:nvSpPr>
        <p:spPr>
          <a:xfrm>
            <a:off x="6619875" y="4124325"/>
            <a:ext cx="4953000"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安定したか、揺れが残ったか。</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入力が過大になっていないか。</a:t>
            </a:r>
          </a:p>
        </p:txBody>
      </p:sp>
      <p:sp>
        <p:nvSpPr>
          <p:cNvPr id="12" name="結果を見てから、&#10;次に変える条件を一つ決める。">
            <a:extLst>
              <a:ext uri="{FF2B5EF4-FFF2-40B4-BE49-F238E27FC236}">
                <a16:creationId id="{2E7C4452-1672-455B-9F7D-B16866E6FEF2}"/>
              </a:ext>
            </a:extLst>
          </p:cNvPr>
          <p:cNvSpPr>
            <a:spLocks noGrp="1"/>
          </p:cNvSpPr>
          <p:nvPr/>
        </p:nvSpPr>
        <p:spPr>
          <a:xfrm>
            <a:off x="6619875" y="5353050"/>
            <a:ext cx="4953000" cy="857250"/>
          </a:xfrm>
          <a:prstGeom prst="rect">
            <a:avLst/>
          </a:prstGeom>
          <a:noFill/>
          <a:ln w="0">
            <a:noFill/>
          </a:ln>
        </p:spPr>
        <p:txBody>
          <a:bodyPr wrap="square" lIns="0" tIns="0" rIns="0" bIns="0" anchor="t">
            <a:noAutofit/>
          </a:bodyPr>
          <a:lstStyle/>
          <a:p>
            <a:pPr algn="l">
              <a:lnSpc>
                <a:spcPct val="118000"/>
              </a:lnSpc>
              <a:buNone/>
              <a:defRPr sz="2025" b="1">
                <a:solidFill>
                  <a:srgbClr val="247C7A"/>
                </a:solidFill>
                <a:latin typeface="Noto Sans CJK JP"/>
                <a:ea typeface="Noto Sans CJK JP"/>
                <a:cs typeface="Noto Sans CJK JP"/>
              </a:defRPr>
            </a:pPr>
            <a:r>
              <a:rPr sz="2025" b="1">
                <a:solidFill>
                  <a:srgbClr val="247C7A"/>
                </a:solidFill>
                <a:latin typeface="Noto Sans CJK JP"/>
                <a:ea typeface="Noto Sans CJK JP"/>
                <a:cs typeface="Noto Sans CJK JP"/>
              </a:rPr>
              <a:t>結果を見てから、</a:t>
            </a:r>
          </a:p>
          <a:p>
            <a:pPr algn="l">
              <a:lnSpc>
                <a:spcPct val="118000"/>
              </a:lnSpc>
              <a:buNone/>
              <a:defRPr sz="2025" b="1">
                <a:solidFill>
                  <a:srgbClr val="247C7A"/>
                </a:solidFill>
                <a:latin typeface="Noto Sans CJK JP"/>
                <a:ea typeface="Noto Sans CJK JP"/>
                <a:cs typeface="Noto Sans CJK JP"/>
              </a:defRPr>
            </a:pPr>
            <a:r>
              <a:rPr sz="2025" b="1">
                <a:solidFill>
                  <a:srgbClr val="247C7A"/>
                </a:solidFill>
                <a:latin typeface="Noto Sans CJK JP"/>
                <a:ea typeface="Noto Sans CJK JP"/>
                <a:cs typeface="Noto Sans CJK JP"/>
              </a:rPr>
              <a:t>次に変える条件を一つ決める。</a:t>
            </a:r>
          </a:p>
        </p:txBody>
      </p:sp>
    </p:spTree>
    <p:extLst>
      <p:ext uri="{BB962C8B-B14F-4D97-AF65-F5344CB8AC3E}">
        <p14:creationId val="1062364041"/>
      </p:ext>
    </p:extLst>
  </p:cSld>
</p:sld>
</file>

<file path=ppt/slides/slide21.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9" name="学び方と計画">
            <a:extLst>
              <a:ext uri="{FF2B5EF4-FFF2-40B4-BE49-F238E27FC236}">
                <a16:creationId id="{3105BB72-C942-4B4F-8E85-0D2A97B4862D}"/>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学び方と計画</a:t>
            </a:r>
          </a:p>
        </p:txBody>
      </p:sp>
      <p:sp>
        <p:nvSpPr>
          <p:cNvPr id="2" name="自分の学習計画">
            <a:extLst>
              <a:ext uri="{FF2B5EF4-FFF2-40B4-BE49-F238E27FC236}">
                <a16:creationId id="{E9C8DA3A-702B-435E-A2CD-97F8DE241EF7}"/>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自分の学習計画</a:t>
            </a:r>
          </a:p>
        </p:txBody>
      </p:sp>
      <p:sp>
        <p:nvSpPr>
          <p:cNvPr id="3" name="毎週、具体的な目標と作業時間を決める">
            <a:extLst>
              <a:ext uri="{FF2B5EF4-FFF2-40B4-BE49-F238E27FC236}">
                <a16:creationId id="{C2755C6D-F1A7-4D34-BF6C-C0C692A6CF1B}"/>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毎週、具体的な目標と作業時間を決める</a:t>
            </a:r>
          </a:p>
        </p:txBody>
      </p:sp>
      <p:sp>
        <p:nvSpPr>
          <p:cNvPr id="4" name="18"/>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21</a:t>
            </a:r>
          </a:p>
        </p:txBody>
      </p:sp>
      <p:sp>
        <p:nvSpPr>
          <p:cNvPr id="5" name="今の自分">
            <a:extLst>
              <a:ext uri="{FF2B5EF4-FFF2-40B4-BE49-F238E27FC236}">
                <a16:creationId id="{43297CAD-2C10-4CA6-8721-175A0439BAA7}"/>
              </a:ext>
            </a:extLst>
          </p:cNvPr>
          <p:cNvSpPr>
            <a:spLocks noGrp="1"/>
          </p:cNvSpPr>
          <p:nvPr/>
        </p:nvSpPr>
        <p:spPr>
          <a:xfrm>
            <a:off x="609600" y="2000250"/>
            <a:ext cx="2124075" cy="409575"/>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今の自分</a:t>
            </a:r>
          </a:p>
        </p:txBody>
      </p:sp>
      <p:sp>
        <p:nvSpPr>
          <p:cNvPr id="6" name="できること／確認したい基礎">
            <a:extLst>
              <a:ext uri="{FF2B5EF4-FFF2-40B4-BE49-F238E27FC236}">
                <a16:creationId id="{CC3F8D2C-BAFF-4EA3-AEBD-D13A2276780C}"/>
              </a:ext>
            </a:extLst>
          </p:cNvPr>
          <p:cNvSpPr>
            <a:spLocks noGrp="1"/>
          </p:cNvSpPr>
          <p:nvPr/>
        </p:nvSpPr>
        <p:spPr>
          <a:xfrm>
            <a:off x="3067050" y="2000250"/>
            <a:ext cx="8477250" cy="342900"/>
          </a:xfrm>
          <a:prstGeom prst="rect">
            <a:avLst/>
          </a:prstGeom>
          <a:noFill/>
          <a:ln w="0">
            <a:noFill/>
          </a:ln>
        </p:spPr>
        <p:txBody>
          <a:bodyPr wrap="square" lIns="0" tIns="0" rIns="0" bIns="0" anchor="t">
            <a:noAutofit/>
          </a:bodyPr>
          <a:lstStyle/>
          <a:p>
            <a:pPr algn="l">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できること／確認したい基礎</a:t>
            </a:r>
          </a:p>
        </p:txBody>
      </p:sp>
      <p:sp>
        <p:nvSpPr>
          <p:cNvPr id="7" name="">
            <a:extLst>
              <a:ext uri="{FF2B5EF4-FFF2-40B4-BE49-F238E27FC236}">
                <a16:creationId id="{73E08685-CFF9-4DCE-BE40-E0F81536DFB4}"/>
              </a:ext>
            </a:extLst>
          </p:cNvPr>
          <p:cNvSpPr>
            <a:spLocks noGrp="1"/>
          </p:cNvSpPr>
          <p:nvPr/>
        </p:nvSpPr>
        <p:spPr>
          <a:xfrm>
            <a:off x="3067050" y="2676525"/>
            <a:ext cx="8505825" cy="9525"/>
          </a:xfrm>
          <a:prstGeom prst="rect">
            <a:avLst/>
          </a:prstGeom>
          <a:solidFill>
            <a:srgbClr val="C8D4D0"/>
          </a:solidFill>
          <a:ln w="0">
            <a:noFill/>
          </a:ln>
        </p:spPr>
      </p:sp>
      <p:sp>
        <p:nvSpPr>
          <p:cNvPr id="8" name="今週の目標">
            <a:extLst>
              <a:ext uri="{FF2B5EF4-FFF2-40B4-BE49-F238E27FC236}">
                <a16:creationId id="{4394BD1B-F5DD-41BA-B4B7-29EF62F65D1B}"/>
              </a:ext>
            </a:extLst>
          </p:cNvPr>
          <p:cNvSpPr>
            <a:spLocks noGrp="1"/>
          </p:cNvSpPr>
          <p:nvPr/>
        </p:nvSpPr>
        <p:spPr>
          <a:xfrm>
            <a:off x="609600" y="2886075"/>
            <a:ext cx="2124075" cy="409575"/>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今週の目標</a:t>
            </a:r>
          </a:p>
        </p:txBody>
      </p:sp>
      <p:sp>
        <p:nvSpPr>
          <p:cNvPr id="9" name="何を動かし、何を説明できるようになるか">
            <a:extLst>
              <a:ext uri="{FF2B5EF4-FFF2-40B4-BE49-F238E27FC236}">
                <a16:creationId id="{85C61BD4-134C-4388-AFB2-42EF4C36DFC6}"/>
              </a:ext>
            </a:extLst>
          </p:cNvPr>
          <p:cNvSpPr>
            <a:spLocks noGrp="1"/>
          </p:cNvSpPr>
          <p:nvPr/>
        </p:nvSpPr>
        <p:spPr>
          <a:xfrm>
            <a:off x="3067050" y="2886075"/>
            <a:ext cx="8477250" cy="342900"/>
          </a:xfrm>
          <a:prstGeom prst="rect">
            <a:avLst/>
          </a:prstGeom>
          <a:noFill/>
          <a:ln w="0">
            <a:noFill/>
          </a:ln>
        </p:spPr>
        <p:txBody>
          <a:bodyPr wrap="square" lIns="0" tIns="0" rIns="0" bIns="0" anchor="t">
            <a:noAutofit/>
          </a:bodyPr>
          <a:lstStyle/>
          <a:p>
            <a:pPr algn="l">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何を動かし、何を説明できるようになるか</a:t>
            </a:r>
          </a:p>
        </p:txBody>
      </p:sp>
      <p:sp>
        <p:nvSpPr>
          <p:cNvPr id="10" name="">
            <a:extLst>
              <a:ext uri="{FF2B5EF4-FFF2-40B4-BE49-F238E27FC236}">
                <a16:creationId id="{4A47ADD9-7DDB-4EFF-B348-061CA620250D}"/>
              </a:ext>
            </a:extLst>
          </p:cNvPr>
          <p:cNvSpPr>
            <a:spLocks noGrp="1"/>
          </p:cNvSpPr>
          <p:nvPr/>
        </p:nvSpPr>
        <p:spPr>
          <a:xfrm>
            <a:off x="3067050" y="3562350"/>
            <a:ext cx="8505825" cy="9525"/>
          </a:xfrm>
          <a:prstGeom prst="rect">
            <a:avLst/>
          </a:prstGeom>
          <a:solidFill>
            <a:srgbClr val="C8D4D0"/>
          </a:solidFill>
          <a:ln w="0">
            <a:noFill/>
          </a:ln>
        </p:spPr>
      </p:sp>
      <p:sp>
        <p:nvSpPr>
          <p:cNvPr id="11" name="自習の予定">
            <a:extLst>
              <a:ext uri="{FF2B5EF4-FFF2-40B4-BE49-F238E27FC236}">
                <a16:creationId id="{8A408910-BFB8-4F38-89CE-4B956FD36D85}"/>
              </a:ext>
            </a:extLst>
          </p:cNvPr>
          <p:cNvSpPr>
            <a:spLocks noGrp="1"/>
          </p:cNvSpPr>
          <p:nvPr/>
        </p:nvSpPr>
        <p:spPr>
          <a:xfrm>
            <a:off x="609600" y="3771900"/>
            <a:ext cx="2124075" cy="409575"/>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自習の予定</a:t>
            </a:r>
          </a:p>
        </p:txBody>
      </p:sp>
      <p:sp>
        <p:nvSpPr>
          <p:cNvPr id="12" name="いつ、何を読み、何を試すか">
            <a:extLst>
              <a:ext uri="{FF2B5EF4-FFF2-40B4-BE49-F238E27FC236}">
                <a16:creationId id="{70C97D45-6C96-4BC5-9AEE-9CD57C021CEF}"/>
              </a:ext>
            </a:extLst>
          </p:cNvPr>
          <p:cNvSpPr>
            <a:spLocks noGrp="1"/>
          </p:cNvSpPr>
          <p:nvPr/>
        </p:nvSpPr>
        <p:spPr>
          <a:xfrm>
            <a:off x="3067050" y="3771900"/>
            <a:ext cx="8477250" cy="342900"/>
          </a:xfrm>
          <a:prstGeom prst="rect">
            <a:avLst/>
          </a:prstGeom>
          <a:noFill/>
          <a:ln w="0">
            <a:noFill/>
          </a:ln>
        </p:spPr>
        <p:txBody>
          <a:bodyPr wrap="square" lIns="0" tIns="0" rIns="0" bIns="0" anchor="t">
            <a:noAutofit/>
          </a:bodyPr>
          <a:lstStyle/>
          <a:p>
            <a:pPr algn="l">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いつ、何を読み、何を試すか</a:t>
            </a:r>
          </a:p>
        </p:txBody>
      </p:sp>
      <p:sp>
        <p:nvSpPr>
          <p:cNvPr id="13" name="">
            <a:extLst>
              <a:ext uri="{FF2B5EF4-FFF2-40B4-BE49-F238E27FC236}">
                <a16:creationId id="{6A5B1560-6057-427C-BDAC-F82A979CCFC7}"/>
              </a:ext>
            </a:extLst>
          </p:cNvPr>
          <p:cNvSpPr>
            <a:spLocks noGrp="1"/>
          </p:cNvSpPr>
          <p:nvPr/>
        </p:nvSpPr>
        <p:spPr>
          <a:xfrm>
            <a:off x="3067050" y="4448175"/>
            <a:ext cx="8505825" cy="9525"/>
          </a:xfrm>
          <a:prstGeom prst="rect">
            <a:avLst/>
          </a:prstGeom>
          <a:solidFill>
            <a:srgbClr val="C8D4D0"/>
          </a:solidFill>
          <a:ln w="0">
            <a:noFill/>
          </a:ln>
        </p:spPr>
      </p:sp>
      <p:sp>
        <p:nvSpPr>
          <p:cNvPr id="14" name="相談したいこと">
            <a:extLst>
              <a:ext uri="{FF2B5EF4-FFF2-40B4-BE49-F238E27FC236}">
                <a16:creationId id="{836248E8-1E0C-410E-8C11-E5A86F4A1594}"/>
              </a:ext>
            </a:extLst>
          </p:cNvPr>
          <p:cNvSpPr>
            <a:spLocks noGrp="1"/>
          </p:cNvSpPr>
          <p:nvPr/>
        </p:nvSpPr>
        <p:spPr>
          <a:xfrm>
            <a:off x="609600" y="4657725"/>
            <a:ext cx="2124075" cy="409575"/>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相談したいこと</a:t>
            </a:r>
          </a:p>
        </p:txBody>
      </p:sp>
      <p:sp>
        <p:nvSpPr>
          <p:cNvPr id="15" name="試した内容と、止まっている点">
            <a:extLst>
              <a:ext uri="{FF2B5EF4-FFF2-40B4-BE49-F238E27FC236}">
                <a16:creationId id="{58544394-788B-4DFF-AD3A-962C180CC692}"/>
              </a:ext>
            </a:extLst>
          </p:cNvPr>
          <p:cNvSpPr>
            <a:spLocks noGrp="1"/>
          </p:cNvSpPr>
          <p:nvPr/>
        </p:nvSpPr>
        <p:spPr>
          <a:xfrm>
            <a:off x="3067050" y="4657725"/>
            <a:ext cx="8477250" cy="342900"/>
          </a:xfrm>
          <a:prstGeom prst="rect">
            <a:avLst/>
          </a:prstGeom>
          <a:noFill/>
          <a:ln w="0">
            <a:noFill/>
          </a:ln>
        </p:spPr>
        <p:txBody>
          <a:bodyPr wrap="square" lIns="0" tIns="0" rIns="0" bIns="0" anchor="t">
            <a:noAutofit/>
          </a:bodyPr>
          <a:lstStyle/>
          <a:p>
            <a:pPr algn="l">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試した内容と、止まっている点</a:t>
            </a:r>
          </a:p>
        </p:txBody>
      </p:sp>
      <p:sp>
        <p:nvSpPr>
          <p:cNvPr id="16" name="">
            <a:extLst>
              <a:ext uri="{FF2B5EF4-FFF2-40B4-BE49-F238E27FC236}">
                <a16:creationId id="{EA0BAE0D-A3B3-404B-9E2C-4638CD2E5992}"/>
              </a:ext>
            </a:extLst>
          </p:cNvPr>
          <p:cNvSpPr>
            <a:spLocks noGrp="1"/>
          </p:cNvSpPr>
          <p:nvPr/>
        </p:nvSpPr>
        <p:spPr>
          <a:xfrm>
            <a:off x="3067050" y="5334000"/>
            <a:ext cx="8505825" cy="9525"/>
          </a:xfrm>
          <a:prstGeom prst="rect">
            <a:avLst/>
          </a:prstGeom>
          <a:solidFill>
            <a:srgbClr val="C8D4D0"/>
          </a:solidFill>
          <a:ln w="0">
            <a:noFill/>
          </a:ln>
        </p:spPr>
      </p:sp>
      <p:sp>
        <p:nvSpPr>
          <p:cNvPr id="17" name="">
            <a:extLst>
              <a:ext uri="{FF2B5EF4-FFF2-40B4-BE49-F238E27FC236}">
                <a16:creationId id="{E8A4078F-13B3-49C4-BEAE-82DA81203E9D}"/>
              </a:ext>
            </a:extLst>
          </p:cNvPr>
          <p:cNvSpPr>
            <a:spLocks noGrp="1"/>
          </p:cNvSpPr>
          <p:nvPr/>
        </p:nvSpPr>
        <p:spPr>
          <a:xfrm>
            <a:off x="609600" y="5791200"/>
            <a:ext cx="10972800" cy="457200"/>
          </a:xfrm>
          <a:prstGeom prst="rect">
            <a:avLst/>
          </a:prstGeom>
          <a:solidFill>
            <a:srgbClr val="17323B"/>
          </a:solidFill>
          <a:ln w="0">
            <a:noFill/>
          </a:ln>
        </p:spPr>
      </p:sp>
      <p:sp>
        <p:nvSpPr>
          <p:cNvPr id="18" name="主に話す人は交代する。コードと理解の記録は、一人ずつ残す。">
            <a:extLst>
              <a:ext uri="{FF2B5EF4-FFF2-40B4-BE49-F238E27FC236}">
                <a16:creationId id="{1874E614-2BA8-4C94-9E4B-9E2876EA4AFB}"/>
              </a:ext>
            </a:extLst>
          </p:cNvPr>
          <p:cNvSpPr>
            <a:spLocks noGrp="1"/>
          </p:cNvSpPr>
          <p:nvPr/>
        </p:nvSpPr>
        <p:spPr>
          <a:xfrm>
            <a:off x="800100" y="5857875"/>
            <a:ext cx="10591800" cy="342900"/>
          </a:xfrm>
          <a:prstGeom prst="rect">
            <a:avLst/>
          </a:prstGeom>
          <a:noFill/>
          <a:ln w="0">
            <a:noFill/>
          </a:ln>
        </p:spPr>
        <p:txBody>
          <a:bodyPr wrap="square" lIns="0" tIns="0" rIns="0" bIns="0" anchor="t">
            <a:noAutofit/>
          </a:bodyPr>
          <a:lstStyle/>
          <a:p>
            <a:pPr algn="l">
              <a:lnSpc>
                <a:spcPct val="118000"/>
              </a:lnSpc>
              <a:buNone/>
              <a:defRPr sz="1875" b="1">
                <a:solidFill>
                  <a:srgbClr val="FFFFFF"/>
                </a:solidFill>
                <a:latin typeface="Noto Sans CJK JP"/>
                <a:ea typeface="Noto Sans CJK JP"/>
                <a:cs typeface="Noto Sans CJK JP"/>
              </a:defRPr>
            </a:pPr>
            <a:r>
              <a:rPr sz="1875" b="1">
                <a:solidFill>
                  <a:srgbClr val="FFFFFF"/>
                </a:solidFill>
                <a:latin typeface="Noto Sans CJK JP"/>
                <a:ea typeface="Noto Sans CJK JP"/>
                <a:cs typeface="Noto Sans CJK JP"/>
              </a:rPr>
              <a:t>主に話す人は交代する。コードと理解の記録は、一人ずつ残す。</a:t>
            </a:r>
          </a:p>
        </p:txBody>
      </p:sp>
    </p:spTree>
    <p:extLst>
      <p:ext uri="{BB962C8B-B14F-4D97-AF65-F5344CB8AC3E}">
        <p14:creationId val="1769550636"/>
      </p:ext>
    </p:extLst>
  </p:cSld>
</p:sld>
</file>

<file path=ppt/slides/slide22.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23" name="第1回の課題">
            <a:extLst>
              <a:ext uri="{FF2B5EF4-FFF2-40B4-BE49-F238E27FC236}">
                <a16:creationId id="{446B077E-8AA4-4F44-9FD3-BD4E77CADE3A}"/>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第1回の課題</a:t>
            </a:r>
          </a:p>
        </p:txBody>
      </p:sp>
      <p:sp>
        <p:nvSpPr>
          <p:cNvPr id="2" name="今日の課題：ColabとPython">
            <a:extLst>
              <a:ext uri="{FF2B5EF4-FFF2-40B4-BE49-F238E27FC236}">
                <a16:creationId id="{420DAD6B-4280-4DF8-9B89-3335BB223C3C}"/>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今日の課題：ColabとPython</a:t>
            </a:r>
          </a:p>
        </p:txBody>
      </p:sp>
      <p:sp>
        <p:nvSpPr>
          <p:cNvPr id="3" name="まずは短いコードを読み、予想し、実行して確かめる">
            <a:extLst>
              <a:ext uri="{FF2B5EF4-FFF2-40B4-BE49-F238E27FC236}">
                <a16:creationId id="{C0DE2020-E996-4258-9742-AFD5EBA2DA54}"/>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まずは短いコードを読み、予想し、実行して確かめる</a:t>
            </a:r>
          </a:p>
        </p:txBody>
      </p:sp>
      <p:sp>
        <p:nvSpPr>
          <p:cNvPr id="4" name="19"/>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22</a:t>
            </a:r>
          </a:p>
        </p:txBody>
      </p:sp>
      <p:sp>
        <p:nvSpPr>
          <p:cNvPr id="5" name="1">
            <a:extLst>
              <a:ext uri="{FF2B5EF4-FFF2-40B4-BE49-F238E27FC236}">
                <a16:creationId id="{C0D25A2B-B5DE-4B60-9930-0595B33BB481}"/>
              </a:ext>
            </a:extLst>
          </p:cNvPr>
          <p:cNvSpPr>
            <a:spLocks noGrp="1"/>
          </p:cNvSpPr>
          <p:nvPr/>
        </p:nvSpPr>
        <p:spPr>
          <a:xfrm>
            <a:off x="609600" y="2009775"/>
            <a:ext cx="428625" cy="381000"/>
          </a:xfrm>
          <a:prstGeom prst="rect">
            <a:avLst/>
          </a:prstGeom>
          <a:noFill/>
          <a:ln w="0">
            <a:noFill/>
          </a:ln>
        </p:spPr>
        <p:txBody>
          <a:bodyPr wrap="square" lIns="0" tIns="0" rIns="0" bIns="0" anchor="t">
            <a:noAutofit/>
          </a:bodyPr>
          <a:lstStyle/>
          <a:p>
            <a:pPr algn="l">
              <a:lnSpc>
                <a:spcPct val="118000"/>
              </a:lnSpc>
              <a:buNone/>
              <a:defRPr sz="2250" b="1">
                <a:solidFill>
                  <a:srgbClr val="C9633D"/>
                </a:solidFill>
                <a:latin typeface="Noto Sans CJK JP"/>
                <a:ea typeface="Noto Sans CJK JP"/>
                <a:cs typeface="Noto Sans CJK JP"/>
              </a:defRPr>
            </a:pPr>
            <a:r>
              <a:rPr sz="2250" b="1">
                <a:solidFill>
                  <a:srgbClr val="C9633D"/>
                </a:solidFill>
                <a:latin typeface="Noto Sans CJK JP"/>
                <a:ea typeface="Noto Sans CJK JP"/>
                <a:cs typeface="Noto Sans CJK JP"/>
              </a:rPr>
              <a:t>1</a:t>
            </a:r>
          </a:p>
        </p:txBody>
      </p:sp>
      <p:sp>
        <p:nvSpPr>
          <p:cNvPr id="6" name="自分のNotebookを用意する">
            <a:extLst>
              <a:ext uri="{FF2B5EF4-FFF2-40B4-BE49-F238E27FC236}">
                <a16:creationId id="{FCCC762E-E191-4D64-85F7-2068D7F08F03}"/>
              </a:ext>
            </a:extLst>
          </p:cNvPr>
          <p:cNvSpPr>
            <a:spLocks noGrp="1"/>
          </p:cNvSpPr>
          <p:nvPr/>
        </p:nvSpPr>
        <p:spPr>
          <a:xfrm>
            <a:off x="1171575" y="2009775"/>
            <a:ext cx="5495925" cy="409575"/>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自分のNotebookを用意する</a:t>
            </a:r>
          </a:p>
        </p:txBody>
      </p:sp>
      <p:sp>
        <p:nvSpPr>
          <p:cNvPr id="7" name="配布Notebookを開き、自分のコピーを保存する。">
            <a:extLst>
              <a:ext uri="{FF2B5EF4-FFF2-40B4-BE49-F238E27FC236}">
                <a16:creationId id="{D0DEB1B6-B128-4AB5-99D7-6395251C3CB7}"/>
              </a:ext>
            </a:extLst>
          </p:cNvPr>
          <p:cNvSpPr>
            <a:spLocks noGrp="1"/>
          </p:cNvSpPr>
          <p:nvPr/>
        </p:nvSpPr>
        <p:spPr>
          <a:xfrm>
            <a:off x="1171575" y="2428875"/>
            <a:ext cx="5495925" cy="6667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配布Notebookを開き、自分のコピーを保存する。</a:t>
            </a:r>
          </a:p>
        </p:txBody>
      </p:sp>
      <p:sp>
        <p:nvSpPr>
          <p:cNvPr id="8" name="2">
            <a:extLst>
              <a:ext uri="{FF2B5EF4-FFF2-40B4-BE49-F238E27FC236}">
                <a16:creationId id="{AD280F84-E9F9-4055-A0D7-D2FAD1F5FFDF}"/>
              </a:ext>
            </a:extLst>
          </p:cNvPr>
          <p:cNvSpPr>
            <a:spLocks noGrp="1"/>
          </p:cNvSpPr>
          <p:nvPr/>
        </p:nvSpPr>
        <p:spPr>
          <a:xfrm>
            <a:off x="609600" y="3009900"/>
            <a:ext cx="428625" cy="381000"/>
          </a:xfrm>
          <a:prstGeom prst="rect">
            <a:avLst/>
          </a:prstGeom>
          <a:noFill/>
          <a:ln w="0">
            <a:noFill/>
          </a:ln>
        </p:spPr>
        <p:txBody>
          <a:bodyPr wrap="square" lIns="0" tIns="0" rIns="0" bIns="0" anchor="t">
            <a:noAutofit/>
          </a:bodyPr>
          <a:lstStyle/>
          <a:p>
            <a:pPr algn="l">
              <a:lnSpc>
                <a:spcPct val="118000"/>
              </a:lnSpc>
              <a:buNone/>
              <a:defRPr sz="2250" b="1">
                <a:solidFill>
                  <a:srgbClr val="C9633D"/>
                </a:solidFill>
                <a:latin typeface="Noto Sans CJK JP"/>
                <a:ea typeface="Noto Sans CJK JP"/>
                <a:cs typeface="Noto Sans CJK JP"/>
              </a:defRPr>
            </a:pPr>
            <a:r>
              <a:rPr sz="2250" b="1">
                <a:solidFill>
                  <a:srgbClr val="C9633D"/>
                </a:solidFill>
                <a:latin typeface="Noto Sans CJK JP"/>
                <a:ea typeface="Noto Sans CJK JP"/>
                <a:cs typeface="Noto Sans CJK JP"/>
              </a:rPr>
              <a:t>2</a:t>
            </a:r>
          </a:p>
        </p:txBody>
      </p:sp>
      <p:sp>
        <p:nvSpPr>
          <p:cNvPr id="9" name="コードを実行する">
            <a:extLst>
              <a:ext uri="{FF2B5EF4-FFF2-40B4-BE49-F238E27FC236}">
                <a16:creationId id="{370B78EE-9E3C-422C-A729-FB3968A74410}"/>
              </a:ext>
            </a:extLst>
          </p:cNvPr>
          <p:cNvSpPr>
            <a:spLocks noGrp="1"/>
          </p:cNvSpPr>
          <p:nvPr/>
        </p:nvSpPr>
        <p:spPr>
          <a:xfrm>
            <a:off x="1171575" y="3009900"/>
            <a:ext cx="5495925" cy="409575"/>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コードを実行する</a:t>
            </a:r>
          </a:p>
        </p:txBody>
      </p:sp>
      <p:sp>
        <p:nvSpPr>
          <p:cNvPr id="10" name="コードセルと説明のセルを区別し、出力を確認する。">
            <a:extLst>
              <a:ext uri="{FF2B5EF4-FFF2-40B4-BE49-F238E27FC236}">
                <a16:creationId id="{D3BFD2E9-BBC5-4D3D-BB21-CA8B99D8AADC}"/>
              </a:ext>
            </a:extLst>
          </p:cNvPr>
          <p:cNvSpPr>
            <a:spLocks noGrp="1"/>
          </p:cNvSpPr>
          <p:nvPr/>
        </p:nvSpPr>
        <p:spPr>
          <a:xfrm>
            <a:off x="1171575" y="3429000"/>
            <a:ext cx="5495925" cy="6667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コードセルと説明のセルを区別し、出力を確認する。</a:t>
            </a:r>
          </a:p>
        </p:txBody>
      </p:sp>
      <p:sp>
        <p:nvSpPr>
          <p:cNvPr id="11" name="3">
            <a:extLst>
              <a:ext uri="{FF2B5EF4-FFF2-40B4-BE49-F238E27FC236}">
                <a16:creationId id="{23DFE1F6-9A4E-46D8-84E4-E1BD63BEE8F6}"/>
              </a:ext>
            </a:extLst>
          </p:cNvPr>
          <p:cNvSpPr>
            <a:spLocks noGrp="1"/>
          </p:cNvSpPr>
          <p:nvPr/>
        </p:nvSpPr>
        <p:spPr>
          <a:xfrm>
            <a:off x="609600" y="4010025"/>
            <a:ext cx="428625" cy="381000"/>
          </a:xfrm>
          <a:prstGeom prst="rect">
            <a:avLst/>
          </a:prstGeom>
          <a:noFill/>
          <a:ln w="0">
            <a:noFill/>
          </a:ln>
        </p:spPr>
        <p:txBody>
          <a:bodyPr wrap="square" lIns="0" tIns="0" rIns="0" bIns="0" anchor="t">
            <a:noAutofit/>
          </a:bodyPr>
          <a:lstStyle/>
          <a:p>
            <a:pPr algn="l">
              <a:lnSpc>
                <a:spcPct val="118000"/>
              </a:lnSpc>
              <a:buNone/>
              <a:defRPr sz="2250" b="1">
                <a:solidFill>
                  <a:srgbClr val="C9633D"/>
                </a:solidFill>
                <a:latin typeface="Noto Sans CJK JP"/>
                <a:ea typeface="Noto Sans CJK JP"/>
                <a:cs typeface="Noto Sans CJK JP"/>
              </a:defRPr>
            </a:pPr>
            <a:r>
              <a:rPr sz="2250" b="1">
                <a:solidFill>
                  <a:srgbClr val="C9633D"/>
                </a:solidFill>
                <a:latin typeface="Noto Sans CJK JP"/>
                <a:ea typeface="Noto Sans CJK JP"/>
                <a:cs typeface="Noto Sans CJK JP"/>
              </a:rPr>
              <a:t>3</a:t>
            </a:r>
          </a:p>
        </p:txBody>
      </p:sp>
      <p:sp>
        <p:nvSpPr>
          <p:cNvPr id="12" name="一か所変え、結果を予想する">
            <a:extLst>
              <a:ext uri="{FF2B5EF4-FFF2-40B4-BE49-F238E27FC236}">
                <a16:creationId id="{0E06B399-4B13-42FF-90A3-66764980E75F}"/>
              </a:ext>
            </a:extLst>
          </p:cNvPr>
          <p:cNvSpPr>
            <a:spLocks noGrp="1"/>
          </p:cNvSpPr>
          <p:nvPr/>
        </p:nvSpPr>
        <p:spPr>
          <a:xfrm>
            <a:off x="1171575" y="4010025"/>
            <a:ext cx="5495925" cy="409575"/>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一か所変え、結果を予想する</a:t>
            </a:r>
          </a:p>
        </p:txBody>
      </p:sp>
      <p:sp>
        <p:nvSpPr>
          <p:cNvPr id="13" name="変数・リスト・if・forを使う短い例に取り組む。">
            <a:extLst>
              <a:ext uri="{FF2B5EF4-FFF2-40B4-BE49-F238E27FC236}">
                <a16:creationId id="{FEBBE94D-27B0-4037-A6C1-0A5C1B809A93}"/>
              </a:ext>
            </a:extLst>
          </p:cNvPr>
          <p:cNvSpPr>
            <a:spLocks noGrp="1"/>
          </p:cNvSpPr>
          <p:nvPr/>
        </p:nvSpPr>
        <p:spPr>
          <a:xfrm>
            <a:off x="1171575" y="4429125"/>
            <a:ext cx="5495925" cy="6667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変数・リスト・if・forを使う短い例に取り組む。</a:t>
            </a:r>
          </a:p>
        </p:txBody>
      </p:sp>
      <p:sp>
        <p:nvSpPr>
          <p:cNvPr id="14" name="4">
            <a:extLst>
              <a:ext uri="{FF2B5EF4-FFF2-40B4-BE49-F238E27FC236}">
                <a16:creationId id="{C1CB4BFD-549F-4FC7-9E9F-C5E280FA6CB5}"/>
              </a:ext>
            </a:extLst>
          </p:cNvPr>
          <p:cNvSpPr>
            <a:spLocks noGrp="1"/>
          </p:cNvSpPr>
          <p:nvPr/>
        </p:nvSpPr>
        <p:spPr>
          <a:xfrm>
            <a:off x="609600" y="5010150"/>
            <a:ext cx="428625" cy="381000"/>
          </a:xfrm>
          <a:prstGeom prst="rect">
            <a:avLst/>
          </a:prstGeom>
          <a:noFill/>
          <a:ln w="0">
            <a:noFill/>
          </a:ln>
        </p:spPr>
        <p:txBody>
          <a:bodyPr wrap="square" lIns="0" tIns="0" rIns="0" bIns="0" anchor="t">
            <a:noAutofit/>
          </a:bodyPr>
          <a:lstStyle/>
          <a:p>
            <a:pPr algn="l">
              <a:lnSpc>
                <a:spcPct val="118000"/>
              </a:lnSpc>
              <a:buNone/>
              <a:defRPr sz="2250" b="1">
                <a:solidFill>
                  <a:srgbClr val="C9633D"/>
                </a:solidFill>
                <a:latin typeface="Noto Sans CJK JP"/>
                <a:ea typeface="Noto Sans CJK JP"/>
                <a:cs typeface="Noto Sans CJK JP"/>
              </a:defRPr>
            </a:pPr>
            <a:r>
              <a:rPr sz="2250" b="1">
                <a:solidFill>
                  <a:srgbClr val="C9633D"/>
                </a:solidFill>
                <a:latin typeface="Noto Sans CJK JP"/>
                <a:ea typeface="Noto Sans CJK JP"/>
                <a:cs typeface="Noto Sans CJK JP"/>
              </a:rPr>
              <a:t>4</a:t>
            </a:r>
          </a:p>
        </p:txBody>
      </p:sp>
      <p:sp>
        <p:nvSpPr>
          <p:cNvPr id="15" name="変更した意味を説明する">
            <a:extLst>
              <a:ext uri="{FF2B5EF4-FFF2-40B4-BE49-F238E27FC236}">
                <a16:creationId id="{C657D985-82D6-476D-96B3-3768B26A7881}"/>
              </a:ext>
            </a:extLst>
          </p:cNvPr>
          <p:cNvSpPr>
            <a:spLocks noGrp="1"/>
          </p:cNvSpPr>
          <p:nvPr/>
        </p:nvSpPr>
        <p:spPr>
          <a:xfrm>
            <a:off x="1171575" y="5010150"/>
            <a:ext cx="5495925" cy="409575"/>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変更した意味を説明する</a:t>
            </a:r>
          </a:p>
        </p:txBody>
      </p:sp>
      <p:sp>
        <p:nvSpPr>
          <p:cNvPr id="16" name="予想と結果を比べ、分からない点を記録する。">
            <a:extLst>
              <a:ext uri="{FF2B5EF4-FFF2-40B4-BE49-F238E27FC236}">
                <a16:creationId id="{DE7B5215-A79C-4683-9C93-A13D9B1AA85A}"/>
              </a:ext>
            </a:extLst>
          </p:cNvPr>
          <p:cNvSpPr>
            <a:spLocks noGrp="1"/>
          </p:cNvSpPr>
          <p:nvPr/>
        </p:nvSpPr>
        <p:spPr>
          <a:xfrm>
            <a:off x="1171575" y="5429250"/>
            <a:ext cx="5495925" cy="666750"/>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予想と結果を比べ、分からない点を記録する。</a:t>
            </a:r>
          </a:p>
        </p:txBody>
      </p:sp>
      <p:sp>
        <p:nvSpPr>
          <p:cNvPr id="17" name="">
            <a:extLst>
              <a:ext uri="{FF2B5EF4-FFF2-40B4-BE49-F238E27FC236}">
                <a16:creationId id="{A1C8D44F-3292-4151-954A-7C44D7F76DBA}"/>
              </a:ext>
            </a:extLst>
          </p:cNvPr>
          <p:cNvSpPr>
            <a:spLocks noGrp="1"/>
          </p:cNvSpPr>
          <p:nvPr/>
        </p:nvSpPr>
        <p:spPr>
          <a:xfrm>
            <a:off x="7124700" y="2057400"/>
            <a:ext cx="4448175" cy="2847975"/>
          </a:xfrm>
          <a:prstGeom prst="rect">
            <a:avLst/>
          </a:prstGeom>
          <a:solidFill>
            <a:srgbClr val="17323B"/>
          </a:solidFill>
          <a:ln w="0">
            <a:noFill/>
          </a:ln>
        </p:spPr>
      </p:sp>
      <p:sp>
        <p:nvSpPr>
          <p:cNvPr id="18" name="例：速さ × 時間">
            <a:extLst>
              <a:ext uri="{FF2B5EF4-FFF2-40B4-BE49-F238E27FC236}">
                <a16:creationId id="{77FCEBBD-08D3-4E1E-897F-EE28C411C41F}"/>
              </a:ext>
            </a:extLst>
          </p:cNvPr>
          <p:cNvSpPr>
            <a:spLocks noGrp="1"/>
          </p:cNvSpPr>
          <p:nvPr/>
        </p:nvSpPr>
        <p:spPr>
          <a:xfrm>
            <a:off x="7372350" y="2266950"/>
            <a:ext cx="3924300" cy="381000"/>
          </a:xfrm>
          <a:prstGeom prst="rect">
            <a:avLst/>
          </a:prstGeom>
          <a:noFill/>
          <a:ln w="0">
            <a:noFill/>
          </a:ln>
        </p:spPr>
        <p:txBody>
          <a:bodyPr wrap="square" lIns="0" tIns="0" rIns="0" bIns="0" anchor="t">
            <a:noAutofit/>
          </a:bodyPr>
          <a:lstStyle/>
          <a:p>
            <a:pPr algn="l">
              <a:lnSpc>
                <a:spcPct val="118000"/>
              </a:lnSpc>
              <a:buNone/>
              <a:defRPr sz="1875" b="1">
                <a:solidFill>
                  <a:srgbClr val="C7E0D7"/>
                </a:solidFill>
                <a:latin typeface="Noto Sans CJK JP"/>
                <a:ea typeface="Noto Sans CJK JP"/>
                <a:cs typeface="Noto Sans CJK JP"/>
              </a:defRPr>
            </a:pPr>
            <a:r>
              <a:rPr sz="1875" b="1">
                <a:solidFill>
                  <a:srgbClr val="C7E0D7"/>
                </a:solidFill>
                <a:latin typeface="Noto Sans CJK JP"/>
                <a:ea typeface="Noto Sans CJK JP"/>
                <a:cs typeface="Noto Sans CJK JP"/>
              </a:rPr>
              <a:t>例：速さ × 時間</a:t>
            </a:r>
          </a:p>
        </p:txBody>
      </p:sp>
      <p:sp>
        <p:nvSpPr>
          <p:cNvPr id="19" name="speed = 1.2&#10;time = 5&#10;distance ">
            <a:extLst>
              <a:ext uri="{FF2B5EF4-FFF2-40B4-BE49-F238E27FC236}">
                <a16:creationId id="{245A0F91-A2C6-45A8-9628-B79B1848A066}"/>
              </a:ext>
            </a:extLst>
          </p:cNvPr>
          <p:cNvSpPr>
            <a:spLocks noGrp="1"/>
          </p:cNvSpPr>
          <p:nvPr/>
        </p:nvSpPr>
        <p:spPr>
          <a:xfrm>
            <a:off x="7372350" y="2905125"/>
            <a:ext cx="3971925" cy="1552575"/>
          </a:xfrm>
          <a:prstGeom prst="rect">
            <a:avLst/>
          </a:prstGeom>
          <a:noFill/>
          <a:ln w="0">
            <a:noFill/>
          </a:ln>
        </p:spPr>
        <p:txBody>
          <a:bodyPr wrap="square" lIns="0" tIns="0" rIns="0" bIns="0" anchor="t">
            <a:noAutofit/>
          </a:bodyPr>
          <a:lstStyle/>
          <a:p>
            <a:pPr algn="l">
              <a:lnSpc>
                <a:spcPct val="118000"/>
              </a:lnSpc>
              <a:buNone/>
              <a:defRPr sz="1875" b="0">
                <a:solidFill>
                  <a:srgbClr val="FFFFFF"/>
                </a:solidFill>
                <a:latin typeface="Noto Sans CJK JP"/>
                <a:ea typeface="Noto Sans CJK JP"/>
                <a:cs typeface="Noto Sans CJK JP"/>
              </a:defRPr>
            </a:pPr>
            <a:r>
              <a:rPr sz="1875" b="0">
                <a:solidFill>
                  <a:srgbClr val="FFFFFF"/>
                </a:solidFill>
                <a:latin typeface="Noto Sans CJK JP"/>
                <a:ea typeface="Noto Sans CJK JP"/>
                <a:cs typeface="Noto Sans CJK JP"/>
              </a:rPr>
              <a:t>speed = 1.2</a:t>
            </a:r>
          </a:p>
          <a:p>
            <a:pPr algn="l">
              <a:lnSpc>
                <a:spcPct val="118000"/>
              </a:lnSpc>
              <a:buNone/>
              <a:defRPr sz="1875" b="0">
                <a:solidFill>
                  <a:srgbClr val="FFFFFF"/>
                </a:solidFill>
                <a:latin typeface="Noto Sans CJK JP"/>
                <a:ea typeface="Noto Sans CJK JP"/>
                <a:cs typeface="Noto Sans CJK JP"/>
              </a:defRPr>
            </a:pPr>
            <a:r>
              <a:rPr sz="1875" b="0">
                <a:solidFill>
                  <a:srgbClr val="FFFFFF"/>
                </a:solidFill>
                <a:latin typeface="Noto Sans CJK JP"/>
                <a:ea typeface="Noto Sans CJK JP"/>
                <a:cs typeface="Noto Sans CJK JP"/>
              </a:rPr>
              <a:t>time = 5</a:t>
            </a:r>
          </a:p>
          <a:p>
            <a:pPr algn="l">
              <a:lnSpc>
                <a:spcPct val="118000"/>
              </a:lnSpc>
              <a:buNone/>
              <a:defRPr sz="1875" b="0">
                <a:solidFill>
                  <a:srgbClr val="FFFFFF"/>
                </a:solidFill>
                <a:latin typeface="Noto Sans CJK JP"/>
                <a:ea typeface="Noto Sans CJK JP"/>
                <a:cs typeface="Noto Sans CJK JP"/>
              </a:defRPr>
            </a:pPr>
            <a:r>
              <a:rPr sz="1875" b="0">
                <a:solidFill>
                  <a:srgbClr val="FFFFFF"/>
                </a:solidFill>
                <a:latin typeface="Noto Sans CJK JP"/>
                <a:ea typeface="Noto Sans CJK JP"/>
                <a:cs typeface="Noto Sans CJK JP"/>
              </a:rPr>
              <a:t>distance = speed * time</a:t>
            </a:r>
          </a:p>
          <a:p>
            <a:pPr algn="l">
              <a:lnSpc>
                <a:spcPct val="118000"/>
              </a:lnSpc>
              <a:buNone/>
              <a:defRPr sz="1875" b="0">
                <a:solidFill>
                  <a:srgbClr val="FFFFFF"/>
                </a:solidFill>
                <a:latin typeface="Noto Sans CJK JP"/>
                <a:ea typeface="Noto Sans CJK JP"/>
                <a:cs typeface="Noto Sans CJK JP"/>
              </a:defRPr>
            </a:pPr>
            <a:r>
              <a:rPr sz="1875" b="0">
                <a:solidFill>
                  <a:srgbClr val="FFFFFF"/>
                </a:solidFill>
                <a:latin typeface="Noto Sans CJK JP"/>
                <a:ea typeface="Noto Sans CJK JP"/>
                <a:cs typeface="Noto Sans CJK JP"/>
              </a:rPr>
              <a:t>print(distance)</a:t>
            </a:r>
          </a:p>
        </p:txBody>
      </p:sp>
      <p:sp>
        <p:nvSpPr>
          <p:cNvPr id="20" name="単位：speed は m/s、time は s">
            <a:extLst>
              <a:ext uri="{FF2B5EF4-FFF2-40B4-BE49-F238E27FC236}">
                <a16:creationId id="{2D535556-17FC-4EF3-BF1B-A2BE08E5BAD9}"/>
              </a:ext>
            </a:extLst>
          </p:cNvPr>
          <p:cNvSpPr>
            <a:spLocks noGrp="1"/>
          </p:cNvSpPr>
          <p:nvPr/>
        </p:nvSpPr>
        <p:spPr>
          <a:xfrm>
            <a:off x="7372350" y="4524375"/>
            <a:ext cx="3971925" cy="295275"/>
          </a:xfrm>
          <a:prstGeom prst="rect">
            <a:avLst/>
          </a:prstGeom>
          <a:noFill/>
          <a:ln w="0">
            <a:noFill/>
          </a:ln>
        </p:spPr>
        <p:txBody>
          <a:bodyPr wrap="square" lIns="0" tIns="0" rIns="0" bIns="0" anchor="t">
            <a:noAutofit/>
          </a:bodyPr>
          <a:lstStyle/>
          <a:p>
            <a:pPr algn="l">
              <a:lnSpc>
                <a:spcPct val="118000"/>
              </a:lnSpc>
              <a:buNone/>
              <a:defRPr sz="1275" b="0">
                <a:solidFill>
                  <a:srgbClr val="C7E0D7"/>
                </a:solidFill>
                <a:latin typeface="Noto Sans CJK JP"/>
                <a:ea typeface="Noto Sans CJK JP"/>
                <a:cs typeface="Noto Sans CJK JP"/>
              </a:defRPr>
            </a:pPr>
            <a:r>
              <a:rPr sz="1275" b="0">
                <a:solidFill>
                  <a:srgbClr val="C7E0D7"/>
                </a:solidFill>
                <a:latin typeface="Noto Sans CJK JP"/>
                <a:ea typeface="Noto Sans CJK JP"/>
                <a:cs typeface="Noto Sans CJK JP"/>
              </a:rPr>
              <a:t>単位：speed は m/s、time は s</a:t>
            </a:r>
          </a:p>
        </p:txBody>
      </p:sp>
      <p:sp>
        <p:nvSpPr>
          <p:cNvPr id="21" name="timeを変えると、出力はどうなる？">
            <a:extLst>
              <a:ext uri="{FF2B5EF4-FFF2-40B4-BE49-F238E27FC236}">
                <a16:creationId id="{861796E9-34E0-4CED-B9F8-2929D2B0DBFD}"/>
              </a:ext>
            </a:extLst>
          </p:cNvPr>
          <p:cNvSpPr>
            <a:spLocks noGrp="1"/>
          </p:cNvSpPr>
          <p:nvPr/>
        </p:nvSpPr>
        <p:spPr>
          <a:xfrm>
            <a:off x="7124700" y="5162550"/>
            <a:ext cx="4448175" cy="657225"/>
          </a:xfrm>
          <a:prstGeom prst="rect">
            <a:avLst/>
          </a:prstGeom>
          <a:noFill/>
          <a:ln w="0">
            <a:noFill/>
          </a:ln>
        </p:spPr>
        <p:txBody>
          <a:bodyPr wrap="square" lIns="0" tIns="0" rIns="0" bIns="0" anchor="t">
            <a:noAutofit/>
          </a:bodyPr>
          <a:lstStyle/>
          <a:p>
            <a:pPr algn="l">
              <a:lnSpc>
                <a:spcPct val="118000"/>
              </a:lnSpc>
              <a:buNone/>
              <a:defRPr sz="2025" b="1">
                <a:solidFill>
                  <a:srgbClr val="247C7A"/>
                </a:solidFill>
                <a:latin typeface="Noto Sans CJK JP"/>
                <a:ea typeface="Noto Sans CJK JP"/>
                <a:cs typeface="Noto Sans CJK JP"/>
              </a:defRPr>
            </a:pPr>
            <a:r>
              <a:rPr sz="2025" b="1">
                <a:solidFill>
                  <a:srgbClr val="247C7A"/>
                </a:solidFill>
                <a:latin typeface="Noto Sans CJK JP"/>
                <a:ea typeface="Noto Sans CJK JP"/>
                <a:cs typeface="Noto Sans CJK JP"/>
              </a:rPr>
              <a:t>timeを変えると、出力はどうなる？</a:t>
            </a:r>
          </a:p>
        </p:txBody>
      </p:sp>
      <p:sp>
        <p:nvSpPr>
          <p:cNvPr id="22" name="この回は、PPT発表を行わない。">
            <a:extLst>
              <a:ext uri="{FF2B5EF4-FFF2-40B4-BE49-F238E27FC236}">
                <a16:creationId id="{54C9E967-FEEC-4139-958A-30F909386EA2}"/>
              </a:ext>
            </a:extLst>
          </p:cNvPr>
          <p:cNvSpPr>
            <a:spLocks noGrp="1"/>
          </p:cNvSpPr>
          <p:nvPr/>
        </p:nvSpPr>
        <p:spPr>
          <a:xfrm>
            <a:off x="7124700" y="5886450"/>
            <a:ext cx="4448175" cy="361950"/>
          </a:xfrm>
          <a:prstGeom prst="rect">
            <a:avLst/>
          </a:prstGeom>
          <a:noFill/>
          <a:ln w="0">
            <a:noFill/>
          </a:ln>
        </p:spPr>
        <p:txBody>
          <a:bodyPr wrap="square" lIns="0" tIns="0" rIns="0" bIns="0" anchor="t">
            <a:noAutofit/>
          </a:bodyPr>
          <a:lstStyle/>
          <a:p>
            <a:pPr algn="l">
              <a:lnSpc>
                <a:spcPct val="118000"/>
              </a:lnSpc>
              <a:buNone/>
              <a:defRPr sz="1725" b="0">
                <a:solidFill>
                  <a:srgbClr val="5C6B6B"/>
                </a:solidFill>
                <a:latin typeface="Noto Sans CJK JP"/>
                <a:ea typeface="Noto Sans CJK JP"/>
                <a:cs typeface="Noto Sans CJK JP"/>
              </a:defRPr>
            </a:pPr>
            <a:r>
              <a:rPr sz="1725" b="0">
                <a:solidFill>
                  <a:srgbClr val="5C6B6B"/>
                </a:solidFill>
                <a:latin typeface="Noto Sans CJK JP"/>
                <a:ea typeface="Noto Sans CJK JP"/>
                <a:cs typeface="Noto Sans CJK JP"/>
              </a:rPr>
              <a:t>この回は、PPT発表を行わない。</a:t>
            </a:r>
          </a:p>
        </p:txBody>
      </p:sp>
    </p:spTree>
    <p:extLst>
      <p:ext uri="{BB962C8B-B14F-4D97-AF65-F5344CB8AC3E}">
        <p14:creationId val="933192386"/>
      </p:ext>
    </p:extLst>
  </p:cSld>
</p:sld>
</file>

<file path=ppt/slides/slide23.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7" name="第1回の課題">
            <a:extLst>
              <a:ext uri="{FF2B5EF4-FFF2-40B4-BE49-F238E27FC236}">
                <a16:creationId id="{D2DDCAC2-E104-483D-BD5C-9202C190C8BD}"/>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第1回の課題</a:t>
            </a:r>
          </a:p>
        </p:txBody>
      </p:sp>
      <p:sp>
        <p:nvSpPr>
          <p:cNvPr id="2" name="第1回の180分">
            <a:extLst>
              <a:ext uri="{FF2B5EF4-FFF2-40B4-BE49-F238E27FC236}">
                <a16:creationId id="{60D6D456-B432-487A-B8B9-59111CF4189A}"/>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第1回の180分</a:t>
            </a:r>
          </a:p>
        </p:txBody>
      </p:sp>
      <p:sp>
        <p:nvSpPr>
          <p:cNvPr id="3" name="Guidanceを読み終えたら、配布Notebookを開いて"/>
          <p:cNvSpPr/>
          <p:nvPr/>
        </p:nvSpPr>
        <p:spPr>
          <a:xfrm>
            <a:off x="609600" y="1323975"/>
            <a:ext cx="10972800" cy="400050"/>
          </a:xfrm>
          <a:prstGeom prst="rect">
            <a:avLst/>
          </a:prstGeom>
          <a:noFill/>
          <a:ln>
            <a:noFill/>
          </a:ln>
        </p:spPr>
        <p:txBody>
          <a:bodyPr wrap="none" lIns="0" tIns="0" rIns="0" bIns="0" anchor="t" anchorCtr="0">
            <a:noAutofit/>
          </a:bodyPr>
          <a:lstStyle/>
          <a:p>
            <a:pPr algn="l"/>
            <a:r>
              <a:rPr lang="ja-JP" sz="1800" dirty="0">
                <a:solidFill>
                  <a:srgbClr val="5C6B6B"/>
                </a:solidFill>
                <a:latin typeface="Noto Sans CJK JP"/>
                <a:ea typeface="Noto Sans CJK JP"/>
                <a:cs typeface="Noto Sans CJK JP"/>
              </a:rPr>
              <a:t>例を読み、予想して実行。内積はまず @、固有値は図と実行を体験する。</a:t>
            </a:r>
          </a:p>
        </p:txBody>
      </p:sp>
      <p:sp>
        <p:nvSpPr>
          <p:cNvPr id="4" name="20"/>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23</a:t>
            </a:r>
          </a:p>
        </p:txBody>
      </p:sp>
      <p:graphicFrame>
        <p:nvGraphicFramePr>
          <p:cNvPr id="10" name="table-shape-11"/>
          <p:cNvGraphicFramePr>
            <a:graphicFrameLocks noGrp="1"/>
          </p:cNvGraphicFramePr>
          <p:nvPr/>
        </p:nvGraphicFramePr>
        <p:xfrm>
          <a:off x="609600" y="2057400"/>
          <a:ext cx="5353050" cy="3257550"/>
        </p:xfrm>
        <a:graphic>
          <a:graphicData uri="http://schemas.openxmlformats.org/drawingml/2006/table">
            <a:tbl>
              <a:tblPr firstRow="1" bandRow="0">
                <a:tableStyleId>{5C22544A-7EE6-4342-B048-85BDC9FD1C3A}</a:tableStyleId>
              </a:tblPr>
              <a:tblGrid>
                <a:gridCol w="1447800"/>
                <a:gridCol w="3905250"/>
              </a:tblGrid>
              <a:tr h="542925">
                <a:tc>
                  <a:txBody>
                    <a:bodyPr/>
                    <a:lstStyle/>
                    <a:p>
                      <a:pPr/>
                      <a:r>
                        <a:rPr lang="ja-JP" sz="1720" b="1">
                          <a:solidFill>
                            <a:srgbClr val="FFFFFF"/>
                          </a:solidFill>
                          <a:latin typeface="Noto Sans CJK JP"/>
                          <a:ea typeface="Noto Sans CJK JP"/>
                          <a:cs typeface="Noto Sans CJK JP"/>
                        </a:rPr>
                        <a:t>時間 [分]</a:t>
                      </a:r>
                    </a:p>
                  </a:txBody>
                  <a:tcPr anchor="ctr" marL="76200" marR="76200" marT="76200" marB="76200">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取り組むこと</a:t>
                      </a:r>
                    </a:p>
                  </a:txBody>
                  <a:tcPr anchor="ctr" marL="76200" marR="76200" marT="76200" marB="76200">
                    <a:lnL>
                      <a:noFill/>
                    </a:lnL>
                    <a:lnR>
                      <a:noFill/>
                    </a:lnR>
                    <a:lnT>
                      <a:noFill/>
                    </a:lnT>
                    <a:lnB w="6668">
                      <a:solidFill>
                        <a:srgbClr val="C8D4D0"/>
                      </a:solidFill>
                      <a:prstDash val="solid"/>
                    </a:lnB>
                    <a:solidFill>
                      <a:srgbClr val="214C55"/>
                    </a:solidFill>
                  </a:tcPr>
                </a:tc>
              </a:tr>
              <a:tr h="542925">
                <a:tc>
                  <a:txBody>
                    <a:bodyPr/>
                    <a:lstStyle/>
                    <a:p>
                      <a:pPr/>
                      <a:r>
                        <a:rPr lang="ja-JP" sz="1720" b="0">
                          <a:solidFill>
                            <a:srgbClr val="17323B"/>
                          </a:solidFill>
                          <a:latin typeface="Noto Sans CJK JP"/>
                          <a:ea typeface="Noto Sans CJK JP"/>
                          <a:cs typeface="Noto Sans CJK JP"/>
                        </a:rPr>
                        <a:t>0–20</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Guidance・研究・進路紹介</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20–35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Colabで保存・実行</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35–55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変数・型・リスト</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55–75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条件・AIコードの確認</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75–85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休憩</a:t>
                      </a:r>
                    </a:p>
                  </a:txBody>
                  <a:tcPr anchor="ctr" marL="76200" marR="76200" marT="76200" marB="76200">
                    <a:lnL>
                      <a:noFill/>
                    </a:lnL>
                    <a:lnR>
                      <a:noFill/>
                    </a:lnR>
                    <a:lnT>
                      <a:noFill/>
                    </a:lnT>
                    <a:lnB w="6668">
                      <a:solidFill>
                        <a:srgbClr val="C8D4D0"/>
                      </a:solidFill>
                      <a:prstDash val="solid"/>
                    </a:lnB>
                    <a:solidFill>
                      <a:srgbClr val="F7F5EF"/>
                    </a:solidFill>
                  </a:tcPr>
                </a:tc>
              </a:tr>
            </a:tbl>
          </a:graphicData>
        </a:graphic>
      </p:graphicFrame>
      <p:graphicFrame>
        <p:nvGraphicFramePr>
          <p:cNvPr id="11" name="table-shape-12"/>
          <p:cNvGraphicFramePr>
            <a:graphicFrameLocks noGrp="1"/>
          </p:cNvGraphicFramePr>
          <p:nvPr/>
        </p:nvGraphicFramePr>
        <p:xfrm>
          <a:off x="6229350" y="2057400"/>
          <a:ext cx="5353050" cy="3257550"/>
        </p:xfrm>
        <a:graphic>
          <a:graphicData uri="http://schemas.openxmlformats.org/drawingml/2006/table">
            <a:tbl>
              <a:tblPr firstRow="1" bandRow="0">
                <a:tableStyleId>{5C22544A-7EE6-4342-B048-85BDC9FD1C3A}</a:tableStyleId>
              </a:tblPr>
              <a:tblGrid>
                <a:gridCol w="1447800"/>
                <a:gridCol w="3905250"/>
              </a:tblGrid>
              <a:tr h="542925">
                <a:tc>
                  <a:txBody>
                    <a:bodyPr/>
                    <a:lstStyle/>
                    <a:p>
                      <a:pPr/>
                      <a:r>
                        <a:rPr lang="ja-JP" sz="1720" b="1">
                          <a:solidFill>
                            <a:srgbClr val="FFFFFF"/>
                          </a:solidFill>
                          <a:latin typeface="Noto Sans CJK JP"/>
                          <a:ea typeface="Noto Sans CJK JP"/>
                          <a:cs typeface="Noto Sans CJK JP"/>
                        </a:rPr>
                        <a:t>時間 [分]</a:t>
                      </a:r>
                    </a:p>
                  </a:txBody>
                  <a:tcPr anchor="ctr" marL="76200" marR="76200" marT="76200" marB="76200">
                    <a:lnL>
                      <a:noFill/>
                    </a:lnL>
                    <a:lnR>
                      <a:noFill/>
                    </a:lnR>
                    <a:lnT>
                      <a:noFill/>
                    </a:lnT>
                    <a:lnB w="6668">
                      <a:solidFill>
                        <a:srgbClr val="C8D4D0"/>
                      </a:solidFill>
                      <a:prstDash val="solid"/>
                    </a:lnB>
                    <a:solidFill>
                      <a:srgbClr val="214C55"/>
                    </a:solidFill>
                  </a:tcPr>
                </a:tc>
                <a:tc>
                  <a:txBody>
                    <a:bodyPr/>
                    <a:lstStyle/>
                    <a:p>
                      <a:pPr/>
                      <a:r>
                        <a:rPr lang="ja-JP" sz="1720" b="1">
                          <a:solidFill>
                            <a:srgbClr val="FFFFFF"/>
                          </a:solidFill>
                          <a:latin typeface="Noto Sans CJK JP"/>
                          <a:ea typeface="Noto Sans CJK JP"/>
                          <a:cs typeface="Noto Sans CJK JP"/>
                        </a:rPr>
                        <a:t>取り組むこと</a:t>
                      </a:r>
                    </a:p>
                  </a:txBody>
                  <a:tcPr anchor="ctr" marL="76200" marR="76200" marT="76200" marB="76200">
                    <a:lnL>
                      <a:noFill/>
                    </a:lnL>
                    <a:lnR>
                      <a:noFill/>
                    </a:lnR>
                    <a:lnT>
                      <a:noFill/>
                    </a:lnT>
                    <a:lnB w="6668">
                      <a:solidFill>
                        <a:srgbClr val="C8D4D0"/>
                      </a:solidFill>
                      <a:prstDash val="solid"/>
                    </a:lnB>
                    <a:solidFill>
                      <a:srgbClr val="214C55"/>
                    </a:solidFill>
                  </a:tcPr>
                </a:tc>
              </a:tr>
              <a:tr h="542925">
                <a:tc>
                  <a:txBody>
                    <a:bodyPr/>
                    <a:lstStyle/>
                    <a:p>
                      <a:pPr/>
                      <a:r>
                        <a:rPr lang="ja-JP" sz="1720" b="0">
                          <a:solidFill>
                            <a:srgbClr val="17323B"/>
                          </a:solidFill>
                          <a:latin typeface="Noto Sans CJK JP"/>
                          <a:ea typeface="Noto Sans CJK JP"/>
                          <a:cs typeface="Noto Sans CJK JP"/>
                        </a:rPr>
                        <a:t>85–100</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配列・shape・基本演算</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100–115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内積を計算して確かめる</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115–145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行列積・間違いの診断</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145–165</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固有値の図と計算を体験</a:t>
                      </a:r>
                    </a:p>
                  </a:txBody>
                  <a:tcPr anchor="ctr" marL="76200" marR="76200" marT="76200" marB="76200">
                    <a:lnL>
                      <a:noFill/>
                    </a:lnL>
                    <a:lnR>
                      <a:noFill/>
                    </a:lnR>
                    <a:lnT>
                      <a:noFill/>
                    </a:lnT>
                    <a:lnB w="6668">
                      <a:solidFill>
                        <a:srgbClr val="C8D4D0"/>
                      </a:solidFill>
                      <a:prstDash val="solid"/>
                    </a:lnB>
                    <a:solidFill>
                      <a:srgbClr val="F7F5EF"/>
                    </a:solidFill>
                  </a:tcPr>
                </a:tc>
              </a:tr>
              <a:tr h="542925">
                <a:tc>
                  <a:txBody>
                    <a:bodyPr/>
                    <a:lstStyle/>
                    <a:p>
                      <a:pPr/>
                      <a:r>
                        <a:rPr lang="ja-JP" sz="1720" b="0">
                          <a:solidFill>
                            <a:srgbClr val="17323B"/>
                          </a:solidFill>
                          <a:latin typeface="Noto Sans CJK JP"/>
                          <a:ea typeface="Noto Sans CJK JP"/>
                          <a:cs typeface="Noto Sans CJK JP"/>
                        </a:rPr>
                        <a:t>165–180</a:t>
                      </a:r>
                    </a:p>
                  </a:txBody>
                  <a:tcPr anchor="ctr" marL="76200" marR="76200" marT="76200" marB="76200">
                    <a:lnL>
                      <a:noFill/>
                    </a:lnL>
                    <a:lnR>
                      <a:noFill/>
                    </a:lnR>
                    <a:lnT>
                      <a:noFill/>
                    </a:lnT>
                    <a:lnB w="6668">
                      <a:solidFill>
                        <a:srgbClr val="C8D4D0"/>
                      </a:solidFill>
                      <a:prstDash val="solid"/>
                    </a:lnB>
                    <a:solidFill>
                      <a:srgbClr val="F7F5EF"/>
                    </a:solidFill>
                  </a:tcPr>
                </a:tc>
                <a:tc>
                  <a:txBody>
                    <a:bodyPr/>
                    <a:lstStyle/>
                    <a:p>
                      <a:pPr/>
                      <a:r>
                        <a:rPr lang="ja-JP" sz="1720" b="0">
                          <a:solidFill>
                            <a:srgbClr val="17323B"/>
                          </a:solidFill>
                          <a:latin typeface="Noto Sans CJK JP"/>
                          <a:ea typeface="Noto Sans CJK JP"/>
                          <a:cs typeface="Noto Sans CJK JP"/>
                        </a:rPr>
                        <a:t>説明・保存・提出</a:t>
                      </a:r>
                    </a:p>
                  </a:txBody>
                  <a:tcPr anchor="ctr" marL="76200" marR="76200" marT="76200" marB="76200">
                    <a:lnL>
                      <a:noFill/>
                    </a:lnL>
                    <a:lnR>
                      <a:noFill/>
                    </a:lnR>
                    <a:lnT>
                      <a:noFill/>
                    </a:lnT>
                    <a:lnB w="6668">
                      <a:solidFill>
                        <a:srgbClr val="C8D4D0"/>
                      </a:solidFill>
                      <a:prstDash val="solid"/>
                    </a:lnB>
                    <a:solidFill>
                      <a:srgbClr val="F7F5EF"/>
                    </a:solidFill>
                  </a:tcPr>
                </a:tc>
              </a:tr>
            </a:tbl>
          </a:graphicData>
        </a:graphic>
      </p:graphicFrame>
      <p:sp>
        <p:nvSpPr>
          <p:cNvPr id="12" name="TextBox 12"/>
          <p:cNvSpPr txBox="1"/>
          <p:nvPr/>
        </p:nvSpPr>
        <p:spPr>
          <a:xfrm>
            <a:off x="600075" y="5769769"/>
            <a:ext cx="8117789" cy="366712"/>
          </a:xfrm>
          <a:prstGeom prst="rect">
            <a:avLst/>
          </a:prstGeom>
          <a:noFill/>
          <a:ln>
            <a:noFill/>
          </a:ln>
        </p:spPr>
        <p:txBody>
          <a:bodyPr wrap="none" lIns="0" tIns="0" rIns="0" bIns="0" anchor="t" anchorCtr="0">
            <a:spAutoFit/>
          </a:bodyPr>
          <a:lstStyle/>
          <a:p>
            <a:pPr algn="l"/>
            <a:r>
              <a:rPr lang="ja-JP" sz="1880" b="1" dirty="0">
                <a:solidFill>
                  <a:srgbClr val="247C7A"/>
                </a:solidFill>
                <a:latin typeface="Noto Sans CJK JP"/>
                <a:ea typeface="Noto Sans CJK JP"/>
                <a:cs typeface="Noto Sans CJK JP"/>
              </a:rPr>
              <a:t>全ての書き方を覚える必要はありません。発展問題は進度に合わせて。</a:t>
            </a:r>
          </a:p>
        </p:txBody>
      </p:sp>
    </p:spTree>
    <p:extLst>
      <p:ext uri="{BB962C8B-B14F-4D97-AF65-F5344CB8AC3E}">
        <p14:creationId val="1934844250"/>
      </p:ext>
    </p:extLst>
  </p:cSld>
</p:sld>
</file>

<file path=ppt/slides/slide24.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2" name="Pythonの第一歩">
            <a:extLst>
              <a:ext uri="{FF2B5EF4-FFF2-40B4-BE49-F238E27FC236}">
                <a16:creationId id="{D19464A5-2ECD-475A-9BF8-02D715BAAE2F}"/>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Pythonの第一歩</a:t>
            </a:r>
          </a:p>
        </p:txBody>
      </p:sp>
      <p:sp>
        <p:nvSpPr>
          <p:cNvPr id="2" name="変数と、セルを実行する順序">
            <a:extLst>
              <a:ext uri="{FF2B5EF4-FFF2-40B4-BE49-F238E27FC236}">
                <a16:creationId id="{F18AECB2-C01B-4BEA-AA8B-ACADA4604C80}"/>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変数と、セルを実行する順序</a:t>
            </a:r>
          </a:p>
        </p:txBody>
      </p:sp>
      <p:sp>
        <p:nvSpPr>
          <p:cNvPr id="3" name="入力 → 処理 → 出力を、短いコードで確かめる。">
            <a:extLst>
              <a:ext uri="{FF2B5EF4-FFF2-40B4-BE49-F238E27FC236}">
                <a16:creationId id="{B0DBAF5D-0440-4D8C-A597-940B53D5411B}"/>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入力 → 処理 → 出力を、短いコードで確かめる。</a:t>
            </a:r>
          </a:p>
        </p:txBody>
      </p:sp>
      <p:sp>
        <p:nvSpPr>
          <p:cNvPr id="4" name="21"/>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24</a:t>
            </a:r>
          </a:p>
        </p:txBody>
      </p:sp>
      <p:sp>
        <p:nvSpPr>
          <p:cNvPr id="5" name="">
            <a:extLst>
              <a:ext uri="{FF2B5EF4-FFF2-40B4-BE49-F238E27FC236}">
                <a16:creationId id="{D9511E9E-8528-4AFF-9BB7-62B7F31A13DB}"/>
              </a:ext>
            </a:extLst>
          </p:cNvPr>
          <p:cNvSpPr>
            <a:spLocks noGrp="1"/>
          </p:cNvSpPr>
          <p:nvPr/>
        </p:nvSpPr>
        <p:spPr>
          <a:xfrm>
            <a:off x="609600" y="2066925"/>
            <a:ext cx="6229350" cy="3314700"/>
          </a:xfrm>
          <a:prstGeom prst="rect">
            <a:avLst/>
          </a:prstGeom>
          <a:solidFill>
            <a:srgbClr val="E5EEEA"/>
          </a:solidFill>
          <a:ln w="0">
            <a:noFill/>
          </a:ln>
        </p:spPr>
      </p:sp>
      <p:sp>
        <p:nvSpPr>
          <p:cNvPr id="6" name="speed = 1.2&#10;time_s = 5&#10;distanc">
            <a:extLst>
              <a:ext uri="{FF2B5EF4-FFF2-40B4-BE49-F238E27FC236}">
                <a16:creationId id="{F841BFB0-0B1B-4E3D-8917-170BD9EDCCA5}"/>
              </a:ext>
            </a:extLst>
          </p:cNvPr>
          <p:cNvSpPr>
            <a:spLocks noGrp="1"/>
          </p:cNvSpPr>
          <p:nvPr/>
        </p:nvSpPr>
        <p:spPr>
          <a:xfrm>
            <a:off x="866775" y="2371725"/>
            <a:ext cx="5705475" cy="2009775"/>
          </a:xfrm>
          <a:prstGeom prst="rect">
            <a:avLst/>
          </a:prstGeom>
          <a:noFill/>
          <a:ln w="0">
            <a:noFill/>
          </a:ln>
        </p:spPr>
        <p:txBody>
          <a:bodyPr wrap="square" lIns="0" tIns="0" rIns="0" bIns="0" anchor="t">
            <a:noAutofit/>
          </a:bodyPr>
          <a:lstStyle/>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speed = 1.2</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time_s = 5</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distance = speed * time_s</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print(distance)</a:t>
            </a:r>
          </a:p>
        </p:txBody>
      </p:sp>
      <p:sp>
        <p:nvSpPr>
          <p:cNvPr id="7" name="出力を予想してから実行する。">
            <a:extLst>
              <a:ext uri="{FF2B5EF4-FFF2-40B4-BE49-F238E27FC236}">
                <a16:creationId id="{D022BE00-4EF2-4A85-A654-430AA9AD0F4C}"/>
              </a:ext>
            </a:extLst>
          </p:cNvPr>
          <p:cNvSpPr>
            <a:spLocks noGrp="1"/>
          </p:cNvSpPr>
          <p:nvPr/>
        </p:nvSpPr>
        <p:spPr>
          <a:xfrm>
            <a:off x="866775" y="4695825"/>
            <a:ext cx="5705475" cy="485775"/>
          </a:xfrm>
          <a:prstGeom prst="rect">
            <a:avLst/>
          </a:prstGeom>
          <a:noFill/>
          <a:ln w="0">
            <a:noFill/>
          </a:ln>
        </p:spPr>
        <p:txBody>
          <a:bodyPr wrap="square" lIns="0" tIns="0" rIns="0" bIns="0" anchor="t">
            <a:noAutofit/>
          </a:bodyPr>
          <a:lstStyle/>
          <a:p>
            <a:pPr algn="l">
              <a:lnSpc>
                <a:spcPct val="118000"/>
              </a:lnSpc>
              <a:buNone/>
              <a:defRPr sz="1950" b="1">
                <a:solidFill>
                  <a:srgbClr val="247C7A"/>
                </a:solidFill>
                <a:latin typeface="Noto Sans CJK JP"/>
                <a:ea typeface="Noto Sans CJK JP"/>
                <a:cs typeface="Noto Sans CJK JP"/>
              </a:defRPr>
            </a:pPr>
            <a:r>
              <a:rPr sz="1950" b="1">
                <a:solidFill>
                  <a:srgbClr val="247C7A"/>
                </a:solidFill>
                <a:latin typeface="Noto Sans CJK JP"/>
                <a:ea typeface="Noto Sans CJK JP"/>
                <a:cs typeface="Noto Sans CJK JP"/>
              </a:rPr>
              <a:t>出力を予想してから実行する。</a:t>
            </a:r>
          </a:p>
        </p:txBody>
      </p:sp>
      <p:sp>
        <p:nvSpPr>
          <p:cNvPr id="8" name="値の種類">
            <a:extLst>
              <a:ext uri="{FF2B5EF4-FFF2-40B4-BE49-F238E27FC236}">
                <a16:creationId id="{B967A054-C19A-4DDC-AB5C-CC4785E4A8C4}"/>
              </a:ext>
            </a:extLst>
          </p:cNvPr>
          <p:cNvSpPr>
            <a:spLocks noGrp="1"/>
          </p:cNvSpPr>
          <p:nvPr/>
        </p:nvSpPr>
        <p:spPr>
          <a:xfrm>
            <a:off x="7362825" y="2171700"/>
            <a:ext cx="4143375"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値の種類</a:t>
            </a:r>
          </a:p>
        </p:txBody>
      </p:sp>
      <p:sp>
        <p:nvSpPr>
          <p:cNvPr id="9" name="整数 int、実数 float、文字列 str。&#10;type(">
            <a:extLst>
              <a:ext uri="{FF2B5EF4-FFF2-40B4-BE49-F238E27FC236}">
                <a16:creationId id="{1601D956-7D23-40FC-9F7D-2DACB6DB15A5}"/>
              </a:ext>
            </a:extLst>
          </p:cNvPr>
          <p:cNvSpPr>
            <a:spLocks noGrp="1"/>
          </p:cNvSpPr>
          <p:nvPr/>
        </p:nvSpPr>
        <p:spPr>
          <a:xfrm>
            <a:off x="7362825" y="2638425"/>
            <a:ext cx="4143375"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整数 int、実数 float、文字列 str。</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type(value)で種類を確かめる。</a:t>
            </a:r>
          </a:p>
        </p:txBody>
      </p:sp>
      <p:sp>
        <p:nvSpPr>
          <p:cNvPr id="10" name="順番に注意">
            <a:extLst>
              <a:ext uri="{FF2B5EF4-FFF2-40B4-BE49-F238E27FC236}">
                <a16:creationId id="{3CF87AE1-C194-4735-8282-6BEAE11EE0CC}"/>
              </a:ext>
            </a:extLst>
          </p:cNvPr>
          <p:cNvSpPr>
            <a:spLocks noGrp="1"/>
          </p:cNvSpPr>
          <p:nvPr/>
        </p:nvSpPr>
        <p:spPr>
          <a:xfrm>
            <a:off x="7362825" y="3943350"/>
            <a:ext cx="4143375" cy="381000"/>
          </a:xfrm>
          <a:prstGeom prst="rect">
            <a:avLst/>
          </a:prstGeom>
          <a:noFill/>
          <a:ln w="0">
            <a:noFill/>
          </a:ln>
        </p:spPr>
        <p:txBody>
          <a:bodyPr wrap="square" lIns="0" tIns="0" rIns="0" bIns="0" anchor="t">
            <a:noAutofit/>
          </a:bodyPr>
          <a:lstStyle/>
          <a:p>
            <a:pPr algn="l">
              <a:lnSpc>
                <a:spcPct val="118000"/>
              </a:lnSpc>
              <a:buNone/>
              <a:defRPr sz="2175" b="1">
                <a:solidFill>
                  <a:srgbClr val="247C7A"/>
                </a:solidFill>
                <a:latin typeface="Noto Sans CJK JP"/>
                <a:ea typeface="Noto Sans CJK JP"/>
                <a:cs typeface="Noto Sans CJK JP"/>
              </a:defRPr>
            </a:pPr>
            <a:r>
              <a:rPr sz="2175" b="1">
                <a:solidFill>
                  <a:srgbClr val="247C7A"/>
                </a:solidFill>
                <a:latin typeface="Noto Sans CJK JP"/>
                <a:ea typeface="Noto Sans CJK JP"/>
                <a:cs typeface="Noto Sans CJK JP"/>
              </a:rPr>
              <a:t>順番に注意</a:t>
            </a:r>
          </a:p>
        </p:txBody>
      </p:sp>
      <p:sp>
        <p:nvSpPr>
          <p:cNvPr id="11" name="値を書き換えただけでは変わらない。&#10;セルを再実行し、出力を確">
            <a:extLst>
              <a:ext uri="{FF2B5EF4-FFF2-40B4-BE49-F238E27FC236}">
                <a16:creationId id="{D68AA680-B739-4442-813A-BFFDBC86D8B5}"/>
              </a:ext>
            </a:extLst>
          </p:cNvPr>
          <p:cNvSpPr>
            <a:spLocks noGrp="1"/>
          </p:cNvSpPr>
          <p:nvPr/>
        </p:nvSpPr>
        <p:spPr>
          <a:xfrm>
            <a:off x="7362825" y="4410075"/>
            <a:ext cx="4143375" cy="904875"/>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値を書き換えただけでは変わらない。</a:t>
            </a:r>
          </a:p>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セルを再実行し、出力を確認する。</a:t>
            </a:r>
          </a:p>
        </p:txBody>
      </p:sp>
    </p:spTree>
    <p:extLst>
      <p:ext uri="{BB962C8B-B14F-4D97-AF65-F5344CB8AC3E}">
        <p14:creationId val="689705947"/>
      </p:ext>
    </p:extLst>
  </p:cSld>
</p:sld>
</file>

<file path=ppt/slides/slide25.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9" name="Pythonの第一歩">
            <a:extLst>
              <a:ext uri="{FF2B5EF4-FFF2-40B4-BE49-F238E27FC236}">
                <a16:creationId id="{39C0F10D-7DEE-441A-9525-90175F9FB3FB}"/>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Pythonの第一歩</a:t>
            </a:r>
          </a:p>
        </p:txBody>
      </p:sp>
      <p:sp>
        <p:nvSpPr>
          <p:cNvPr id="2" name="リストに複数の値を入れる">
            <a:extLst>
              <a:ext uri="{FF2B5EF4-FFF2-40B4-BE49-F238E27FC236}">
                <a16:creationId id="{4E609F08-5AE1-4003-9756-4A2DD0C26BD2}"/>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リストに複数の値を入れる</a:t>
            </a:r>
          </a:p>
        </p:txBody>
      </p:sp>
      <p:sp>
        <p:nvSpPr>
          <p:cNvPr id="3" name="角度のデータを、順序のある集まりとして扱う。">
            <a:extLst>
              <a:ext uri="{FF2B5EF4-FFF2-40B4-BE49-F238E27FC236}">
                <a16:creationId id="{FCCB313A-DAE5-485C-8DD8-7250F8D2D831}"/>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角度のデータを、順序のある集まりとして扱う。</a:t>
            </a:r>
          </a:p>
        </p:txBody>
      </p:sp>
      <p:sp>
        <p:nvSpPr>
          <p:cNvPr id="4" name="22"/>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25</a:t>
            </a:r>
          </a:p>
        </p:txBody>
      </p:sp>
      <p:sp>
        <p:nvSpPr>
          <p:cNvPr id="5" name="">
            <a:extLst>
              <a:ext uri="{FF2B5EF4-FFF2-40B4-BE49-F238E27FC236}">
                <a16:creationId id="{F5506910-9637-46F9-A8C9-52405FEE603A}"/>
              </a:ext>
            </a:extLst>
          </p:cNvPr>
          <p:cNvSpPr>
            <a:spLocks noGrp="1"/>
          </p:cNvSpPr>
          <p:nvPr/>
        </p:nvSpPr>
        <p:spPr>
          <a:xfrm>
            <a:off x="609600" y="2066925"/>
            <a:ext cx="6429375" cy="3276600"/>
          </a:xfrm>
          <a:prstGeom prst="rect">
            <a:avLst/>
          </a:prstGeom>
          <a:solidFill>
            <a:srgbClr val="E5EEEA"/>
          </a:solidFill>
          <a:ln w="0">
            <a:noFill/>
          </a:ln>
        </p:spPr>
      </p:sp>
      <p:sp>
        <p:nvSpPr>
          <p:cNvPr id="6" name="angles = [0, 3, -6, 5, 8]&#10;prin">
            <a:extLst>
              <a:ext uri="{FF2B5EF4-FFF2-40B4-BE49-F238E27FC236}">
                <a16:creationId id="{5069433D-8AF5-4EBA-9E89-645E47743314}"/>
              </a:ext>
            </a:extLst>
          </p:cNvPr>
          <p:cNvSpPr>
            <a:spLocks noGrp="1"/>
          </p:cNvSpPr>
          <p:nvPr/>
        </p:nvSpPr>
        <p:spPr>
          <a:xfrm>
            <a:off x="838200" y="2371725"/>
            <a:ext cx="5981700" cy="2571750"/>
          </a:xfrm>
          <a:prstGeom prst="rect">
            <a:avLst/>
          </a:prstGeom>
          <a:noFill/>
          <a:ln w="0">
            <a:noFill/>
          </a:ln>
        </p:spPr>
        <p:txBody>
          <a:bodyPr wrap="square" lIns="0" tIns="0" rIns="0" bIns="0" anchor="t">
            <a:noAutofit/>
          </a:bodyPr>
          <a:lstStyle/>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angles = [0, 3, -6, 5, 8]</a:t>
            </a:r>
          </a:p>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print(angles[0])</a:t>
            </a:r>
          </a:p>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print(len(angles))</a:t>
            </a:r>
          </a:p>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mean = sum(angles) / len(angles)</a:t>
            </a:r>
          </a:p>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print(mean)</a:t>
            </a:r>
          </a:p>
        </p:txBody>
      </p:sp>
      <p:sp>
        <p:nvSpPr>
          <p:cNvPr id="7" name="先頭の番号は0。">
            <a:extLst>
              <a:ext uri="{FF2B5EF4-FFF2-40B4-BE49-F238E27FC236}">
                <a16:creationId id="{78031097-46AE-4E97-90F7-966CF0D62962}"/>
              </a:ext>
            </a:extLst>
          </p:cNvPr>
          <p:cNvSpPr>
            <a:spLocks noGrp="1"/>
          </p:cNvSpPr>
          <p:nvPr/>
        </p:nvSpPr>
        <p:spPr>
          <a:xfrm>
            <a:off x="7553325" y="2276475"/>
            <a:ext cx="3895725" cy="523875"/>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先頭の番号は0。</a:t>
            </a:r>
          </a:p>
        </p:txBody>
      </p:sp>
      <p:sp>
        <p:nvSpPr>
          <p:cNvPr id="8" name="値を一つ変えたら、&#10;平均はどう変わるか。&#10;&#10;手で計算した値と">
            <a:extLst>
              <a:ext uri="{FF2B5EF4-FFF2-40B4-BE49-F238E27FC236}">
                <a16:creationId id="{0AB057D9-64F8-46A1-911D-F5AD9DC7DC71}"/>
              </a:ext>
            </a:extLst>
          </p:cNvPr>
          <p:cNvSpPr>
            <a:spLocks noGrp="1"/>
          </p:cNvSpPr>
          <p:nvPr/>
        </p:nvSpPr>
        <p:spPr>
          <a:xfrm>
            <a:off x="7553325" y="3105150"/>
            <a:ext cx="3895725" cy="2276475"/>
          </a:xfrm>
          <a:prstGeom prst="rect">
            <a:avLst/>
          </a:prstGeom>
          <a:noFill/>
          <a:ln w="0">
            <a:noFill/>
          </a:ln>
        </p:spPr>
        <p:txBody>
          <a:bodyPr wrap="square" lIns="0" tIns="0" rIns="0" bIns="0" anchor="t">
            <a:noAutofit/>
          </a:bodyPr>
          <a:lstStyle/>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値を一つ変えたら、</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平均はどう変わるか。</a:t>
            </a:r>
          </a:p>
          <a:p>
            <a:r>
              <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手で計算した値と</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出力を比べる。</a:t>
            </a:r>
          </a:p>
        </p:txBody>
      </p:sp>
    </p:spTree>
    <p:extLst>
      <p:ext uri="{BB962C8B-B14F-4D97-AF65-F5344CB8AC3E}">
        <p14:creationId val="1817787243"/>
      </p:ext>
    </p:extLst>
  </p:cSld>
</p:sld>
</file>

<file path=ppt/slides/slide26.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9" name="Pythonの第一歩">
            <a:extLst>
              <a:ext uri="{FF2B5EF4-FFF2-40B4-BE49-F238E27FC236}">
                <a16:creationId id="{42F0CD8D-D53E-4966-96F0-C9C3589CA882}"/>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Pythonの第一歩</a:t>
            </a:r>
          </a:p>
        </p:txBody>
      </p:sp>
      <p:sp>
        <p:nvSpPr>
          <p:cNvPr id="2" name="if：条件を満たしたときだけ処理する">
            <a:extLst>
              <a:ext uri="{FF2B5EF4-FFF2-40B4-BE49-F238E27FC236}">
                <a16:creationId id="{15A2D04F-3FC3-4326-9BF4-BB363A92E7B9}"/>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if：条件を満たしたときだけ処理する</a:t>
            </a:r>
          </a:p>
        </p:txBody>
      </p:sp>
      <p:sp>
        <p:nvSpPr>
          <p:cNvPr id="3" name="「より大きい」と「以上」を区別する。">
            <a:extLst>
              <a:ext uri="{FF2B5EF4-FFF2-40B4-BE49-F238E27FC236}">
                <a16:creationId id="{ECF76579-2E7F-4588-80CE-3CD6DBC430E9}"/>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「より大きい」と「以上」を区別する。</a:t>
            </a:r>
          </a:p>
        </p:txBody>
      </p:sp>
      <p:sp>
        <p:nvSpPr>
          <p:cNvPr id="4" name="23"/>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26</a:t>
            </a:r>
          </a:p>
        </p:txBody>
      </p:sp>
      <p:sp>
        <p:nvSpPr>
          <p:cNvPr id="5" name="">
            <a:extLst>
              <a:ext uri="{FF2B5EF4-FFF2-40B4-BE49-F238E27FC236}">
                <a16:creationId id="{4740F379-D0D6-4C33-9DE8-08CFFA0A9A2C}"/>
              </a:ext>
            </a:extLst>
          </p:cNvPr>
          <p:cNvSpPr>
            <a:spLocks noGrp="1"/>
          </p:cNvSpPr>
          <p:nvPr/>
        </p:nvSpPr>
        <p:spPr>
          <a:xfrm>
            <a:off x="609600" y="2066925"/>
            <a:ext cx="6372225" cy="3267075"/>
          </a:xfrm>
          <a:prstGeom prst="rect">
            <a:avLst/>
          </a:prstGeom>
          <a:solidFill>
            <a:srgbClr val="E5EEEA"/>
          </a:solidFill>
          <a:ln w="0">
            <a:noFill/>
          </a:ln>
        </p:spPr>
      </p:sp>
      <p:sp>
        <p:nvSpPr>
          <p:cNvPr id="6" name="angle = -6&#10;limit = 5&#10;if abs(an">
            <a:extLst>
              <a:ext uri="{FF2B5EF4-FFF2-40B4-BE49-F238E27FC236}">
                <a16:creationId id="{319A3C47-67CC-41B7-A936-DD41092174D3}"/>
              </a:ext>
            </a:extLst>
          </p:cNvPr>
          <p:cNvSpPr>
            <a:spLocks noGrp="1"/>
          </p:cNvSpPr>
          <p:nvPr/>
        </p:nvSpPr>
        <p:spPr>
          <a:xfrm>
            <a:off x="847725" y="2333625"/>
            <a:ext cx="5905500" cy="2762250"/>
          </a:xfrm>
          <a:prstGeom prst="rect">
            <a:avLst/>
          </a:prstGeom>
          <a:noFill/>
          <a:ln w="0">
            <a:noFill/>
          </a:ln>
        </p:spPr>
        <p:txBody>
          <a:bodyPr wrap="square" lIns="0" tIns="0" rIns="0" bIns="0" anchor="t">
            <a:noAutofit/>
          </a:bodyPr>
          <a:lstStyle/>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angle = -6</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limit = 5</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if abs(angle) &gt; limit:</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    print("outside")</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else:</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    print("inside")</a:t>
            </a:r>
          </a:p>
        </p:txBody>
      </p:sp>
      <p:sp>
        <p:nvSpPr>
          <p:cNvPr id="7" name="-6、-5、0、5、6">
            <a:extLst>
              <a:ext uri="{FF2B5EF4-FFF2-40B4-BE49-F238E27FC236}">
                <a16:creationId id="{E07BCCB1-FEA1-4EA1-9A40-C606FF0BDCC8}"/>
              </a:ext>
            </a:extLst>
          </p:cNvPr>
          <p:cNvSpPr>
            <a:spLocks noGrp="1"/>
          </p:cNvSpPr>
          <p:nvPr/>
        </p:nvSpPr>
        <p:spPr>
          <a:xfrm>
            <a:off x="7477125" y="2266950"/>
            <a:ext cx="4038600" cy="533400"/>
          </a:xfrm>
          <a:prstGeom prst="rect">
            <a:avLst/>
          </a:prstGeom>
          <a:noFill/>
          <a:ln w="0">
            <a:noFill/>
          </a:ln>
        </p:spPr>
        <p:txBody>
          <a:bodyPr wrap="square" lIns="0" tIns="0" rIns="0" bIns="0" anchor="t">
            <a:noAutofit/>
          </a:bodyPr>
          <a:lstStyle/>
          <a:p>
            <a:pPr algn="l">
              <a:lnSpc>
                <a:spcPct val="118000"/>
              </a:lnSpc>
              <a:buNone/>
              <a:defRPr sz="2550" b="1">
                <a:solidFill>
                  <a:srgbClr val="C9633D"/>
                </a:solidFill>
                <a:latin typeface="Noto Sans CJK JP"/>
                <a:ea typeface="Noto Sans CJK JP"/>
                <a:cs typeface="Noto Sans CJK JP"/>
              </a:defRPr>
            </a:pPr>
            <a:r>
              <a:rPr sz="2550" b="1">
                <a:solidFill>
                  <a:srgbClr val="C9633D"/>
                </a:solidFill>
                <a:latin typeface="Noto Sans CJK JP"/>
                <a:ea typeface="Noto Sans CJK JP"/>
                <a:cs typeface="Noto Sans CJK JP"/>
              </a:rPr>
              <a:t>-6、-5、0、5、6</a:t>
            </a:r>
          </a:p>
        </p:txBody>
      </p:sp>
      <p:sp>
        <p:nvSpPr>
          <p:cNvPr id="8" name="それぞれ何が出力されるか。&#10;&#10;absは何をするか。&#10;&#10;5と-">
            <a:extLst>
              <a:ext uri="{FF2B5EF4-FFF2-40B4-BE49-F238E27FC236}">
                <a16:creationId id="{60A3417C-55F5-484F-8A0C-3FE09A6E6353}"/>
              </a:ext>
            </a:extLst>
          </p:cNvPr>
          <p:cNvSpPr>
            <a:spLocks noGrp="1"/>
          </p:cNvSpPr>
          <p:nvPr/>
        </p:nvSpPr>
        <p:spPr>
          <a:xfrm>
            <a:off x="7477125" y="3114675"/>
            <a:ext cx="4038600" cy="2324100"/>
          </a:xfrm>
          <a:prstGeom prst="rect">
            <a:avLst/>
          </a:prstGeom>
          <a:noFill/>
          <a:ln w="0">
            <a:noFill/>
          </a:ln>
        </p:spPr>
        <p:txBody>
          <a:bodyPr wrap="square" lIns="0" tIns="0" rIns="0" bIns="0" anchor="t">
            <a:noAutofit/>
          </a:bodyPr>
          <a:lstStyle/>
          <a:p>
            <a:pPr algn="l">
              <a:lnSpc>
                <a:spcPct val="118000"/>
              </a:lnSpc>
              <a:buNone/>
              <a:defRPr sz="2025" b="0">
                <a:solidFill>
                  <a:srgbClr val="17323B"/>
                </a:solidFill>
                <a:latin typeface="Noto Sans CJK JP"/>
                <a:ea typeface="Noto Sans CJK JP"/>
                <a:cs typeface="Noto Sans CJK JP"/>
              </a:defRPr>
            </a:pPr>
            <a:r>
              <a:rPr sz="2025" b="0">
                <a:solidFill>
                  <a:srgbClr val="17323B"/>
                </a:solidFill>
                <a:latin typeface="Noto Sans CJK JP"/>
                <a:ea typeface="Noto Sans CJK JP"/>
                <a:cs typeface="Noto Sans CJK JP"/>
              </a:rPr>
              <a:t>それぞれ何が出力されるか。</a:t>
            </a:r>
          </a:p>
          <a:p>
            <a:r>
              <a:t/>
            </a:r>
          </a:p>
          <a:p>
            <a:pPr algn="l">
              <a:lnSpc>
                <a:spcPct val="118000"/>
              </a:lnSpc>
              <a:buNone/>
              <a:defRPr sz="2025" b="0">
                <a:solidFill>
                  <a:srgbClr val="17323B"/>
                </a:solidFill>
                <a:latin typeface="Noto Sans CJK JP"/>
                <a:ea typeface="Noto Sans CJK JP"/>
                <a:cs typeface="Noto Sans CJK JP"/>
              </a:defRPr>
            </a:pPr>
            <a:r>
              <a:rPr sz="2025" b="0">
                <a:solidFill>
                  <a:srgbClr val="17323B"/>
                </a:solidFill>
                <a:latin typeface="Noto Sans CJK JP"/>
                <a:ea typeface="Noto Sans CJK JP"/>
                <a:cs typeface="Noto Sans CJK JP"/>
              </a:rPr>
              <a:t>absは何をするか。</a:t>
            </a:r>
          </a:p>
          <a:p>
            <a:r>
              <a:t/>
            </a:r>
          </a:p>
          <a:p>
            <a:pPr algn="l">
              <a:lnSpc>
                <a:spcPct val="118000"/>
              </a:lnSpc>
              <a:buNone/>
              <a:defRPr sz="2025" b="0">
                <a:solidFill>
                  <a:srgbClr val="17323B"/>
                </a:solidFill>
                <a:latin typeface="Noto Sans CJK JP"/>
                <a:ea typeface="Noto Sans CJK JP"/>
                <a:cs typeface="Noto Sans CJK JP"/>
              </a:defRPr>
            </a:pPr>
            <a:r>
              <a:rPr sz="2025" b="0">
                <a:solidFill>
                  <a:srgbClr val="17323B"/>
                </a:solidFill>
                <a:latin typeface="Noto Sans CJK JP"/>
                <a:ea typeface="Noto Sans CJK JP"/>
                <a:cs typeface="Noto Sans CJK JP"/>
              </a:rPr>
              <a:t>5と-5は範囲外に数えない。</a:t>
            </a:r>
          </a:p>
        </p:txBody>
      </p:sp>
    </p:spTree>
    <p:extLst>
      <p:ext uri="{BB962C8B-B14F-4D97-AF65-F5344CB8AC3E}">
        <p14:creationId val="1262532635"/>
      </p:ext>
    </p:extLst>
  </p:cSld>
</p:sld>
</file>

<file path=ppt/slides/slide27.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3" name="Pythonの第一歩">
            <a:extLst>
              <a:ext uri="{FF2B5EF4-FFF2-40B4-BE49-F238E27FC236}">
                <a16:creationId id="{CB257EE6-89EC-4EE0-A28B-32705D8DD59E}"/>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Pythonの第一歩</a:t>
            </a:r>
          </a:p>
        </p:txBody>
      </p:sp>
      <p:sp>
        <p:nvSpPr>
          <p:cNvPr id="2" name="for：一つずつ取り出して数える">
            <a:extLst>
              <a:ext uri="{FF2B5EF4-FFF2-40B4-BE49-F238E27FC236}">
                <a16:creationId id="{E1CAEE56-6B0E-4D86-BC4D-5DEE0E3CB548}"/>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for：一つずつ取り出して数える</a:t>
            </a:r>
          </a:p>
        </p:txBody>
      </p:sp>
      <p:sp>
        <p:nvSpPr>
          <p:cNvPr id="3" name="初期化 → 判定 → 更新を、別々に読む。">
            <a:extLst>
              <a:ext uri="{FF2B5EF4-FFF2-40B4-BE49-F238E27FC236}">
                <a16:creationId id="{D45982D2-1436-4F9D-AAF6-C612D4C596DD}"/>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初期化 → 判定 → 更新を、別々に読む。</a:t>
            </a:r>
          </a:p>
        </p:txBody>
      </p:sp>
      <p:sp>
        <p:nvSpPr>
          <p:cNvPr id="4" name="24"/>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27</a:t>
            </a:r>
          </a:p>
        </p:txBody>
      </p:sp>
      <p:sp>
        <p:nvSpPr>
          <p:cNvPr id="5" name="">
            <a:extLst>
              <a:ext uri="{FF2B5EF4-FFF2-40B4-BE49-F238E27FC236}">
                <a16:creationId id="{76EFD175-A7A7-457C-9208-B90025EE2C89}"/>
              </a:ext>
            </a:extLst>
          </p:cNvPr>
          <p:cNvSpPr>
            <a:spLocks noGrp="1"/>
          </p:cNvSpPr>
          <p:nvPr/>
        </p:nvSpPr>
        <p:spPr>
          <a:xfrm>
            <a:off x="609600" y="2066925"/>
            <a:ext cx="6372225" cy="3267075"/>
          </a:xfrm>
          <a:prstGeom prst="rect">
            <a:avLst/>
          </a:prstGeom>
          <a:solidFill>
            <a:srgbClr val="E5EEEA"/>
          </a:solidFill>
          <a:ln w="0">
            <a:noFill/>
          </a:ln>
        </p:spPr>
      </p:sp>
      <p:sp>
        <p:nvSpPr>
          <p:cNvPr id="6" name="angles = [0, 3, -6, 5, 8]&#10;coun">
            <a:extLst>
              <a:ext uri="{FF2B5EF4-FFF2-40B4-BE49-F238E27FC236}">
                <a16:creationId id="{DEDE36FC-AED8-41E7-8E11-850031C02B29}"/>
              </a:ext>
            </a:extLst>
          </p:cNvPr>
          <p:cNvSpPr>
            <a:spLocks noGrp="1"/>
          </p:cNvSpPr>
          <p:nvPr/>
        </p:nvSpPr>
        <p:spPr>
          <a:xfrm>
            <a:off x="847725" y="2333625"/>
            <a:ext cx="5905500" cy="2743200"/>
          </a:xfrm>
          <a:prstGeom prst="rect">
            <a:avLst/>
          </a:prstGeom>
          <a:noFill/>
          <a:ln w="0">
            <a:noFill/>
          </a:ln>
        </p:spPr>
        <p:txBody>
          <a:bodyPr wrap="square" lIns="0" tIns="0" rIns="0" bIns="0" anchor="t">
            <a:noAutofit/>
          </a:bodyPr>
          <a:lstStyle/>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angles = [0, 3, -6, 5, 8]</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count = 0</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for angle in angles:</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    if abs(angle) &gt; 5:</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        count += 1</a:t>
            </a:r>
          </a:p>
          <a:p>
            <a:pPr algn="l">
              <a:lnSpc>
                <a:spcPct val="118000"/>
              </a:lnSpc>
              <a:buNone/>
              <a:defRPr sz="2100" b="0">
                <a:solidFill>
                  <a:srgbClr val="17323B"/>
                </a:solidFill>
                <a:latin typeface="Noto Sans CJK JP"/>
                <a:ea typeface="Noto Sans CJK JP"/>
                <a:cs typeface="Noto Sans CJK JP"/>
              </a:defRPr>
            </a:pPr>
            <a:r>
              <a:rPr sz="2100" b="0">
                <a:solidFill>
                  <a:srgbClr val="17323B"/>
                </a:solidFill>
                <a:latin typeface="Noto Sans CJK JP"/>
                <a:ea typeface="Noto Sans CJK JP"/>
                <a:cs typeface="Noto Sans CJK JP"/>
              </a:rPr>
              <a:t>print(count)</a:t>
            </a:r>
          </a:p>
        </p:txBody>
      </p:sp>
      <p:sp>
        <p:nvSpPr>
          <p:cNvPr id="7" name="初期化">
            <a:extLst>
              <a:ext uri="{FF2B5EF4-FFF2-40B4-BE49-F238E27FC236}">
                <a16:creationId id="{C87B8221-F6B2-41CF-B067-C40BEF597103}"/>
              </a:ext>
            </a:extLst>
          </p:cNvPr>
          <p:cNvSpPr>
            <a:spLocks noGrp="1"/>
          </p:cNvSpPr>
          <p:nvPr/>
        </p:nvSpPr>
        <p:spPr>
          <a:xfrm>
            <a:off x="7477125" y="2181225"/>
            <a:ext cx="4038600" cy="419100"/>
          </a:xfrm>
          <a:prstGeom prst="rect">
            <a:avLst/>
          </a:prstGeom>
          <a:noFill/>
          <a:ln w="0">
            <a:noFill/>
          </a:ln>
        </p:spPr>
        <p:txBody>
          <a:bodyPr wrap="square" lIns="0" tIns="0" rIns="0" bIns="0" anchor="t">
            <a:noAutofit/>
          </a:bodyPr>
          <a:lstStyle/>
          <a:p>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初期化</a:t>
            </a:r>
          </a:p>
        </p:txBody>
      </p:sp>
      <p:sp>
        <p:nvSpPr>
          <p:cNvPr id="8" name="count = 0 はループの前">
            <a:extLst>
              <a:ext uri="{FF2B5EF4-FFF2-40B4-BE49-F238E27FC236}">
                <a16:creationId id="{09FFF3D0-F962-4B82-B61B-A8537097C6CB}"/>
              </a:ext>
            </a:extLst>
          </p:cNvPr>
          <p:cNvSpPr>
            <a:spLocks noGrp="1"/>
          </p:cNvSpPr>
          <p:nvPr/>
        </p:nvSpPr>
        <p:spPr>
          <a:xfrm>
            <a:off x="7477125" y="2657475"/>
            <a:ext cx="4038600" cy="561975"/>
          </a:xfrm>
          <a:prstGeom prst="rect">
            <a:avLst/>
          </a:prstGeom>
          <a:noFill/>
          <a:ln w="0">
            <a:noFill/>
          </a:ln>
        </p:spPr>
        <p:txBody>
          <a:bodyPr wrap="square" lIns="0" tIns="0" rIns="0" bIns="0" anchor="t">
            <a:noAutofit/>
          </a:bodyPr>
          <a:lstStyle/>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count = 0 はループの前</a:t>
            </a:r>
          </a:p>
        </p:txBody>
      </p:sp>
      <p:sp>
        <p:nvSpPr>
          <p:cNvPr id="9" name="判定">
            <a:extLst>
              <a:ext uri="{FF2B5EF4-FFF2-40B4-BE49-F238E27FC236}">
                <a16:creationId id="{1831E5CA-0854-4A24-8962-5C35C2E37FC0}"/>
              </a:ext>
            </a:extLst>
          </p:cNvPr>
          <p:cNvSpPr>
            <a:spLocks noGrp="1"/>
          </p:cNvSpPr>
          <p:nvPr/>
        </p:nvSpPr>
        <p:spPr>
          <a:xfrm>
            <a:off x="7477125" y="3238500"/>
            <a:ext cx="4038600" cy="419100"/>
          </a:xfrm>
          <a:prstGeom prst="rect">
            <a:avLst/>
          </a:prstGeom>
          <a:noFill/>
          <a:ln w="0">
            <a:noFill/>
          </a:ln>
        </p:spPr>
        <p:txBody>
          <a:bodyPr wrap="square" lIns="0" tIns="0" rIns="0" bIns="0" anchor="t">
            <a:noAutofit/>
          </a:bodyPr>
          <a:lstStyle/>
          <a:p>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判定</a:t>
            </a:r>
          </a:p>
        </p:txBody>
      </p:sp>
      <p:sp>
        <p:nvSpPr>
          <p:cNvPr id="10" name="abs(angle) &gt; 5">
            <a:extLst>
              <a:ext uri="{FF2B5EF4-FFF2-40B4-BE49-F238E27FC236}">
                <a16:creationId id="{1011156D-D86A-4E8E-852C-C3909687678B}"/>
              </a:ext>
            </a:extLst>
          </p:cNvPr>
          <p:cNvSpPr>
            <a:spLocks noGrp="1"/>
          </p:cNvSpPr>
          <p:nvPr/>
        </p:nvSpPr>
        <p:spPr>
          <a:xfrm>
            <a:off x="7477125" y="3714750"/>
            <a:ext cx="4038600" cy="561975"/>
          </a:xfrm>
          <a:prstGeom prst="rect">
            <a:avLst/>
          </a:prstGeom>
          <a:noFill/>
          <a:ln w="0">
            <a:noFill/>
          </a:ln>
        </p:spPr>
        <p:txBody>
          <a:bodyPr wrap="square" lIns="0" tIns="0" rIns="0" bIns="0" anchor="t">
            <a:noAutofit/>
          </a:bodyPr>
          <a:lstStyle/>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abs(angle) &gt; 5</a:t>
            </a:r>
          </a:p>
        </p:txBody>
      </p:sp>
      <p:sp>
        <p:nvSpPr>
          <p:cNvPr id="11" name="更新">
            <a:extLst>
              <a:ext uri="{FF2B5EF4-FFF2-40B4-BE49-F238E27FC236}">
                <a16:creationId id="{D553932B-F998-45C8-B794-EC504BF6FDEB}"/>
              </a:ext>
            </a:extLst>
          </p:cNvPr>
          <p:cNvSpPr>
            <a:spLocks noGrp="1"/>
          </p:cNvSpPr>
          <p:nvPr/>
        </p:nvSpPr>
        <p:spPr>
          <a:xfrm>
            <a:off x="7477125" y="4295775"/>
            <a:ext cx="4038600" cy="419100"/>
          </a:xfrm>
          <a:prstGeom prst="rect">
            <a:avLst/>
          </a:prstGeom>
          <a:noFill/>
          <a:ln w="0">
            <a:noFill/>
          </a:ln>
        </p:spPr>
        <p:txBody>
          <a:bodyPr wrap="square" lIns="0" tIns="0" rIns="0" bIns="0" anchor="t">
            <a:noAutofit/>
          </a:bodyPr>
          <a:lstStyle/>
          <a:p>
            <a:pPr algn="l">
              <a:lnSpc>
                <a:spcPct val="118000"/>
              </a:lnSpc>
              <a:buNone/>
              <a:defRPr sz="2325" b="1">
                <a:solidFill>
                  <a:srgbClr val="247C7A"/>
                </a:solidFill>
                <a:latin typeface="Noto Sans CJK JP"/>
                <a:ea typeface="Noto Sans CJK JP"/>
                <a:cs typeface="Noto Sans CJK JP"/>
              </a:defRPr>
            </a:pPr>
            <a:r>
              <a:rPr sz="2325" b="1">
                <a:solidFill>
                  <a:srgbClr val="247C7A"/>
                </a:solidFill>
                <a:latin typeface="Noto Sans CJK JP"/>
                <a:ea typeface="Noto Sans CJK JP"/>
                <a:cs typeface="Noto Sans CJK JP"/>
              </a:rPr>
              <a:t>更新</a:t>
            </a:r>
          </a:p>
        </p:txBody>
      </p:sp>
      <p:sp>
        <p:nvSpPr>
          <p:cNvPr id="12" name="count += 1">
            <a:extLst>
              <a:ext uri="{FF2B5EF4-FFF2-40B4-BE49-F238E27FC236}">
                <a16:creationId id="{C867D38E-0A0D-4287-9382-FB69251CF125}"/>
              </a:ext>
            </a:extLst>
          </p:cNvPr>
          <p:cNvSpPr>
            <a:spLocks noGrp="1"/>
          </p:cNvSpPr>
          <p:nvPr/>
        </p:nvSpPr>
        <p:spPr>
          <a:xfrm>
            <a:off x="7477125" y="4772025"/>
            <a:ext cx="4038600" cy="561975"/>
          </a:xfrm>
          <a:prstGeom prst="rect">
            <a:avLst/>
          </a:prstGeom>
          <a:noFill/>
          <a:ln w="0">
            <a:noFill/>
          </a:ln>
        </p:spPr>
        <p:txBody>
          <a:bodyPr wrap="square" lIns="0" tIns="0" rIns="0" bIns="0" anchor="t">
            <a:noAutofit/>
          </a:bodyPr>
          <a:lstStyle/>
          <a:p>
            <a:pPr algn="l">
              <a:lnSpc>
                <a:spcPct val="118000"/>
              </a:lnSpc>
              <a:buNone/>
              <a:defRPr sz="1950" b="0">
                <a:solidFill>
                  <a:srgbClr val="17323B"/>
                </a:solidFill>
                <a:latin typeface="Noto Sans CJK JP"/>
                <a:ea typeface="Noto Sans CJK JP"/>
                <a:cs typeface="Noto Sans CJK JP"/>
              </a:defRPr>
            </a:pPr>
            <a:r>
              <a:rPr sz="1950" b="0">
                <a:solidFill>
                  <a:srgbClr val="17323B"/>
                </a:solidFill>
                <a:latin typeface="Noto Sans CJK JP"/>
                <a:ea typeface="Noto Sans CJK JP"/>
                <a:cs typeface="Noto Sans CJK JP"/>
              </a:rPr>
              <a:t>count += 1</a:t>
            </a:r>
          </a:p>
        </p:txBody>
      </p:sp>
    </p:spTree>
    <p:extLst>
      <p:ext uri="{BB962C8B-B14F-4D97-AF65-F5344CB8AC3E}">
        <p14:creationId val="2142579376"/>
      </p:ext>
    </p:extLst>
  </p:cSld>
</p:sld>
</file>

<file path=ppt/slides/slide28.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12" name="Pythonの第一歩">
            <a:extLst>
              <a:ext uri="{FF2B5EF4-FFF2-40B4-BE49-F238E27FC236}">
                <a16:creationId id="{BAC079E0-1526-42F1-824C-42351130303A}"/>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Pythonの第一歩</a:t>
            </a:r>
          </a:p>
        </p:txBody>
      </p:sp>
      <p:sp>
        <p:nvSpPr>
          <p:cNvPr id="2" name="エラーと、答えの間違いを区別する">
            <a:extLst>
              <a:ext uri="{FF2B5EF4-FFF2-40B4-BE49-F238E27FC236}">
                <a16:creationId id="{076B0C81-C680-41C6-9212-C264102DAAA3}"/>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エラーと、答えの間違いを区別する</a:t>
            </a:r>
          </a:p>
        </p:txBody>
      </p:sp>
      <p:sp>
        <p:nvSpPr>
          <p:cNvPr id="3" name="止まった場所と、予想から外れた場所を調べる。">
            <a:extLst>
              <a:ext uri="{FF2B5EF4-FFF2-40B4-BE49-F238E27FC236}">
                <a16:creationId id="{4DE8F8F5-CD6E-4DCB-B82F-97CB7C7562F9}"/>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止まった場所と、予想から外れた場所を調べる。</a:t>
            </a:r>
          </a:p>
        </p:txBody>
      </p:sp>
      <p:sp>
        <p:nvSpPr>
          <p:cNvPr id="4" name="25"/>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28</a:t>
            </a:r>
          </a:p>
        </p:txBody>
      </p:sp>
      <p:sp>
        <p:nvSpPr>
          <p:cNvPr id="5" name="実行時のエラー">
            <a:extLst>
              <a:ext uri="{FF2B5EF4-FFF2-40B4-BE49-F238E27FC236}">
                <a16:creationId id="{2809393F-C89E-4529-9568-97E1142E83B5}"/>
              </a:ext>
            </a:extLst>
          </p:cNvPr>
          <p:cNvSpPr>
            <a:spLocks noGrp="1"/>
          </p:cNvSpPr>
          <p:nvPr/>
        </p:nvSpPr>
        <p:spPr>
          <a:xfrm>
            <a:off x="609600" y="2143125"/>
            <a:ext cx="5124450" cy="476250"/>
          </a:xfrm>
          <a:prstGeom prst="rect">
            <a:avLst/>
          </a:prstGeom>
          <a:noFill/>
          <a:ln w="0">
            <a:noFill/>
          </a:ln>
        </p:spPr>
        <p:txBody>
          <a:bodyPr wrap="square" lIns="0" tIns="0" rIns="0" bIns="0" anchor="t">
            <a:noAutofit/>
          </a:bodyPr>
          <a:lstStyle/>
          <a:p>
            <a:pPr algn="l">
              <a:lnSpc>
                <a:spcPct val="118000"/>
              </a:lnSpc>
              <a:buNone/>
              <a:defRPr sz="2550" b="1">
                <a:solidFill>
                  <a:srgbClr val="C9633D"/>
                </a:solidFill>
                <a:latin typeface="Noto Sans CJK JP"/>
                <a:ea typeface="Noto Sans CJK JP"/>
                <a:cs typeface="Noto Sans CJK JP"/>
              </a:defRPr>
            </a:pPr>
            <a:r>
              <a:rPr sz="2550" b="1">
                <a:solidFill>
                  <a:srgbClr val="C9633D"/>
                </a:solidFill>
                <a:latin typeface="Noto Sans CJK JP"/>
                <a:ea typeface="Noto Sans CJK JP"/>
                <a:cs typeface="Noto Sans CJK JP"/>
              </a:rPr>
              <a:t>実行時のエラー</a:t>
            </a:r>
          </a:p>
        </p:txBody>
      </p:sp>
      <p:sp>
        <p:nvSpPr>
          <p:cNvPr id="6" name="変数名のつづりを確認する。&#10;エラーメッセージの最後と&#10;該当す">
            <a:extLst>
              <a:ext uri="{FF2B5EF4-FFF2-40B4-BE49-F238E27FC236}">
                <a16:creationId id="{DD6EA4A4-5F1C-41DE-B59E-02D3A61FC9E9}"/>
              </a:ext>
            </a:extLst>
          </p:cNvPr>
          <p:cNvSpPr>
            <a:spLocks noGrp="1"/>
          </p:cNvSpPr>
          <p:nvPr/>
        </p:nvSpPr>
        <p:spPr>
          <a:xfrm>
            <a:off x="609600" y="2876550"/>
            <a:ext cx="5124450" cy="1457325"/>
          </a:xfrm>
          <a:prstGeom prst="rect">
            <a:avLst/>
          </a:prstGeom>
          <a:noFill/>
          <a:ln w="0">
            <a:noFill/>
          </a:ln>
        </p:spPr>
        <p:txBody>
          <a:bodyPr wrap="square" lIns="0" tIns="0" rIns="0" bIns="0" anchor="t">
            <a:noAutofit/>
          </a:bodyPr>
          <a:lstStyle/>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変数名のつづりを確認する。</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エラーメッセージの最後と</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該当する行を読む。</a:t>
            </a:r>
          </a:p>
        </p:txBody>
      </p:sp>
      <p:sp>
        <p:nvSpPr>
          <p:cNvPr id="7" name="">
            <a:extLst>
              <a:ext uri="{FF2B5EF4-FFF2-40B4-BE49-F238E27FC236}">
                <a16:creationId id="{3B84A599-E33E-4B37-A9D3-45535C72E9D9}"/>
              </a:ext>
            </a:extLst>
          </p:cNvPr>
          <p:cNvSpPr>
            <a:spLocks noGrp="1"/>
          </p:cNvSpPr>
          <p:nvPr/>
        </p:nvSpPr>
        <p:spPr>
          <a:xfrm>
            <a:off x="6057900" y="2133600"/>
            <a:ext cx="19050" cy="3276600"/>
          </a:xfrm>
          <a:prstGeom prst="rect">
            <a:avLst/>
          </a:prstGeom>
          <a:solidFill>
            <a:srgbClr val="C8D4D0"/>
          </a:solidFill>
          <a:ln w="0">
            <a:noFill/>
          </a:ln>
        </p:spPr>
      </p:sp>
      <p:sp>
        <p:nvSpPr>
          <p:cNvPr id="8" name="実行できても、答えが違う">
            <a:extLst>
              <a:ext uri="{FF2B5EF4-FFF2-40B4-BE49-F238E27FC236}">
                <a16:creationId id="{DEC7623F-C230-4E0B-B16D-AC1E4FB52A34}"/>
              </a:ext>
            </a:extLst>
          </p:cNvPr>
          <p:cNvSpPr>
            <a:spLocks noGrp="1"/>
          </p:cNvSpPr>
          <p:nvPr/>
        </p:nvSpPr>
        <p:spPr>
          <a:xfrm>
            <a:off x="6667500" y="2143125"/>
            <a:ext cx="4914900" cy="476250"/>
          </a:xfrm>
          <a:prstGeom prst="rect">
            <a:avLst/>
          </a:prstGeom>
          <a:noFill/>
          <a:ln w="0">
            <a:noFill/>
          </a:ln>
        </p:spPr>
        <p:txBody>
          <a:bodyPr wrap="square" lIns="0" tIns="0" rIns="0" bIns="0" anchor="t">
            <a:noAutofit/>
          </a:bodyPr>
          <a:lstStyle/>
          <a:p>
            <a:pPr algn="l">
              <a:lnSpc>
                <a:spcPct val="118000"/>
              </a:lnSpc>
              <a:buNone/>
              <a:defRPr sz="2400" b="1">
                <a:solidFill>
                  <a:srgbClr val="247C7A"/>
                </a:solidFill>
                <a:latin typeface="Noto Sans CJK JP"/>
                <a:ea typeface="Noto Sans CJK JP"/>
                <a:cs typeface="Noto Sans CJK JP"/>
              </a:defRPr>
            </a:pPr>
            <a:r>
              <a:rPr sz="2400" b="1">
                <a:solidFill>
                  <a:srgbClr val="247C7A"/>
                </a:solidFill>
                <a:latin typeface="Noto Sans CJK JP"/>
                <a:ea typeface="Noto Sans CJK JP"/>
                <a:cs typeface="Noto Sans CJK JP"/>
              </a:rPr>
              <a:t>実行できても、答えが違う</a:t>
            </a:r>
          </a:p>
        </p:txBody>
      </p:sp>
      <p:sp>
        <p:nvSpPr>
          <p:cNvPr id="9" name="初期化と更新の場所を確認する。&#10;少ないデータで手計算する。&#10;">
            <a:extLst>
              <a:ext uri="{FF2B5EF4-FFF2-40B4-BE49-F238E27FC236}">
                <a16:creationId id="{B2A40C45-FEEC-41DA-A719-1BEDD894E77F}"/>
              </a:ext>
            </a:extLst>
          </p:cNvPr>
          <p:cNvSpPr>
            <a:spLocks noGrp="1"/>
          </p:cNvSpPr>
          <p:nvPr/>
        </p:nvSpPr>
        <p:spPr>
          <a:xfrm>
            <a:off x="6667500" y="2876550"/>
            <a:ext cx="4914900" cy="1457325"/>
          </a:xfrm>
          <a:prstGeom prst="rect">
            <a:avLst/>
          </a:prstGeom>
          <a:noFill/>
          <a:ln w="0">
            <a:noFill/>
          </a:ln>
        </p:spPr>
        <p:txBody>
          <a:bodyPr wrap="square" lIns="0" tIns="0" rIns="0" bIns="0" anchor="t">
            <a:noAutofit/>
          </a:bodyPr>
          <a:lstStyle/>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初期化と更新の場所を確認する。</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少ないデータで手計算する。</a:t>
            </a:r>
          </a:p>
          <a:p>
            <a:pPr algn="l">
              <a:lnSpc>
                <a:spcPct val="118000"/>
              </a:lnSpc>
              <a:buNone/>
              <a:defRPr sz="2175" b="0">
                <a:solidFill>
                  <a:srgbClr val="17323B"/>
                </a:solidFill>
                <a:latin typeface="Noto Sans CJK JP"/>
                <a:ea typeface="Noto Sans CJK JP"/>
                <a:cs typeface="Noto Sans CJK JP"/>
              </a:defRPr>
            </a:pPr>
            <a:r>
              <a:rPr sz="2175" b="0">
                <a:solidFill>
                  <a:srgbClr val="17323B"/>
                </a:solidFill>
                <a:latin typeface="Noto Sans CJK JP"/>
                <a:ea typeface="Noto Sans CJK JP"/>
                <a:cs typeface="Noto Sans CJK JP"/>
              </a:rPr>
              <a:t>境界値でも確かめる。</a:t>
            </a:r>
          </a:p>
        </p:txBody>
      </p:sp>
      <p:sp>
        <p:nvSpPr>
          <p:cNvPr id="10" name="">
            <a:extLst>
              <a:ext uri="{FF2B5EF4-FFF2-40B4-BE49-F238E27FC236}">
                <a16:creationId id="{06770266-D750-4B9C-9AE4-1500A1455349}"/>
              </a:ext>
            </a:extLst>
          </p:cNvPr>
          <p:cNvSpPr>
            <a:spLocks noGrp="1"/>
          </p:cNvSpPr>
          <p:nvPr/>
        </p:nvSpPr>
        <p:spPr>
          <a:xfrm>
            <a:off x="609600" y="5486400"/>
            <a:ext cx="10972800" cy="457200"/>
          </a:xfrm>
          <a:prstGeom prst="rect">
            <a:avLst/>
          </a:prstGeom>
          <a:solidFill>
            <a:srgbClr val="17323B"/>
          </a:solidFill>
          <a:ln w="0">
            <a:noFill/>
          </a:ln>
        </p:spPr>
      </p:sp>
      <p:sp>
        <p:nvSpPr>
          <p:cNvPr id="11" name="質問するときは、入力・変更した行・出力・予想をそろえる。">
            <a:extLst>
              <a:ext uri="{FF2B5EF4-FFF2-40B4-BE49-F238E27FC236}">
                <a16:creationId id="{6292C48D-9123-40F8-B18A-41D0DAAA3FC0}"/>
              </a:ext>
            </a:extLst>
          </p:cNvPr>
          <p:cNvSpPr>
            <a:spLocks noGrp="1"/>
          </p:cNvSpPr>
          <p:nvPr/>
        </p:nvSpPr>
        <p:spPr>
          <a:xfrm>
            <a:off x="800100" y="5553075"/>
            <a:ext cx="10591800" cy="342900"/>
          </a:xfrm>
          <a:prstGeom prst="rect">
            <a:avLst/>
          </a:prstGeom>
          <a:noFill/>
          <a:ln w="0">
            <a:noFill/>
          </a:ln>
        </p:spPr>
        <p:txBody>
          <a:bodyPr wrap="square" lIns="0" tIns="0" rIns="0" bIns="0" anchor="t">
            <a:noAutofit/>
          </a:bodyPr>
          <a:lstStyle/>
          <a:p>
            <a:pPr algn="l">
              <a:lnSpc>
                <a:spcPct val="118000"/>
              </a:lnSpc>
              <a:buNone/>
              <a:defRPr sz="1875" b="1">
                <a:solidFill>
                  <a:srgbClr val="FFFFFF"/>
                </a:solidFill>
                <a:latin typeface="Noto Sans CJK JP"/>
                <a:ea typeface="Noto Sans CJK JP"/>
                <a:cs typeface="Noto Sans CJK JP"/>
              </a:defRPr>
            </a:pPr>
            <a:r>
              <a:rPr sz="1875" b="1">
                <a:solidFill>
                  <a:srgbClr val="FFFFFF"/>
                </a:solidFill>
                <a:latin typeface="Noto Sans CJK JP"/>
                <a:ea typeface="Noto Sans CJK JP"/>
                <a:cs typeface="Noto Sans CJK JP"/>
              </a:rPr>
              <a:t>質問するときは、入力・変更した行・出力・予想をそろえる。</a:t>
            </a:r>
          </a:p>
        </p:txBody>
      </p:sp>
    </p:spTree>
    <p:extLst>
      <p:ext uri="{BB962C8B-B14F-4D97-AF65-F5344CB8AC3E}">
        <p14:creationId val="1375950797"/>
      </p:ext>
    </p:extLst>
  </p:cSld>
</p:sld>
</file>

<file path=ppt/slides/slide29.xml><?xml version="1.0" encoding="utf-8"?>
<p:sld xmlns:a="http://schemas.openxmlformats.org/drawingml/2006/main" xmlns:a16="http://schemas.microsoft.com/office/drawing/2014/main" xmlns:p="http://schemas.openxmlformats.org/presentationml/2006/main" xmlns:p14="http://schemas.microsoft.com/office/powerpoint/2010/main">
  <p:cSld>
    <p:bg>
      <p:bgPr>
        <a:solidFill>
          <a:srgbClr val="F7F5EF"/>
        </a:solidFill>
      </p:bgPr>
    </p:bg>
    <p:spTree>
      <p:nvGrpSpPr>
        <p:cNvPr id="1" name=""/>
        <p:cNvGrpSpPr/>
        <p:nvPr/>
      </p:nvGrpSpPr>
      <p:grpSpPr>
        <a:xfrm/>
      </p:grpSpPr>
      <p:sp>
        <p:nvSpPr>
          <p:cNvPr id="21" name="第1回の課題">
            <a:extLst>
              <a:ext uri="{FF2B5EF4-FFF2-40B4-BE49-F238E27FC236}">
                <a16:creationId id="{2792ADA1-AE2E-4DE6-B4BA-C10B48FCC65D}"/>
              </a:ext>
            </a:extLst>
          </p:cNvPr>
          <p:cNvSpPr>
            <a:spLocks noGrp="1"/>
          </p:cNvSpPr>
          <p:nvPr/>
        </p:nvSpPr>
        <p:spPr>
          <a:xfrm>
            <a:off x="609600" y="266700"/>
            <a:ext cx="10382250" cy="266700"/>
          </a:xfrm>
          <a:prstGeom prst="rect">
            <a:avLst/>
          </a:prstGeom>
          <a:noFill/>
          <a:ln w="0">
            <a:noFill/>
          </a:ln>
        </p:spPr>
        <p:txBody>
          <a:bodyPr wrap="square" lIns="0" tIns="0" rIns="0" bIns="0" anchor="t">
            <a:noAutofit/>
          </a:bodyPr>
          <a:lstStyle/>
          <a:p>
            <a:pPr algn="l">
              <a:lnSpc>
                <a:spcPct val="118000"/>
              </a:lnSpc>
              <a:buNone/>
              <a:defRPr sz="1200" b="1">
                <a:solidFill>
                  <a:srgbClr val="247C7A"/>
                </a:solidFill>
                <a:latin typeface="Noto Sans CJK JP"/>
                <a:ea typeface="Noto Sans CJK JP"/>
                <a:cs typeface="Noto Sans CJK JP"/>
              </a:defRPr>
            </a:pPr>
            <a:r>
              <a:rPr sz="1200" b="1">
                <a:solidFill>
                  <a:srgbClr val="247C7A"/>
                </a:solidFill>
                <a:latin typeface="Noto Sans CJK JP"/>
                <a:ea typeface="Noto Sans CJK JP"/>
                <a:cs typeface="Noto Sans CJK JP"/>
              </a:rPr>
              <a:t>第1回の課題</a:t>
            </a:r>
          </a:p>
        </p:txBody>
      </p:sp>
      <p:sp>
        <p:nvSpPr>
          <p:cNvPr id="2" name="今日の到達点と次回の準備">
            <a:extLst>
              <a:ext uri="{FF2B5EF4-FFF2-40B4-BE49-F238E27FC236}">
                <a16:creationId id="{A078C41B-4ADA-41C1-BA80-94C370E15CC3}"/>
              </a:ext>
            </a:extLst>
          </p:cNvPr>
          <p:cNvSpPr>
            <a:spLocks noGrp="1"/>
          </p:cNvSpPr>
          <p:nvPr/>
        </p:nvSpPr>
        <p:spPr>
          <a:xfrm>
            <a:off x="609600" y="657225"/>
            <a:ext cx="10972800" cy="619125"/>
          </a:xfrm>
          <a:prstGeom prst="rect">
            <a:avLst/>
          </a:prstGeom>
          <a:noFill/>
          <a:ln w="0">
            <a:noFill/>
          </a:ln>
        </p:spPr>
        <p:txBody>
          <a:bodyPr wrap="square" lIns="0" tIns="0" rIns="0" bIns="0" anchor="t">
            <a:noAutofit/>
          </a:bodyPr>
          <a:lstStyle/>
          <a:p>
            <a:pPr algn="l">
              <a:lnSpc>
                <a:spcPct val="118000"/>
              </a:lnSpc>
              <a:buNone/>
              <a:defRPr sz="3225" b="1">
                <a:solidFill>
                  <a:srgbClr val="17323B"/>
                </a:solidFill>
                <a:latin typeface="Noto Sans CJK JP"/>
                <a:ea typeface="Noto Sans CJK JP"/>
                <a:cs typeface="Noto Sans CJK JP"/>
              </a:defRPr>
            </a:pPr>
            <a:r>
              <a:rPr sz="3225" b="1">
                <a:solidFill>
                  <a:srgbClr val="17323B"/>
                </a:solidFill>
                <a:latin typeface="Noto Sans CJK JP"/>
                <a:ea typeface="Noto Sans CJK JP"/>
                <a:cs typeface="Noto Sans CJK JP"/>
              </a:rPr>
              <a:t>今日の到達点と次回の準備</a:t>
            </a:r>
          </a:p>
        </p:txBody>
      </p:sp>
      <p:sp>
        <p:nvSpPr>
          <p:cNvPr id="3" name="できたことと疑問を残して、次の学習につなげる">
            <a:extLst>
              <a:ext uri="{FF2B5EF4-FFF2-40B4-BE49-F238E27FC236}">
                <a16:creationId id="{89E3EC17-166E-4550-8D2F-E5C1A96EFC6E}"/>
              </a:ext>
            </a:extLst>
          </p:cNvPr>
          <p:cNvSpPr>
            <a:spLocks noGrp="1"/>
          </p:cNvSpPr>
          <p:nvPr/>
        </p:nvSpPr>
        <p:spPr>
          <a:xfrm>
            <a:off x="609600" y="1323975"/>
            <a:ext cx="10972800" cy="400050"/>
          </a:xfrm>
          <a:prstGeom prst="rect">
            <a:avLst/>
          </a:prstGeom>
          <a:noFill/>
          <a:ln w="0">
            <a:noFill/>
          </a:ln>
        </p:spPr>
        <p:txBody>
          <a:bodyPr wrap="square" lIns="0" tIns="0" rIns="0" bIns="0" anchor="t">
            <a:noAutofit/>
          </a:bodyPr>
          <a:lstStyle/>
          <a:p>
            <a:pPr algn="l">
              <a:lnSpc>
                <a:spcPct val="118000"/>
              </a:lnSpc>
              <a:buNone/>
              <a:defRPr sz="1800" b="0">
                <a:solidFill>
                  <a:srgbClr val="5C6B6B"/>
                </a:solidFill>
                <a:latin typeface="Noto Sans CJK JP"/>
                <a:ea typeface="Noto Sans CJK JP"/>
                <a:cs typeface="Noto Sans CJK JP"/>
              </a:defRPr>
            </a:pPr>
            <a:r>
              <a:rPr sz="1800" b="0">
                <a:solidFill>
                  <a:srgbClr val="5C6B6B"/>
                </a:solidFill>
                <a:latin typeface="Noto Sans CJK JP"/>
                <a:ea typeface="Noto Sans CJK JP"/>
                <a:cs typeface="Noto Sans CJK JP"/>
              </a:rPr>
              <a:t>できたことと疑問を残して、次の学習につなげる</a:t>
            </a:r>
          </a:p>
        </p:txBody>
      </p:sp>
      <p:sp>
        <p:nvSpPr>
          <p:cNvPr id="4" name="26"/>
          <p:cNvSpPr/>
          <p:nvPr/>
        </p:nvSpPr>
        <p:spPr>
          <a:xfrm>
            <a:off x="11049000" y="6362700"/>
            <a:ext cx="523875" cy="285750"/>
          </a:xfrm>
          <a:prstGeom prst="rect">
            <a:avLst/>
          </a:prstGeom>
          <a:noFill/>
          <a:ln>
            <a:noFill/>
          </a:ln>
        </p:spPr>
        <p:txBody>
          <a:bodyPr wrap="none" lIns="0" tIns="0" rIns="0" bIns="0" anchor="t" anchorCtr="0">
            <a:noAutofit/>
          </a:bodyPr>
          <a:lstStyle/>
          <a:p>
            <a:pPr algn="r"/>
            <a:r>
              <a:rPr lang="ja-JP" sz="1350" dirty="0">
                <a:solidFill>
                  <a:srgbClr val="5C6B6B"/>
                </a:solidFill>
                <a:latin typeface="Noto Sans CJK JP"/>
                <a:ea typeface="Noto Sans CJK JP"/>
                <a:cs typeface="Noto Sans CJK JP"/>
              </a:rPr>
              <a:t>29</a:t>
            </a:r>
          </a:p>
        </p:txBody>
      </p:sp>
      <p:sp>
        <p:nvSpPr>
          <p:cNvPr id="5" name="01">
            <a:extLst>
              <a:ext uri="{FF2B5EF4-FFF2-40B4-BE49-F238E27FC236}">
                <a16:creationId id="{08E69E73-769A-4783-8836-A8EE3E0F97E4}"/>
              </a:ext>
            </a:extLst>
          </p:cNvPr>
          <p:cNvSpPr>
            <a:spLocks noGrp="1"/>
          </p:cNvSpPr>
          <p:nvPr/>
        </p:nvSpPr>
        <p:spPr>
          <a:xfrm>
            <a:off x="609600" y="2114550"/>
            <a:ext cx="952500" cy="552450"/>
          </a:xfrm>
          <a:prstGeom prst="rect">
            <a:avLst/>
          </a:prstGeom>
          <a:noFill/>
          <a:ln w="0">
            <a:noFill/>
          </a:ln>
        </p:spPr>
        <p:txBody>
          <a:bodyPr wrap="square" lIns="0" tIns="0" rIns="0" bIns="0" anchor="t">
            <a:noAutofit/>
          </a:bodyPr>
          <a:lstStyle/>
          <a:p>
            <a:pPr algn="l">
              <a:lnSpc>
                <a:spcPct val="118000"/>
              </a:lnSpc>
              <a:buNone/>
              <a:defRPr sz="3300" b="1">
                <a:solidFill>
                  <a:srgbClr val="247C7A"/>
                </a:solidFill>
                <a:latin typeface="Noto Sans CJK JP"/>
                <a:ea typeface="Noto Sans CJK JP"/>
                <a:cs typeface="Noto Sans CJK JP"/>
              </a:defRPr>
            </a:pPr>
            <a:r>
              <a:rPr sz="3300" b="1">
                <a:solidFill>
                  <a:srgbClr val="247C7A"/>
                </a:solidFill>
                <a:latin typeface="Noto Sans CJK JP"/>
                <a:ea typeface="Noto Sans CJK JP"/>
                <a:cs typeface="Noto Sans CJK JP"/>
              </a:rPr>
              <a:t>01</a:t>
            </a:r>
          </a:p>
        </p:txBody>
      </p:sp>
      <p:sp>
        <p:nvSpPr>
          <p:cNvPr id="6" name="実行できる">
            <a:extLst>
              <a:ext uri="{FF2B5EF4-FFF2-40B4-BE49-F238E27FC236}">
                <a16:creationId id="{3F56C6D8-0044-42D5-8419-790667E955C2}"/>
              </a:ext>
            </a:extLst>
          </p:cNvPr>
          <p:cNvSpPr>
            <a:spLocks noGrp="1"/>
          </p:cNvSpPr>
          <p:nvPr/>
        </p:nvSpPr>
        <p:spPr>
          <a:xfrm>
            <a:off x="1762125" y="2114550"/>
            <a:ext cx="2171700" cy="409575"/>
          </a:xfrm>
          <a:prstGeom prst="rect">
            <a:avLst/>
          </a:prstGeom>
          <a:noFill/>
          <a:ln w="0">
            <a:noFill/>
          </a:ln>
        </p:spPr>
        <p:txBody>
          <a:bodyPr wrap="square" lIns="0" tIns="0" rIns="0" bIns="0" anchor="t">
            <a:noAutofit/>
          </a:bodyPr>
          <a:lstStyle/>
          <a:p>
            <a:pPr algn="l">
              <a:lnSpc>
                <a:spcPct val="118000"/>
              </a:lnSpc>
              <a:buNone/>
              <a:defRPr sz="2175" b="1">
                <a:solidFill>
                  <a:srgbClr val="17323B"/>
                </a:solidFill>
                <a:latin typeface="Noto Sans CJK JP"/>
                <a:ea typeface="Noto Sans CJK JP"/>
                <a:cs typeface="Noto Sans CJK JP"/>
              </a:defRPr>
            </a:pPr>
            <a:r>
              <a:rPr sz="2175" b="1">
                <a:solidFill>
                  <a:srgbClr val="17323B"/>
                </a:solidFill>
                <a:latin typeface="Noto Sans CJK JP"/>
                <a:ea typeface="Noto Sans CJK JP"/>
                <a:cs typeface="Noto Sans CJK JP"/>
              </a:rPr>
              <a:t>実行できる</a:t>
            </a:r>
          </a:p>
        </p:txBody>
      </p:sp>
      <p:sp>
        <p:nvSpPr>
          <p:cNvPr id="7" name="自分のNotebookで、コードと出力を確認できる。">
            <a:extLst>
              <a:ext uri="{FF2B5EF4-FFF2-40B4-BE49-F238E27FC236}">
                <a16:creationId id="{98962EA5-49CC-4D57-8966-8C4D85DA231E}"/>
              </a:ext>
            </a:extLst>
          </p:cNvPr>
          <p:cNvSpPr>
            <a:spLocks noGrp="1"/>
          </p:cNvSpPr>
          <p:nvPr/>
        </p:nvSpPr>
        <p:spPr>
          <a:xfrm>
            <a:off x="4210050" y="2133600"/>
            <a:ext cx="7343775" cy="6667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自分のNotebookで、コードと出力を確認できる。</a:t>
            </a:r>
          </a:p>
        </p:txBody>
      </p:sp>
      <p:sp>
        <p:nvSpPr>
          <p:cNvPr id="8" name="">
            <a:extLst>
              <a:ext uri="{FF2B5EF4-FFF2-40B4-BE49-F238E27FC236}">
                <a16:creationId id="{7B480565-D72F-4A44-AB77-36E526438F81}"/>
              </a:ext>
            </a:extLst>
          </p:cNvPr>
          <p:cNvSpPr>
            <a:spLocks noGrp="1"/>
          </p:cNvSpPr>
          <p:nvPr/>
        </p:nvSpPr>
        <p:spPr>
          <a:xfrm>
            <a:off x="1762125" y="2847975"/>
            <a:ext cx="9782175" cy="9525"/>
          </a:xfrm>
          <a:prstGeom prst="rect">
            <a:avLst/>
          </a:prstGeom>
          <a:solidFill>
            <a:srgbClr val="C8D4D0"/>
          </a:solidFill>
          <a:ln w="0">
            <a:noFill/>
          </a:ln>
        </p:spPr>
      </p:sp>
      <p:sp>
        <p:nvSpPr>
          <p:cNvPr id="9" name="02">
            <a:extLst>
              <a:ext uri="{FF2B5EF4-FFF2-40B4-BE49-F238E27FC236}">
                <a16:creationId id="{EFC52B23-D24D-45B5-9E6C-2D1E9A8FB183}"/>
              </a:ext>
            </a:extLst>
          </p:cNvPr>
          <p:cNvSpPr>
            <a:spLocks noGrp="1"/>
          </p:cNvSpPr>
          <p:nvPr/>
        </p:nvSpPr>
        <p:spPr>
          <a:xfrm>
            <a:off x="609600" y="3057525"/>
            <a:ext cx="952500" cy="552450"/>
          </a:xfrm>
          <a:prstGeom prst="rect">
            <a:avLst/>
          </a:prstGeom>
          <a:noFill/>
          <a:ln w="0">
            <a:noFill/>
          </a:ln>
        </p:spPr>
        <p:txBody>
          <a:bodyPr wrap="square" lIns="0" tIns="0" rIns="0" bIns="0" anchor="t">
            <a:noAutofit/>
          </a:bodyPr>
          <a:lstStyle/>
          <a:p>
            <a:pPr algn="l">
              <a:lnSpc>
                <a:spcPct val="118000"/>
              </a:lnSpc>
              <a:buNone/>
              <a:defRPr sz="3300" b="1">
                <a:solidFill>
                  <a:srgbClr val="247C7A"/>
                </a:solidFill>
                <a:latin typeface="Noto Sans CJK JP"/>
                <a:ea typeface="Noto Sans CJK JP"/>
                <a:cs typeface="Noto Sans CJK JP"/>
              </a:defRPr>
            </a:pPr>
            <a:r>
              <a:rPr sz="3300" b="1">
                <a:solidFill>
                  <a:srgbClr val="247C7A"/>
                </a:solidFill>
                <a:latin typeface="Noto Sans CJK JP"/>
                <a:ea typeface="Noto Sans CJK JP"/>
                <a:cs typeface="Noto Sans CJK JP"/>
              </a:rPr>
              <a:t>02</a:t>
            </a:r>
          </a:p>
        </p:txBody>
      </p:sp>
      <p:sp>
        <p:nvSpPr>
          <p:cNvPr id="10" name="変更できる">
            <a:extLst>
              <a:ext uri="{FF2B5EF4-FFF2-40B4-BE49-F238E27FC236}">
                <a16:creationId id="{FD6AFF6E-30AF-40E4-BC46-FB9AC59E62BD}"/>
              </a:ext>
            </a:extLst>
          </p:cNvPr>
          <p:cNvSpPr>
            <a:spLocks noGrp="1"/>
          </p:cNvSpPr>
          <p:nvPr/>
        </p:nvSpPr>
        <p:spPr>
          <a:xfrm>
            <a:off x="1762125" y="3057525"/>
            <a:ext cx="2171700" cy="409575"/>
          </a:xfrm>
          <a:prstGeom prst="rect">
            <a:avLst/>
          </a:prstGeom>
          <a:noFill/>
          <a:ln w="0">
            <a:noFill/>
          </a:ln>
        </p:spPr>
        <p:txBody>
          <a:bodyPr wrap="square" lIns="0" tIns="0" rIns="0" bIns="0" anchor="t">
            <a:noAutofit/>
          </a:bodyPr>
          <a:lstStyle/>
          <a:p>
            <a:pPr algn="l">
              <a:lnSpc>
                <a:spcPct val="118000"/>
              </a:lnSpc>
              <a:buNone/>
              <a:defRPr sz="2175" b="1">
                <a:solidFill>
                  <a:srgbClr val="17323B"/>
                </a:solidFill>
                <a:latin typeface="Noto Sans CJK JP"/>
                <a:ea typeface="Noto Sans CJK JP"/>
                <a:cs typeface="Noto Sans CJK JP"/>
              </a:defRPr>
            </a:pPr>
            <a:r>
              <a:rPr sz="2175" b="1">
                <a:solidFill>
                  <a:srgbClr val="17323B"/>
                </a:solidFill>
                <a:latin typeface="Noto Sans CJK JP"/>
                <a:ea typeface="Noto Sans CJK JP"/>
                <a:cs typeface="Noto Sans CJK JP"/>
              </a:rPr>
              <a:t>変更できる</a:t>
            </a:r>
          </a:p>
        </p:txBody>
      </p:sp>
      <p:sp>
        <p:nvSpPr>
          <p:cNvPr id="11" name="値や式を変え、結果の違いを確かめられる。">
            <a:extLst>
              <a:ext uri="{FF2B5EF4-FFF2-40B4-BE49-F238E27FC236}">
                <a16:creationId id="{7ECBC4C1-5432-436D-ABBC-4A59F4464D8F}"/>
              </a:ext>
            </a:extLst>
          </p:cNvPr>
          <p:cNvSpPr>
            <a:spLocks noGrp="1"/>
          </p:cNvSpPr>
          <p:nvPr/>
        </p:nvSpPr>
        <p:spPr>
          <a:xfrm>
            <a:off x="4210050" y="3076575"/>
            <a:ext cx="7343775" cy="6667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値や式を変え、結果の違いを確かめられる。</a:t>
            </a:r>
          </a:p>
        </p:txBody>
      </p:sp>
      <p:sp>
        <p:nvSpPr>
          <p:cNvPr id="12" name="">
            <a:extLst>
              <a:ext uri="{FF2B5EF4-FFF2-40B4-BE49-F238E27FC236}">
                <a16:creationId id="{E755348A-5917-4943-BFBE-49CCCB1972DF}"/>
              </a:ext>
            </a:extLst>
          </p:cNvPr>
          <p:cNvSpPr>
            <a:spLocks noGrp="1"/>
          </p:cNvSpPr>
          <p:nvPr/>
        </p:nvSpPr>
        <p:spPr>
          <a:xfrm>
            <a:off x="1762125" y="3790950"/>
            <a:ext cx="9782175" cy="9525"/>
          </a:xfrm>
          <a:prstGeom prst="rect">
            <a:avLst/>
          </a:prstGeom>
          <a:solidFill>
            <a:srgbClr val="C8D4D0"/>
          </a:solidFill>
          <a:ln w="0">
            <a:noFill/>
          </a:ln>
        </p:spPr>
      </p:sp>
      <p:sp>
        <p:nvSpPr>
          <p:cNvPr id="13" name="03">
            <a:extLst>
              <a:ext uri="{FF2B5EF4-FFF2-40B4-BE49-F238E27FC236}">
                <a16:creationId id="{B7857103-020E-47B5-A7F5-E63B2529473B}"/>
              </a:ext>
            </a:extLst>
          </p:cNvPr>
          <p:cNvSpPr>
            <a:spLocks noGrp="1"/>
          </p:cNvSpPr>
          <p:nvPr/>
        </p:nvSpPr>
        <p:spPr>
          <a:xfrm>
            <a:off x="609600" y="4000500"/>
            <a:ext cx="952500" cy="552450"/>
          </a:xfrm>
          <a:prstGeom prst="rect">
            <a:avLst/>
          </a:prstGeom>
          <a:noFill/>
          <a:ln w="0">
            <a:noFill/>
          </a:ln>
        </p:spPr>
        <p:txBody>
          <a:bodyPr wrap="square" lIns="0" tIns="0" rIns="0" bIns="0" anchor="t">
            <a:noAutofit/>
          </a:bodyPr>
          <a:lstStyle/>
          <a:p>
            <a:pPr algn="l">
              <a:lnSpc>
                <a:spcPct val="118000"/>
              </a:lnSpc>
              <a:buNone/>
              <a:defRPr sz="3300" b="1">
                <a:solidFill>
                  <a:srgbClr val="247C7A"/>
                </a:solidFill>
                <a:latin typeface="Noto Sans CJK JP"/>
                <a:ea typeface="Noto Sans CJK JP"/>
                <a:cs typeface="Noto Sans CJK JP"/>
              </a:defRPr>
            </a:pPr>
            <a:r>
              <a:rPr sz="3300" b="1">
                <a:solidFill>
                  <a:srgbClr val="247C7A"/>
                </a:solidFill>
                <a:latin typeface="Noto Sans CJK JP"/>
                <a:ea typeface="Noto Sans CJK JP"/>
                <a:cs typeface="Noto Sans CJK JP"/>
              </a:rPr>
              <a:t>03</a:t>
            </a:r>
          </a:p>
        </p:txBody>
      </p:sp>
      <p:sp>
        <p:nvSpPr>
          <p:cNvPr id="14" name="説明できる">
            <a:extLst>
              <a:ext uri="{FF2B5EF4-FFF2-40B4-BE49-F238E27FC236}">
                <a16:creationId id="{1554CD1B-7B19-4771-805C-1678C4D8DCCC}"/>
              </a:ext>
            </a:extLst>
          </p:cNvPr>
          <p:cNvSpPr>
            <a:spLocks noGrp="1"/>
          </p:cNvSpPr>
          <p:nvPr/>
        </p:nvSpPr>
        <p:spPr>
          <a:xfrm>
            <a:off x="1762125" y="4000500"/>
            <a:ext cx="2171700" cy="409575"/>
          </a:xfrm>
          <a:prstGeom prst="rect">
            <a:avLst/>
          </a:prstGeom>
          <a:noFill/>
          <a:ln w="0">
            <a:noFill/>
          </a:ln>
        </p:spPr>
        <p:txBody>
          <a:bodyPr wrap="square" lIns="0" tIns="0" rIns="0" bIns="0" anchor="t">
            <a:noAutofit/>
          </a:bodyPr>
          <a:lstStyle/>
          <a:p>
            <a:pPr algn="l">
              <a:lnSpc>
                <a:spcPct val="118000"/>
              </a:lnSpc>
              <a:buNone/>
              <a:defRPr sz="2175" b="1">
                <a:solidFill>
                  <a:srgbClr val="17323B"/>
                </a:solidFill>
                <a:latin typeface="Noto Sans CJK JP"/>
                <a:ea typeface="Noto Sans CJK JP"/>
                <a:cs typeface="Noto Sans CJK JP"/>
              </a:defRPr>
            </a:pPr>
            <a:r>
              <a:rPr sz="2175" b="1">
                <a:solidFill>
                  <a:srgbClr val="17323B"/>
                </a:solidFill>
                <a:latin typeface="Noto Sans CJK JP"/>
                <a:ea typeface="Noto Sans CJK JP"/>
                <a:cs typeface="Noto Sans CJK JP"/>
              </a:rPr>
              <a:t>説明できる</a:t>
            </a:r>
          </a:p>
        </p:txBody>
      </p:sp>
      <p:sp>
        <p:nvSpPr>
          <p:cNvPr id="15" name="自分が変えたところと、出力の意味を説明できる。">
            <a:extLst>
              <a:ext uri="{FF2B5EF4-FFF2-40B4-BE49-F238E27FC236}">
                <a16:creationId id="{3B08447C-940D-415D-AB6E-A9FF0141D6C6}"/>
              </a:ext>
            </a:extLst>
          </p:cNvPr>
          <p:cNvSpPr>
            <a:spLocks noGrp="1"/>
          </p:cNvSpPr>
          <p:nvPr/>
        </p:nvSpPr>
        <p:spPr>
          <a:xfrm>
            <a:off x="4210050" y="4019550"/>
            <a:ext cx="7343775" cy="666750"/>
          </a:xfrm>
          <a:prstGeom prst="rect">
            <a:avLst/>
          </a:prstGeom>
          <a:noFill/>
          <a:ln w="0">
            <a:noFill/>
          </a:ln>
        </p:spPr>
        <p:txBody>
          <a:bodyPr wrap="square" lIns="0" tIns="0" rIns="0" bIns="0" anchor="t">
            <a:noAutofit/>
          </a:bodyPr>
          <a:lstStyle/>
          <a:p>
            <a:pPr algn="l">
              <a:lnSpc>
                <a:spcPct val="118000"/>
              </a:lnSpc>
              <a:buNone/>
              <a:defRPr sz="1875" b="0">
                <a:solidFill>
                  <a:srgbClr val="17323B"/>
                </a:solidFill>
                <a:latin typeface="Noto Sans CJK JP"/>
                <a:ea typeface="Noto Sans CJK JP"/>
                <a:cs typeface="Noto Sans CJK JP"/>
              </a:defRPr>
            </a:pPr>
            <a:r>
              <a:rPr sz="1875" b="0">
                <a:solidFill>
                  <a:srgbClr val="17323B"/>
                </a:solidFill>
                <a:latin typeface="Noto Sans CJK JP"/>
                <a:ea typeface="Noto Sans CJK JP"/>
                <a:cs typeface="Noto Sans CJK JP"/>
              </a:rPr>
              <a:t>自分が変えたところと、出力の意味を説明できる。</a:t>
            </a:r>
          </a:p>
        </p:txBody>
      </p:sp>
      <p:sp>
        <p:nvSpPr>
          <p:cNvPr id="16" name="">
            <a:extLst>
              <a:ext uri="{FF2B5EF4-FFF2-40B4-BE49-F238E27FC236}">
                <a16:creationId id="{B90BC9FD-B9A4-4D4D-A5DE-18E71B349677}"/>
              </a:ext>
            </a:extLst>
          </p:cNvPr>
          <p:cNvSpPr>
            <a:spLocks noGrp="1"/>
          </p:cNvSpPr>
          <p:nvPr/>
        </p:nvSpPr>
        <p:spPr>
          <a:xfrm>
            <a:off x="609600" y="5229225"/>
            <a:ext cx="10972800" cy="904875"/>
          </a:xfrm>
          <a:prstGeom prst="rect">
            <a:avLst/>
          </a:prstGeom>
          <a:solidFill>
            <a:srgbClr val="E5EEEA"/>
          </a:solidFill>
          <a:ln w="0">
            <a:noFill/>
          </a:ln>
        </p:spPr>
      </p:sp>
      <p:sp>
        <p:nvSpPr>
          <p:cNvPr id="17" name="残すもの">
            <a:extLst>
              <a:ext uri="{FF2B5EF4-FFF2-40B4-BE49-F238E27FC236}">
                <a16:creationId id="{26339B4D-010E-4EF4-8B5E-705D7BFA2598}"/>
              </a:ext>
            </a:extLst>
          </p:cNvPr>
          <p:cNvSpPr>
            <a:spLocks noGrp="1"/>
          </p:cNvSpPr>
          <p:nvPr/>
        </p:nvSpPr>
        <p:spPr>
          <a:xfrm>
            <a:off x="800100" y="5372100"/>
            <a:ext cx="1828800" cy="381000"/>
          </a:xfrm>
          <a:prstGeom prst="rect">
            <a:avLst/>
          </a:prstGeom>
          <a:noFill/>
          <a:ln w="0">
            <a:noFill/>
          </a:ln>
        </p:spPr>
        <p:txBody>
          <a:bodyPr wrap="square" lIns="0" tIns="0" rIns="0" bIns="0" anchor="t">
            <a:noAutofit/>
          </a:bodyPr>
          <a:lstStyle/>
          <a:p>
            <a:pPr algn="l">
              <a:lnSpc>
                <a:spcPct val="118000"/>
              </a:lnSpc>
              <a:buNone/>
              <a:defRPr sz="1950" b="1">
                <a:solidFill>
                  <a:srgbClr val="247C7A"/>
                </a:solidFill>
                <a:latin typeface="Noto Sans CJK JP"/>
                <a:ea typeface="Noto Sans CJK JP"/>
                <a:cs typeface="Noto Sans CJK JP"/>
              </a:defRPr>
            </a:pPr>
            <a:r>
              <a:rPr sz="1950" b="1">
                <a:solidFill>
                  <a:srgbClr val="247C7A"/>
                </a:solidFill>
                <a:latin typeface="Noto Sans CJK JP"/>
                <a:ea typeface="Noto Sans CJK JP"/>
                <a:cs typeface="Noto Sans CJK JP"/>
              </a:rPr>
              <a:t>残すもの</a:t>
            </a:r>
          </a:p>
        </p:txBody>
      </p:sp>
      <p:sp>
        <p:nvSpPr>
          <p:cNvPr id="18" name="個人のNotebook ＋ 学習メモ">
            <a:extLst>
              <a:ext uri="{FF2B5EF4-FFF2-40B4-BE49-F238E27FC236}">
                <a16:creationId id="{71135415-711A-4D6A-ACE6-68A273759C7B}"/>
              </a:ext>
            </a:extLst>
          </p:cNvPr>
          <p:cNvSpPr>
            <a:spLocks noGrp="1"/>
          </p:cNvSpPr>
          <p:nvPr/>
        </p:nvSpPr>
        <p:spPr>
          <a:xfrm>
            <a:off x="2781300" y="5334000"/>
            <a:ext cx="8620125" cy="400050"/>
          </a:xfrm>
          <a:prstGeom prst="rect">
            <a:avLst/>
          </a:prstGeom>
          <a:noFill/>
          <a:ln w="0">
            <a:noFill/>
          </a:ln>
        </p:spPr>
        <p:txBody>
          <a:bodyPr wrap="square" lIns="0" tIns="0" rIns="0" bIns="0" anchor="t">
            <a:noAutofit/>
          </a:bodyPr>
          <a:lstStyle/>
          <a:p>
            <a:pPr algn="l">
              <a:lnSpc>
                <a:spcPct val="118000"/>
              </a:lnSpc>
              <a:buNone/>
              <a:defRPr sz="2100" b="1">
                <a:solidFill>
                  <a:srgbClr val="17323B"/>
                </a:solidFill>
                <a:latin typeface="Noto Sans CJK JP"/>
                <a:ea typeface="Noto Sans CJK JP"/>
                <a:cs typeface="Noto Sans CJK JP"/>
              </a:defRPr>
            </a:pPr>
            <a:r>
              <a:rPr sz="2100" b="1">
                <a:solidFill>
                  <a:srgbClr val="17323B"/>
                </a:solidFill>
                <a:latin typeface="Noto Sans CJK JP"/>
                <a:ea typeface="Noto Sans CJK JP"/>
                <a:cs typeface="Noto Sans CJK JP"/>
              </a:rPr>
              <a:t>個人のNotebook ＋ 学習メモ</a:t>
            </a:r>
          </a:p>
        </p:txBody>
      </p:sp>
      <p:sp>
        <p:nvSpPr>
          <p:cNvPr id="19" name="変更したこと／分かったこと／まだ分からないこと">
            <a:extLst>
              <a:ext uri="{FF2B5EF4-FFF2-40B4-BE49-F238E27FC236}">
                <a16:creationId id="{C2DBF9FB-96A9-49D5-9A9B-A888E18AAAE0}"/>
              </a:ext>
            </a:extLst>
          </p:cNvPr>
          <p:cNvSpPr>
            <a:spLocks noGrp="1"/>
          </p:cNvSpPr>
          <p:nvPr/>
        </p:nvSpPr>
        <p:spPr>
          <a:xfrm>
            <a:off x="2781300" y="5772150"/>
            <a:ext cx="8620125" cy="333375"/>
          </a:xfrm>
          <a:prstGeom prst="rect">
            <a:avLst/>
          </a:prstGeom>
          <a:noFill/>
          <a:ln w="0">
            <a:noFill/>
          </a:ln>
        </p:spPr>
        <p:txBody>
          <a:bodyPr wrap="square" lIns="0" tIns="0" rIns="0" bIns="0" anchor="t">
            <a:noAutofit/>
          </a:bodyPr>
          <a:lstStyle/>
          <a:p>
            <a:pPr algn="l">
              <a:lnSpc>
                <a:spcPct val="118000"/>
              </a:lnSpc>
              <a:buNone/>
              <a:defRPr sz="1725" b="0">
                <a:solidFill>
                  <a:srgbClr val="17323B"/>
                </a:solidFill>
                <a:latin typeface="Noto Sans CJK JP"/>
                <a:ea typeface="Noto Sans CJK JP"/>
                <a:cs typeface="Noto Sans CJK JP"/>
              </a:defRPr>
            </a:pPr>
            <a:r>
              <a:rPr sz="1725" b="0">
                <a:solidFill>
                  <a:srgbClr val="17323B"/>
                </a:solidFill>
                <a:latin typeface="Noto Sans CJK JP"/>
                <a:ea typeface="Noto Sans CJK JP"/>
                <a:cs typeface="Noto Sans CJK JP"/>
              </a:rPr>
              <a:t>変更したこと／分かったこと／まだ分からないこと</a:t>
            </a:r>
          </a:p>
        </p:txBody>
      </p:sp>
      <p:sp>
        <p:nvSpPr>
          <p:cNvPr id="20" name="次回：Pythonの基礎を広げ、データとグラフを扱う。">
            <a:extLst>
              <a:ext uri="{FF2B5EF4-FFF2-40B4-BE49-F238E27FC236}">
                <a16:creationId id="{00DA023C-8A14-4EBC-9BDD-E232A2F4D0B7}"/>
              </a:ext>
            </a:extLst>
          </p:cNvPr>
          <p:cNvSpPr>
            <a:spLocks noGrp="1"/>
          </p:cNvSpPr>
          <p:nvPr/>
        </p:nvSpPr>
        <p:spPr>
          <a:xfrm>
            <a:off x="609600" y="6343650"/>
            <a:ext cx="10096500" cy="333375"/>
          </a:xfrm>
          <a:prstGeom prst="rect">
            <a:avLst/>
          </a:prstGeom>
          <a:noFill/>
          <a:ln w="0">
            <a:noFill/>
          </a:ln>
        </p:spPr>
        <p:txBody>
          <a:bodyPr wrap="square" lIns="0" tIns="0" rIns="0" bIns="0" anchor="t">
            <a:noAutofit/>
          </a:bodyPr>
          <a:lstStyle/>
          <a:p>
            <a:pPr algn="l">
              <a:lnSpc>
                <a:spcPct val="118000"/>
              </a:lnSpc>
              <a:buNone/>
              <a:defRPr sz="1725" b="1">
                <a:solidFill>
                  <a:srgbClr val="247C7A"/>
                </a:solidFill>
                <a:latin typeface="Noto Sans CJK JP"/>
                <a:ea typeface="Noto Sans CJK JP"/>
                <a:cs typeface="Noto Sans CJK JP"/>
              </a:defRPr>
            </a:pPr>
            <a:r>
              <a:rPr sz="1725" b="1">
                <a:solidFill>
                  <a:srgbClr val="247C7A"/>
                </a:solidFill>
                <a:latin typeface="Noto Sans CJK JP"/>
                <a:ea typeface="Noto Sans CJK JP"/>
                <a:cs typeface="Noto Sans CJK JP"/>
              </a:rPr>
              <a:t>次回：Pythonの基礎を広げ、データとグラフを扱う。</a:t>
            </a:r>
          </a:p>
        </p:txBody>
      </p:sp>
    </p:spTree>
    <p:extLst>
      <p:ext uri="{BB962C8B-B14F-4D97-AF65-F5344CB8AC3E}">
        <p14:creationId val="11686729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29</ns0:Slides>
  <ns0:Notes>0</ns0:Notes>
  <ns0:HiddenSlides>0</ns0:HiddenSlides>
  <ns0:SharedDoc>false</ns0:SharedDoc>
  <ns0:DocSecurity>0</ns0:DocSecurity>
</ns0: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2026-09-23T08:19:29.2990000Z</dcterms:created>
  <dcterms:modified xsi:type="dcterms:W3CDTF">2026-09-23T08:19:29.2990000Z</dcterms:modified>
</coreProperties>
</file>