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docProps/core.xml" Id="Rf1f1d77954e042db"/><Relationship Type="http://schemas.openxmlformats.org/officeDocument/2006/relationships/extended-properties" Target="docProps/app.xml" Id="R495f25c5cacf42ea"/><Relationship Type="http://schemas.openxmlformats.org/officeDocument/2006/relationships/officeDocument" Target="ppt/presentation.xml" Id="R3b7ecff8b4284626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9c563066bd4cb3"/>
  </p:sldMasterIdLst>
  <p:notesMasterIdLst>
    <p:notesMasterId xmlns:r="http://schemas.openxmlformats.org/officeDocument/2006/relationships" r:id="R0723e5702851481a"/>
  </p:notesMasterIdLst>
  <p:sldIdLst>
    <p:sldId xmlns:r="http://schemas.openxmlformats.org/officeDocument/2006/relationships" id="256" r:id="R08eb5718a38c4c3c"/>
    <p:sldId xmlns:r="http://schemas.openxmlformats.org/officeDocument/2006/relationships" id="257" r:id="Rfda3a0cd10764280"/>
    <p:sldId xmlns:r="http://schemas.openxmlformats.org/officeDocument/2006/relationships" id="258" r:id="R5f1b982329dc40db"/>
    <p:sldId xmlns:r="http://schemas.openxmlformats.org/officeDocument/2006/relationships" id="259" r:id="R9afd589799434b73"/>
    <p:sldId xmlns:r="http://schemas.openxmlformats.org/officeDocument/2006/relationships" id="260" r:id="Rf9a9fa8a2c0548ce"/>
    <p:sldId xmlns:r="http://schemas.openxmlformats.org/officeDocument/2006/relationships" id="261" r:id="R7516642ceb464312"/>
    <p:sldId xmlns:r="http://schemas.openxmlformats.org/officeDocument/2006/relationships" id="262" r:id="R1ae2fc7333814ac6"/>
    <p:sldId xmlns:r="http://schemas.openxmlformats.org/officeDocument/2006/relationships" id="263" r:id="R112f300c11d14648"/>
    <p:sldId xmlns:r="http://schemas.openxmlformats.org/officeDocument/2006/relationships" id="264" r:id="Rbeb43930498a4e6f"/>
    <p:sldId xmlns:r="http://schemas.openxmlformats.org/officeDocument/2006/relationships" id="265" r:id="Rec172cc5a7dd4d00"/>
    <p:sldId xmlns:r="http://schemas.openxmlformats.org/officeDocument/2006/relationships" id="266" r:id="Ra2f0a122812e442e"/>
    <p:sldId xmlns:r="http://schemas.openxmlformats.org/officeDocument/2006/relationships" id="267" r:id="R553006c435b743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theme/theme1.xml" Id="Radd6ff44ca7740d1"/><Relationship Type="http://schemas.openxmlformats.org/officeDocument/2006/relationships/slideMaster" Target="slideMasters/slideMaster1.xml" Id="R649c563066bd4cb3"/><Relationship Type="http://schemas.openxmlformats.org/officeDocument/2006/relationships/notesMaster" Target="notesMasters/notesMaster1.xml" Id="R0723e5702851481a"/><Relationship Type="http://schemas.openxmlformats.org/officeDocument/2006/relationships/presProps" Target="presProps.xml" Id="R2412149e1b064903"/><Relationship Type="http://schemas.openxmlformats.org/officeDocument/2006/relationships/tableStyles" Target="tableStyles.xml" Id="Rfb8a3658c2e543a8"/><Relationship Type="http://schemas.openxmlformats.org/officeDocument/2006/relationships/slide" Target="slides/slide1.xml" Id="R08eb5718a38c4c3c"/><Relationship Type="http://schemas.openxmlformats.org/officeDocument/2006/relationships/slide" Target="slides/slide2.xml" Id="Rfda3a0cd10764280"/><Relationship Type="http://schemas.openxmlformats.org/officeDocument/2006/relationships/slide" Target="slides/slide3.xml" Id="R5f1b982329dc40db"/><Relationship Type="http://schemas.openxmlformats.org/officeDocument/2006/relationships/slide" Target="slides/slide4.xml" Id="R9afd589799434b73"/><Relationship Type="http://schemas.openxmlformats.org/officeDocument/2006/relationships/slide" Target="slides/slide5.xml" Id="Rf9a9fa8a2c0548ce"/><Relationship Type="http://schemas.openxmlformats.org/officeDocument/2006/relationships/slide" Target="slides/slide6.xml" Id="R7516642ceb464312"/><Relationship Type="http://schemas.openxmlformats.org/officeDocument/2006/relationships/slide" Target="slides/slide7.xml" Id="R1ae2fc7333814ac6"/><Relationship Type="http://schemas.openxmlformats.org/officeDocument/2006/relationships/slide" Target="slides/slide8.xml" Id="R112f300c11d14648"/><Relationship Type="http://schemas.openxmlformats.org/officeDocument/2006/relationships/slide" Target="slides/slide9.xml" Id="Rbeb43930498a4e6f"/><Relationship Type="http://schemas.openxmlformats.org/officeDocument/2006/relationships/slide" Target="slides/slide10.xml" Id="Rec172cc5a7dd4d00"/><Relationship Type="http://schemas.openxmlformats.org/officeDocument/2006/relationships/slide" Target="slides/slide11.xml" Id="Ra2f0a122812e442e"/><Relationship Type="http://schemas.openxmlformats.org/officeDocument/2006/relationships/slide" Target="slides/slide12.xml" Id="R553006c435b74369"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theme/theme3.xml" Id="R1a42d11bd1554fee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../slides/slide9.xml" Id="Radef5015532e4f87"/><Relationship Type="http://schemas.openxmlformats.org/officeDocument/2006/relationships/notesMaster" Target="../notesMasters/notesMaster1.xml" Id="Rb36940bf401f4d36"/>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第1回で試した速度と時間の計算を、今度はPythonファイルへ保存してTerminalから動かします。説明を読み、自分で命令を入力し、結果を予想と比べてください。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変数、条件分岐、関数、配列は第1回の復習です。今回はTerminalで実行するファイルと場所を指定し、入力を変えた結果を自分で検証します。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全体は180分です。Terminalを中心に進め、後半は既習の関数と配列を使って図とCSVを確認します。PPT発表はなく、命令と結果をNotebookへ残して説明します。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Colabのランタイムに接続してから下部のTerminalを開きます。Terminalにはシェルの命令を入力し、NotebookのPythonセルにはPythonコードを書きます。pythonだけを起動して現れる対話画面からはexit()で戻ります。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pwdで現在の場所を確認し、lsでファイル名を調べます。cdの移動は同じTerminalの次の命令にも引き継がれます。コピーと名前変更は教材の練習ファイルだけで試します。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Notebookの保存セルはPythonファイルを作りますが、計算はまだ実行しません。Terminalで中身を読み、保存した値と実行した結果を確かめます。編集した文字と保存済みのファイルを区別してください。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Notebookで保存したファイルをTerminalから実行します。追加する10は時間を秒で渡す引数です。通常のTerminalではNotebook用の感嘆符やセルマジックを付けません。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意図的にファイル名や引数を間違え、エラーを読んで原因を切り分けます。場所、ファイル、変数、入力のどこを直したのかを記録します。Notebookで定義した変数が別のPythonへ自動で渡るわけではありません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図表は同梱Notebookの実行結果、または引継ぎの確認項目です。数値はassets/slide_data.jsonから原生の編集可能図表として構築しました。元データ・条件はvalidation/02のCSVと実行Notebookを参照してください。表の成功は6秒完走し、最後1秒で角度2度未満、台車位置0.15m未満という教材上の定義です。失敗で打ち切られた系列は観測長が異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対応Notebook: B3_02.ipynb</a:t>
            </a:r>
          </a:p>
          <a:p xmlns:a="http://schemas.openxmlformats.org/drawingml/2006/main">
            <a:r>
              <a:t>教材作成日: 2026-09-23</a:t>
            </a:r>
          </a:p>
          <a:p xmlns:a="http://schemas.openxmlformats.org/drawingml/2006/main">
            <a:r>
              <a:t>validation/02/</a:t>
            </a:r>
          </a:p>
          <a:p xmlns:a="http://schemas.openxmlformats.org/drawingml/2006/main">
            <a:r>
              <a:t>assets/slide_data.json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通常のPythonスクリプトはpythonとファイル名で実行します。py_compileはバイトコードを作り、構文の問題を確認しますが、プログラムの計算自体は実行しません。成功しても入力値や計算結果の正しさは別に確認します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Terminalの命令と出力はNotebook本文へ記録します。Pythonファイルと出力ファイルも保存し、何を変更して何を確かめたかを説明してください。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今日の中心はファイルを探してプログラムを起動し、エラーを読んで修正することです。次回は同じ操作を使ってMuJoCoのシミュレーションを動かします。</a:t>
            </a:r>
          </a:p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../slideMasters/slideMaster1.xml" Id="Rac5e9ca1348f492a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theme/theme2.xml" Id="R93a59651541c4e32"/><Relationship Type="http://schemas.openxmlformats.org/officeDocument/2006/relationships/slideLayout" Target="../slideLayouts/slideLayout1.xml" Id="R7cd018f58f8345cf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d018f58f8345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985878d0869d4005" />  <Relationship Id="rId1" Type="http://schemas.openxmlformats.org/officeDocument/2006/relationships/notesSlide" Target="../notesSlides/notesSlide1.xml"/>
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09edd18fda304176" />  <Relationship Id="rId1" Type="http://schemas.openxmlformats.org/officeDocument/2006/relationships/notesSlide" Target="../notesSlides/notesSlide2.xml"/>
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fe2d9dd5c8554cf4" />  <Relationship Id="rId1" Type="http://schemas.openxmlformats.org/officeDocument/2006/relationships/notesSlide" Target="../notesSlides/notesSlide3.xml"/>
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6beebed7626c47fa" />  <Relationship Id="rId1" Type="http://schemas.openxmlformats.org/officeDocument/2006/relationships/notesSlide" Target="../notesSlides/notesSlide4.xml"/>
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cecafbd2b0854483" />  <Relationship Id="rId1" Type="http://schemas.openxmlformats.org/officeDocument/2006/relationships/notesSlide" Target="../notesSlides/notesSlide5.xml"/>
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af429e26a54649b4" />  <Relationship Id="rId1" Type="http://schemas.openxmlformats.org/officeDocument/2006/relationships/notesSlide" Target="../notesSlides/notesSlide6.xml"/>
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045880c3643d483b" />  <Relationship Id="rId1" Type="http://schemas.openxmlformats.org/officeDocument/2006/relationships/notesSlide" Target="../notesSlides/notesSlide7.xml"/>
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e4b069bd82c84df0" />  <Relationship Id="rId1" Type="http://schemas.openxmlformats.org/officeDocument/2006/relationships/notesSlide" Target="../notesSlides/notesSlide8.xml"/>
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a0bb48de38a34256"/><Relationship Type="http://schemas.openxmlformats.org/officeDocument/2006/relationships/chart" Target="charts/chart1.xml" Id="R1d3032a98b134536"/><Relationship Type="http://schemas.openxmlformats.org/officeDocument/2006/relationships/notesSlide" Target="../notesSlides/notesSlide9.xml" Id="R2ce38c95d5104e50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81f120d8ed484fee" />  <Relationship Id="rId1" Type="http://schemas.openxmlformats.org/officeDocument/2006/relationships/notesSlide" Target="../notesSlides/notesSlide10.xml"/>
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14e7ee2cc0054e24" />  <Relationship Id="rId1" Type="http://schemas.openxmlformats.org/officeDocument/2006/relationships/notesSlide" Target="../notesSlides/notesSlide11.xml"/>
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cf5ad9d754824fb3" />  <Relationship Id="rId1" Type="http://schemas.openxmlformats.org/officeDocument/2006/relationships/notesSlide" Target="../notesSlides/notesSlide12.xml"/>
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二つの合成時系列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7323B"/>
              </a:solidFill>
              <a:latin typeface="Noto Sans CJK JP"/>
              <a:ea typeface="Noto Sans CJK JP"/>
              <a:cs typeface="Noto Sans CJK JP"/>
            </a:defRPr>
          </a:pPr>
        </a:p>
      </c:txPr>
    </c:title>
    <c:plotArea>
      <c:scatterChart>
        <c:scatterStyle val="line"/>
        <c:ser>
          <c:idx val="0"/>
          <c:order val="0"/>
          <c:tx>
            <c:v>Synthetic A</c:v>
          </c:tx>
          <c:spPr>
            <a:ln xmlns:a="http://schemas.openxmlformats.org/drawingml/2006/main" w="20955">
              <a:solidFill>
                <a:srgbClr val="247C7A"/>
              </a:solidFill>
            </a:ln>
          </c:spPr>
          <c:marker>
            <c:symbol val="none"/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  <c:pt idx="61">
                  <c:v>3.05</c:v>
                </c:pt>
                <c:pt idx="62">
                  <c:v>3.1</c:v>
                </c:pt>
                <c:pt idx="63">
                  <c:v>3.15</c:v>
                </c:pt>
                <c:pt idx="64">
                  <c:v>3.2</c:v>
                </c:pt>
                <c:pt idx="65">
                  <c:v>3.25</c:v>
                </c:pt>
                <c:pt idx="66">
                  <c:v>3.3</c:v>
                </c:pt>
                <c:pt idx="67">
                  <c:v>3.35</c:v>
                </c:pt>
                <c:pt idx="68">
                  <c:v>3.4</c:v>
                </c:pt>
                <c:pt idx="69">
                  <c:v>3.45</c:v>
                </c:pt>
                <c:pt idx="70">
                  <c:v>3.5</c:v>
                </c:pt>
                <c:pt idx="71">
                  <c:v>3.55</c:v>
                </c:pt>
                <c:pt idx="72">
                  <c:v>3.6</c:v>
                </c:pt>
                <c:pt idx="73">
                  <c:v>3.65</c:v>
                </c:pt>
                <c:pt idx="74">
                  <c:v>3.7</c:v>
                </c:pt>
                <c:pt idx="75">
                  <c:v>3.75</c:v>
                </c:pt>
                <c:pt idx="76">
                  <c:v>3.8</c:v>
                </c:pt>
                <c:pt idx="77">
                  <c:v>3.85</c:v>
                </c:pt>
                <c:pt idx="78">
                  <c:v>3.9</c:v>
                </c:pt>
                <c:pt idx="79">
                  <c:v>3.95</c:v>
                </c:pt>
                <c:pt idx="80">
                  <c:v>4</c:v>
                </c:pt>
                <c:pt idx="81">
                  <c:v>4.05</c:v>
                </c:pt>
                <c:pt idx="82">
                  <c:v>4.1</c:v>
                </c:pt>
                <c:pt idx="83">
                  <c:v>4.15</c:v>
                </c:pt>
                <c:pt idx="84">
                  <c:v>4.2</c:v>
                </c:pt>
                <c:pt idx="85">
                  <c:v>4.25</c:v>
                </c:pt>
                <c:pt idx="86">
                  <c:v>4.3</c:v>
                </c:pt>
                <c:pt idx="87">
                  <c:v>4.35</c:v>
                </c:pt>
                <c:pt idx="88">
                  <c:v>4.4</c:v>
                </c:pt>
                <c:pt idx="89">
                  <c:v>4.45</c:v>
                </c:pt>
                <c:pt idx="90">
                  <c:v>4.5</c:v>
                </c:pt>
                <c:pt idx="91">
                  <c:v>4.55</c:v>
                </c:pt>
                <c:pt idx="92">
                  <c:v>4.6</c:v>
                </c:pt>
                <c:pt idx="93">
                  <c:v>4.65</c:v>
                </c:pt>
                <c:pt idx="94">
                  <c:v>4.7</c:v>
                </c:pt>
                <c:pt idx="95">
                  <c:v>4.75</c:v>
                </c:pt>
                <c:pt idx="96">
                  <c:v>4.8</c:v>
                </c:pt>
                <c:pt idx="97">
                  <c:v>4.85</c:v>
                </c:pt>
                <c:pt idx="98">
                  <c:v>4.9</c:v>
                </c:pt>
                <c:pt idx="99">
                  <c:v>4.95</c:v>
                </c:pt>
                <c:pt idx="100">
                  <c:v>5</c:v>
                </c:pt>
                <c:pt idx="101">
                  <c:v>5.05</c:v>
                </c:pt>
                <c:pt idx="102">
                  <c:v>5.1</c:v>
                </c:pt>
                <c:pt idx="103">
                  <c:v>5.15</c:v>
                </c:pt>
                <c:pt idx="104">
                  <c:v>5.2</c:v>
                </c:pt>
                <c:pt idx="105">
                  <c:v>5.25</c:v>
                </c:pt>
                <c:pt idx="106">
                  <c:v>5.3</c:v>
                </c:pt>
                <c:pt idx="107">
                  <c:v>5.35</c:v>
                </c:pt>
                <c:pt idx="108">
                  <c:v>5.4</c:v>
                </c:pt>
                <c:pt idx="109">
                  <c:v>5.45</c:v>
                </c:pt>
                <c:pt idx="110">
                  <c:v>5.5</c:v>
                </c:pt>
                <c:pt idx="111">
                  <c:v>5.55</c:v>
                </c:pt>
                <c:pt idx="112">
                  <c:v>5.6</c:v>
                </c:pt>
                <c:pt idx="113">
                  <c:v>5.65</c:v>
                </c:pt>
                <c:pt idx="114">
                  <c:v>5.7</c:v>
                </c:pt>
                <c:pt idx="115">
                  <c:v>5.75</c:v>
                </c:pt>
                <c:pt idx="116">
                  <c:v>5.8</c:v>
                </c:pt>
                <c:pt idx="117">
                  <c:v>5.85</c:v>
                </c:pt>
                <c:pt idx="118">
                  <c:v>5.9</c:v>
                </c:pt>
                <c:pt idx="119">
                  <c:v>5.95</c:v>
                </c:pt>
                <c:pt idx="120">
                  <c:v>6</c:v>
                </c:pt>
              </c:numCache>
            </c:numRef>
          </c:xVal>
          <c:yVal>
            <c:numRef>
              <c:f>'Chart Data'!$B$2:$B$122</c:f>
              <c:numCache>
                <c:formatCode>General</c:formatCode>
                <c:ptCount val="121"/>
                <c:pt idx="0">
                  <c:v>8</c:v>
                </c:pt>
                <c:pt idx="1">
                  <c:v>7.772944882</c:v>
                </c:pt>
                <c:pt idx="2">
                  <c:v>7.379824706</c:v>
                </c:pt>
                <c:pt idx="3">
                  <c:v>6.835144992</c:v>
                </c:pt>
                <c:pt idx="4">
                  <c:v>6.156302614</c:v>
                </c:pt>
                <c:pt idx="5">
                  <c:v>5.363097199</c:v>
                </c:pt>
                <c:pt idx="6">
                  <c:v>4.477205583</c:v>
                </c:pt>
                <c:pt idx="7">
                  <c:v>3.521632354</c:v>
                </c:pt>
                <c:pt idx="8">
                  <c:v>2.520149584</c:v>
                </c:pt>
                <c:pt idx="9">
                  <c:v>1.496738678</c:v>
                </c:pt>
                <c:pt idx="10">
                  <c:v>0.4750467246</c:v>
                </c:pt>
                <c:pt idx="11">
                  <c:v>-0.522130973</c:v>
                </c:pt>
                <c:pt idx="12">
                  <c:v>-1.473331509</c:v>
                </c:pt>
                <c:pt idx="13">
                  <c:v>-2.358858657</c:v>
                </c:pt>
                <c:pt idx="14">
                  <c:v>-3.161162697</c:v>
                </c:pt>
                <c:pt idx="15">
                  <c:v>-3.865159157</c:v>
                </c:pt>
                <c:pt idx="16">
                  <c:v>-4.45848145</c:v>
                </c:pt>
                <c:pt idx="17">
                  <c:v>-4.931664026</c:v>
                </c:pt>
                <c:pt idx="18">
                  <c:v>-5.278254326</c:v>
                </c:pt>
                <c:pt idx="19">
                  <c:v>-5.494853494</c:v>
                </c:pt>
                <c:pt idx="20">
                  <c:v>-5.58108737</c:v>
                </c:pt>
                <c:pt idx="21">
                  <c:v>-5.539510833</c:v>
                </c:pt>
                <c:pt idx="22">
                  <c:v>-5.375449901</c:v>
                </c:pt>
                <c:pt idx="23">
                  <c:v>-5.096787287</c:v>
                </c:pt>
                <c:pt idx="24">
                  <c:v>-4.713698125</c:v>
                </c:pt>
                <c:pt idx="25">
                  <c:v>-4.238343519</c:v>
                </c:pt>
                <c:pt idx="26">
                  <c:v>-3.684530202</c:v>
                </c:pt>
                <c:pt idx="27">
                  <c:v>-3.067345086</c:v>
                </c:pt>
                <c:pt idx="28">
                  <c:v>-2.402773754</c:v>
                </c:pt>
                <c:pt idx="29">
                  <c:v>-1.707311959</c:v>
                </c:pt>
                <c:pt idx="30">
                  <c:v>-0.9975790875</c:v>
                </c:pt>
                <c:pt idx="31">
                  <c:v>-0.2899421412</c:v>
                </c:pt>
                <c:pt idx="32">
                  <c:v>0.3998416993</c:v>
                </c:pt>
                <c:pt idx="33">
                  <c:v>1.056956575</c:v>
                </c:pt>
                <c:pt idx="34">
                  <c:v>1.667826989</c:v>
                </c:pt>
                <c:pt idx="35">
                  <c:v>2.220378821</c:v>
                </c:pt>
                <c:pt idx="36">
                  <c:v>2.704257775</c:v>
                </c:pt>
                <c:pt idx="37">
                  <c:v>3.111001842</c:v>
                </c:pt>
                <c:pt idx="38">
                  <c:v>3.434165508</c:v>
                </c:pt>
                <c:pt idx="39">
                  <c:v>3.669394573</c:v>
                </c:pt>
                <c:pt idx="40">
                  <c:v>3.814451628</c:v>
                </c:pt>
                <c:pt idx="41">
                  <c:v>3.869193291</c:v>
                </c:pt>
                <c:pt idx="42">
                  <c:v>3.835501395</c:v>
                </c:pt>
                <c:pt idx="43">
                  <c:v>3.717171237</c:v>
                </c:pt>
                <c:pt idx="44">
                  <c:v>3.519760864</c:v>
                </c:pt>
                <c:pt idx="45">
                  <c:v>3.25040612</c:v>
                </c:pt>
                <c:pt idx="46">
                  <c:v>2.917606749</c:v>
                </c:pt>
                <c:pt idx="47">
                  <c:v>2.530989358</c:v>
                </c:pt>
                <c:pt idx="48">
                  <c:v>2.101053315</c:v>
                </c:pt>
                <c:pt idx="49">
                  <c:v>1.638905871</c:v>
                </c:pt>
                <c:pt idx="50">
                  <c:v>1.155992789</c:v>
                </c:pt>
                <c:pt idx="51">
                  <c:v>0.6638306735</c:v>
                </c:pt>
                <c:pt idx="52">
                  <c:v>0.1737469104</c:v>
                </c:pt>
                <c:pt idx="53">
                  <c:v>-0.3033672044</c:v>
                </c:pt>
                <c:pt idx="54">
                  <c:v>-0.7572850974</c:v>
                </c:pt>
                <c:pt idx="55">
                  <c:v>-1.178650815</c:v>
                </c:pt>
                <c:pt idx="56">
                  <c:v>-1.559158363</c:v>
                </c:pt>
                <c:pt idx="57">
                  <c:v>-1.891701394</c:v>
                </c:pt>
                <c:pt idx="58">
                  <c:v>-2.170490908</c:v>
                </c:pt>
                <c:pt idx="59">
                  <c:v>-2.391139436</c:v>
                </c:pt>
                <c:pt idx="60">
                  <c:v>-2.550710984</c:v>
                </c:pt>
                <c:pt idx="61">
                  <c:v>-2.647736782</c:v>
                </c:pt>
                <c:pt idx="62">
                  <c:v>-2.682197676</c:v>
                </c:pt>
                <c:pt idx="63">
                  <c:v>-2.655474697</c:v>
                </c:pt>
                <c:pt idx="64">
                  <c:v>-2.570270011</c:v>
                </c:pt>
                <c:pt idx="65">
                  <c:v>-2.430501032</c:v>
                </c:pt>
                <c:pt idx="66">
                  <c:v>-2.241170995</c:v>
                </c:pt>
                <c:pt idx="67">
                  <c:v>-2.008219694</c:v>
                </c:pt>
                <c:pt idx="68">
                  <c:v>-1.738358396</c:v>
                </c:pt>
                <c:pt idx="69">
                  <c:v>-1.438893187</c:v>
                </c:pt>
                <c:pt idx="70">
                  <c:v>-1.117541075</c:v>
                </c:pt>
                <c:pt idx="71">
                  <c:v>-0.7822432406</c:v>
                </c:pt>
                <c:pt idx="72">
                  <c:v>-0.4409796835</c:v>
                </c:pt>
                <c:pt idx="73">
                  <c:v>-0.1015893835</c:v>
                </c:pt>
                <c:pt idx="74">
                  <c:v>0.2284002012</c:v>
                </c:pt>
                <c:pt idx="75">
                  <c:v>0.5419308026</c:v>
                </c:pt>
                <c:pt idx="76">
                  <c:v>0.8325550934</c:v>
                </c:pt>
                <c:pt idx="77">
                  <c:v>1.094559895</c:v>
                </c:pt>
                <c:pt idx="78">
                  <c:v>1.323068726</c:v>
                </c:pt>
                <c:pt idx="79">
                  <c:v>1.514122107</c:v>
                </c:pt>
                <c:pt idx="80">
                  <c:v>1.664734594</c:v>
                </c:pt>
                <c:pt idx="81">
                  <c:v>1.772928053</c:v>
                </c:pt>
                <c:pt idx="82">
                  <c:v>1.837741268</c:v>
                </c:pt>
                <c:pt idx="83">
                  <c:v>1.859216466</c:v>
                </c:pt>
                <c:pt idx="84">
                  <c:v>1.838363856</c:v>
                </c:pt>
                <c:pt idx="85">
                  <c:v>1.777105742</c:v>
                </c:pt>
                <c:pt idx="86">
                  <c:v>1.67820215</c:v>
                </c:pt>
                <c:pt idx="87">
                  <c:v>1.545160273</c:v>
                </c:pt>
                <c:pt idx="88">
                  <c:v>1.382130324</c:v>
                </c:pt>
                <c:pt idx="89">
                  <c:v>1.193790578</c:v>
                </c:pt>
                <c:pt idx="90">
                  <c:v>0.9852245644</c:v>
                </c:pt>
                <c:pt idx="91">
                  <c:v>0.761793411</c:v>
                </c:pt>
                <c:pt idx="92">
                  <c:v>0.5290063732</c:v>
                </c:pt>
                <c:pt idx="93">
                  <c:v>0.2923925017</c:v>
                </c:pt>
                <c:pt idx="94">
                  <c:v>0.05737628062</c:v>
                </c:pt>
                <c:pt idx="95">
                  <c:v>-0.1708401166</c:v>
                </c:pt>
                <c:pt idx="96">
                  <c:v>-0.3873855498</c:v>
                </c:pt>
                <c:pt idx="97">
                  <c:v>-0.5878174898</c:v>
                </c:pt>
                <c:pt idx="98">
                  <c:v>-0.7682066522</c:v>
                </c:pt>
                <c:pt idx="99">
                  <c:v>-0.9252072395</c:v>
                </c:pt>
                <c:pt idx="100">
                  <c:v>-1.056111715</c:v>
                </c:pt>
                <c:pt idx="101">
                  <c:v>-1.158889416</c:v>
                </c:pt>
                <c:pt idx="102">
                  <c:v>-1.232208697</c:v>
                </c:pt>
                <c:pt idx="103">
                  <c:v>-1.275442674</c:v>
                </c:pt>
                <c:pt idx="104">
                  <c:v>-1.28865901</c:v>
                </c:pt>
                <c:pt idx="105">
                  <c:v>-1.27259451</c:v>
                </c:pt>
                <c:pt idx="106">
                  <c:v>-1.228615626</c:v>
                </c:pt>
                <c:pt idx="107">
                  <c:v>-1.158666234</c:v>
                </c:pt>
                <c:pt idx="108">
                  <c:v>-1.065204291</c:v>
                </c:pt>
                <c:pt idx="109">
                  <c:v>-0.9511291691</c:v>
                </c:pt>
                <c:pt idx="110">
                  <c:v>-0.819701619</c:v>
                </c:pt>
                <c:pt idx="111">
                  <c:v>-0.6744583989</c:v>
                </c:pt>
                <c:pt idx="112">
                  <c:v>-0.519123667</c:v>
                </c:pt>
                <c:pt idx="113">
                  <c:v>-0.3575192297</c:v>
                </c:pt>
                <c:pt idx="114">
                  <c:v>-0.1934756921</c:v>
                </c:pt>
                <c:pt idx="115">
                  <c:v>-0.03074646804</c:v>
                </c:pt>
                <c:pt idx="116">
                  <c:v>0.1270735258</c:v>
                </c:pt>
                <c:pt idx="117">
                  <c:v>0.2766228341</c:v>
                </c:pt>
                <c:pt idx="118">
                  <c:v>0.4148406259</c:v>
                </c:pt>
                <c:pt idx="119">
                  <c:v>0.5390248231</c:v>
                </c:pt>
                <c:pt idx="120">
                  <c:v>0.6468802049</c:v>
                </c:pt>
              </c:numCache>
            </c:numRef>
          </c:yVal>
        </c:ser>
        <c:ser>
          <c:idx val="1"/>
          <c:order val="1"/>
          <c:tx>
            <c:v>Synthetic B</c:v>
          </c:tx>
          <c:spPr>
            <a:ln xmlns:a="http://schemas.openxmlformats.org/drawingml/2006/main" w="20955">
              <a:solidFill>
                <a:srgbClr val="C9633D"/>
              </a:solidFill>
            </a:ln>
          </c:spPr>
          <c:marker>
            <c:symbol val="none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  <c:pt idx="61">
                  <c:v>3.05</c:v>
                </c:pt>
                <c:pt idx="62">
                  <c:v>3.1</c:v>
                </c:pt>
                <c:pt idx="63">
                  <c:v>3.15</c:v>
                </c:pt>
                <c:pt idx="64">
                  <c:v>3.2</c:v>
                </c:pt>
                <c:pt idx="65">
                  <c:v>3.25</c:v>
                </c:pt>
                <c:pt idx="66">
                  <c:v>3.3</c:v>
                </c:pt>
                <c:pt idx="67">
                  <c:v>3.35</c:v>
                </c:pt>
                <c:pt idx="68">
                  <c:v>3.4</c:v>
                </c:pt>
                <c:pt idx="69">
                  <c:v>3.45</c:v>
                </c:pt>
                <c:pt idx="70">
                  <c:v>3.5</c:v>
                </c:pt>
                <c:pt idx="71">
                  <c:v>3.55</c:v>
                </c:pt>
                <c:pt idx="72">
                  <c:v>3.6</c:v>
                </c:pt>
                <c:pt idx="73">
                  <c:v>3.65</c:v>
                </c:pt>
                <c:pt idx="74">
                  <c:v>3.7</c:v>
                </c:pt>
                <c:pt idx="75">
                  <c:v>3.75</c:v>
                </c:pt>
                <c:pt idx="76">
                  <c:v>3.8</c:v>
                </c:pt>
                <c:pt idx="77">
                  <c:v>3.85</c:v>
                </c:pt>
                <c:pt idx="78">
                  <c:v>3.9</c:v>
                </c:pt>
                <c:pt idx="79">
                  <c:v>3.95</c:v>
                </c:pt>
                <c:pt idx="80">
                  <c:v>4</c:v>
                </c:pt>
                <c:pt idx="81">
                  <c:v>4.05</c:v>
                </c:pt>
                <c:pt idx="82">
                  <c:v>4.1</c:v>
                </c:pt>
                <c:pt idx="83">
                  <c:v>4.15</c:v>
                </c:pt>
                <c:pt idx="84">
                  <c:v>4.2</c:v>
                </c:pt>
                <c:pt idx="85">
                  <c:v>4.25</c:v>
                </c:pt>
                <c:pt idx="86">
                  <c:v>4.3</c:v>
                </c:pt>
                <c:pt idx="87">
                  <c:v>4.35</c:v>
                </c:pt>
                <c:pt idx="88">
                  <c:v>4.4</c:v>
                </c:pt>
                <c:pt idx="89">
                  <c:v>4.45</c:v>
                </c:pt>
                <c:pt idx="90">
                  <c:v>4.5</c:v>
                </c:pt>
                <c:pt idx="91">
                  <c:v>4.55</c:v>
                </c:pt>
                <c:pt idx="92">
                  <c:v>4.6</c:v>
                </c:pt>
                <c:pt idx="93">
                  <c:v>4.65</c:v>
                </c:pt>
                <c:pt idx="94">
                  <c:v>4.7</c:v>
                </c:pt>
                <c:pt idx="95">
                  <c:v>4.75</c:v>
                </c:pt>
                <c:pt idx="96">
                  <c:v>4.8</c:v>
                </c:pt>
                <c:pt idx="97">
                  <c:v>4.85</c:v>
                </c:pt>
                <c:pt idx="98">
                  <c:v>4.9</c:v>
                </c:pt>
                <c:pt idx="99">
                  <c:v>4.95</c:v>
                </c:pt>
                <c:pt idx="100">
                  <c:v>5</c:v>
                </c:pt>
                <c:pt idx="101">
                  <c:v>5.05</c:v>
                </c:pt>
                <c:pt idx="102">
                  <c:v>5.1</c:v>
                </c:pt>
                <c:pt idx="103">
                  <c:v>5.15</c:v>
                </c:pt>
                <c:pt idx="104">
                  <c:v>5.2</c:v>
                </c:pt>
                <c:pt idx="105">
                  <c:v>5.25</c:v>
                </c:pt>
                <c:pt idx="106">
                  <c:v>5.3</c:v>
                </c:pt>
                <c:pt idx="107">
                  <c:v>5.35</c:v>
                </c:pt>
                <c:pt idx="108">
                  <c:v>5.4</c:v>
                </c:pt>
                <c:pt idx="109">
                  <c:v>5.45</c:v>
                </c:pt>
                <c:pt idx="110">
                  <c:v>5.5</c:v>
                </c:pt>
                <c:pt idx="111">
                  <c:v>5.55</c:v>
                </c:pt>
                <c:pt idx="112">
                  <c:v>5.6</c:v>
                </c:pt>
                <c:pt idx="113">
                  <c:v>5.65</c:v>
                </c:pt>
                <c:pt idx="114">
                  <c:v>5.7</c:v>
                </c:pt>
                <c:pt idx="115">
                  <c:v>5.75</c:v>
                </c:pt>
                <c:pt idx="116">
                  <c:v>5.8</c:v>
                </c:pt>
                <c:pt idx="117">
                  <c:v>5.85</c:v>
                </c:pt>
                <c:pt idx="118">
                  <c:v>5.9</c:v>
                </c:pt>
                <c:pt idx="119">
                  <c:v>5.95</c:v>
                </c:pt>
                <c:pt idx="120">
                  <c:v>6</c:v>
                </c:pt>
              </c:numCache>
            </c:numRef>
          </c:xVal>
          <c:yVal>
            <c:numRef>
              <c:f>'Chart Data'!$D$2:$D$122</c:f>
              <c:numCache>
                <c:formatCode>General</c:formatCode>
                <c:ptCount val="121"/>
                <c:pt idx="0">
                  <c:v>8</c:v>
                </c:pt>
                <c:pt idx="1">
                  <c:v>7.638101666</c:v>
                </c:pt>
                <c:pt idx="2">
                  <c:v>7.125998707</c:v>
                </c:pt>
                <c:pt idx="3">
                  <c:v>6.48555686</c:v>
                </c:pt>
                <c:pt idx="4">
                  <c:v>5.74009851</c:v>
                </c:pt>
                <c:pt idx="5">
                  <c:v>4.913770864</c:v>
                </c:pt>
                <c:pt idx="6">
                  <c:v>4.030937979</c:v>
                </c:pt>
                <c:pt idx="7">
                  <c:v>3.115608938</c:v>
                </c:pt>
                <c:pt idx="8">
                  <c:v>2.190912795</c:v>
                </c:pt>
                <c:pt idx="9">
                  <c:v>1.278629149</c:v>
                </c:pt>
                <c:pt idx="10">
                  <c:v>0.3987813081</c:v>
                </c:pt>
                <c:pt idx="11">
                  <c:v>-0.430702873</c:v>
                </c:pt>
                <c:pt idx="12">
                  <c:v>-1.19425931</c:v>
                </c:pt>
                <c:pt idx="13">
                  <c:v>-1.87888381</c:v>
                </c:pt>
                <c:pt idx="14">
                  <c:v>-2.474256389</c:v>
                </c:pt>
                <c:pt idx="15">
                  <c:v>-2.97279581</c:v>
                </c:pt>
                <c:pt idx="16">
                  <c:v>-3.369647792</c:v>
                </c:pt>
                <c:pt idx="17">
                  <c:v>-3.662611662</c:v>
                </c:pt>
                <c:pt idx="18">
                  <c:v>-3.852011283</c:v>
                </c:pt>
                <c:pt idx="19">
                  <c:v>-3.940516972</c:v>
                </c:pt>
                <c:pt idx="20">
                  <c:v>-3.932925797</c:v>
                </c:pt>
                <c:pt idx="21">
                  <c:v>-3.8359081</c:v>
                </c:pt>
                <c:pt idx="22">
                  <c:v>-3.657728305</c:v>
                </c:pt>
                <c:pt idx="23">
                  <c:v>-3.40794816</c:v>
                </c:pt>
                <c:pt idx="24">
                  <c:v>-3.097120362</c:v>
                </c:pt>
                <c:pt idx="25">
                  <c:v>-2.736480248</c:v>
                </c:pt>
                <c:pt idx="26">
                  <c:v>-2.3376427</c:v>
                </c:pt>
                <c:pt idx="27">
                  <c:v>-1.912310878</c:v>
                </c:pt>
                <c:pt idx="28">
                  <c:v>-1.472002621</c:v>
                </c:pt>
                <c:pt idx="29">
                  <c:v>-1.027799573</c:v>
                </c:pt>
                <c:pt idx="30">
                  <c:v>-0.5901232606</c:v>
                </c:pt>
                <c:pt idx="31">
                  <c:v>-0.1685413955</c:v>
                </c:pt>
                <c:pt idx="32">
                  <c:v>0.2283932028</c:v>
                </c:pt>
                <c:pt idx="33">
                  <c:v>0.5932695812</c:v>
                </c:pt>
                <c:pt idx="34">
                  <c:v>0.9199109334</c:v>
                </c:pt>
                <c:pt idx="35">
                  <c:v>1.203432417</c:v>
                </c:pt>
                <c:pt idx="36">
                  <c:v>1.440265519</c:v>
                </c:pt>
                <c:pt idx="37">
                  <c:v>1.628150666</c:v>
                </c:pt>
                <c:pt idx="38">
                  <c:v>1.76610041</c:v>
                </c:pt>
                <c:pt idx="39">
                  <c:v>1.854336003</c:v>
                </c:pt>
                <c:pt idx="40">
                  <c:v>1.89420062</c:v>
                </c:pt>
                <c:pt idx="41">
                  <c:v>1.8880528</c:v>
                </c:pt>
                <c:pt idx="42">
                  <c:v>1.839143857</c:v>
                </c:pt>
                <c:pt idx="43">
                  <c:v>1.751483177</c:v>
                </c:pt>
                <c:pt idx="44">
                  <c:v>1.629695277</c:v>
                </c:pt>
                <c:pt idx="45">
                  <c:v>1.478872464</c:v>
                </c:pt>
                <c:pt idx="46">
                  <c:v>1.304426752</c:v>
                </c:pt>
                <c:pt idx="47">
                  <c:v>1.111944492</c:v>
                </c:pt>
                <c:pt idx="48">
                  <c:v>0.9070468265</c:v>
                </c:pt>
                <c:pt idx="49">
                  <c:v>0.6952587972</c:v>
                </c:pt>
                <c:pt idx="50">
                  <c:v>0.481889489</c:v>
                </c:pt>
                <c:pt idx="51">
                  <c:v>0.2719252214</c:v>
                </c:pt>
                <c:pt idx="52">
                  <c:v>0.06993734027</c:v>
                </c:pt>
                <c:pt idx="53">
                  <c:v>-0.1199942671</c:v>
                </c:pt>
                <c:pt idx="54">
                  <c:v>-0.2943412467</c:v>
                </c:pt>
                <c:pt idx="55">
                  <c:v>-0.4501701787</c:v>
                </c:pt>
                <c:pt idx="56">
                  <c:v>-0.5851694386</c:v>
                </c:pt>
                <c:pt idx="57">
                  <c:v>-0.6976600235</c:v>
                </c:pt>
                <c:pt idx="58">
                  <c:v>-0.7865911788</c:v>
                </c:pt>
                <c:pt idx="59">
                  <c:v>-0.8515219542</c:v>
                </c:pt>
                <c:pt idx="60">
                  <c:v>-0.8925900603</c:v>
                </c:pt>
                <c:pt idx="61">
                  <c:v>-0.9104695992</c:v>
                </c:pt>
                <c:pt idx="62">
                  <c:v>-0.9063193848</c:v>
                </c:pt>
                <c:pt idx="63">
                  <c:v>-0.8817236733</c:v>
                </c:pt>
                <c:pt idx="64">
                  <c:v>-0.8386271713</c:v>
                </c:pt>
                <c:pt idx="65">
                  <c:v>-0.7792661948</c:v>
                </c:pt>
                <c:pt idx="66">
                  <c:v>-0.7060978135</c:v>
                </c:pt>
                <c:pt idx="67">
                  <c:v>-0.6217287374</c:v>
                </c:pt>
                <c:pt idx="68">
                  <c:v>-0.5288455887</c:v>
                </c:pt>
                <c:pt idx="69">
                  <c:v>-0.4301480607</c:v>
                </c:pt>
                <c:pt idx="70">
                  <c:v>-0.3282862962</c:v>
                </c:pt>
                <c:pt idx="71">
                  <c:v>-0.2258036331</c:v>
                </c:pt>
                <c:pt idx="72">
                  <c:v>-0.1250856628</c:v>
                </c:pt>
                <c:pt idx="73">
                  <c:v>-0.02831634038</c:v>
                </c:pt>
                <c:pt idx="74">
                  <c:v>0.06255832731</c:v>
                </c:pt>
                <c:pt idx="75">
                  <c:v>0.1458586968</c:v>
                </c:pt>
                <c:pt idx="76">
                  <c:v>0.220191891</c:v>
                </c:pt>
                <c:pt idx="77">
                  <c:v>0.2844642649</c:v>
                </c:pt>
                <c:pt idx="78">
                  <c:v>0.3378861856</c:v>
                </c:pt>
                <c:pt idx="79">
                  <c:v>0.3799695367</c:v>
                </c:pt>
                <c:pt idx="80">
                  <c:v>0.4105184966</c:v>
                </c:pt>
                <c:pt idx="81">
                  <c:v>0.4296142555</c:v>
                </c:pt>
                <c:pt idx="82">
                  <c:v>0.437594431</c:v>
                </c:pt>
                <c:pt idx="83">
                  <c:v>0.4350280113</c:v>
                </c:pt>
                <c:pt idx="84">
                  <c:v>0.4226867015</c:v>
                </c:pt>
                <c:pt idx="85">
                  <c:v>0.4015135705</c:v>
                </c:pt>
                <c:pt idx="86">
                  <c:v>0.3725898998</c:v>
                </c:pt>
                <c:pt idx="87">
                  <c:v>0.3371011119</c:v>
                </c:pt>
                <c:pt idx="88">
                  <c:v>0.2963026211</c:v>
                </c:pt>
                <c:pt idx="89">
                  <c:v>0.2514863926</c:v>
                </c:pt>
                <c:pt idx="90">
                  <c:v>0.2039489259</c:v>
                </c:pt>
                <c:pt idx="91">
                  <c:v>0.1549612994</c:v>
                </c:pt>
                <c:pt idx="92">
                  <c:v>0.1057418218</c:v>
                </c:pt>
                <c:pt idx="93">
                  <c:v>0.05743173835</c:v>
                </c:pt>
                <c:pt idx="94">
                  <c:v>0.01107434297</c:v>
                </c:pt>
                <c:pt idx="95">
                  <c:v>-0.03240225854</c:v>
                </c:pt>
                <c:pt idx="96">
                  <c:v>-0.07219858517</c:v>
                </c:pt>
                <c:pt idx="97">
                  <c:v>-0.1076533678</c:v>
                </c:pt>
                <c:pt idx="98">
                  <c:v>-0.1382493274</c:v>
                </c:pt>
                <c:pt idx="99">
                  <c:v>-0.1636152697</c:v>
                </c:pt>
                <c:pt idx="100">
                  <c:v>-0.1835246975</c:v>
                </c:pt>
                <c:pt idx="101">
                  <c:v>-0.1978912081</c:v>
                </c:pt>
                <c:pt idx="102">
                  <c:v>-0.2067609979</c:v>
                </c:pt>
                <c:pt idx="103">
                  <c:v>-0.2103028412</c:v>
                </c:pt>
                <c:pt idx="104">
                  <c:v>-0.2087959438</c:v>
                </c:pt>
                <c:pt idx="105">
                  <c:v>-0.2026160922</c:v>
                </c:pt>
                <c:pt idx="106">
                  <c:v>-0.1922205301</c:v>
                </c:pt>
                <c:pt idx="107">
                  <c:v>-0.1781319957</c:v>
                </c:pt>
                <c:pt idx="108">
                  <c:v>-0.160922339</c:v>
                </c:pt>
                <c:pt idx="109">
                  <c:v>-0.1411961245</c:v>
                </c:pt>
                <c:pt idx="110">
                  <c:v>-0.1195745941</c:v>
                </c:pt>
                <c:pt idx="111">
                  <c:v>-0.09668033267</c:v>
                </c:pt>
                <c:pt idx="112">
                  <c:v>-0.07312294</c:v>
                </c:pt>
                <c:pt idx="113">
                  <c:v>-0.04948596777</c:v>
                </c:pt>
                <c:pt idx="114">
                  <c:v>-0.02631533587</c:v>
                </c:pt>
                <c:pt idx="115">
                  <c:v>-0.004109392171</c:v>
                </c:pt>
                <c:pt idx="116">
                  <c:v>0.01668926774</c:v>
                </c:pt>
                <c:pt idx="117">
                  <c:v>0.03570015279</c:v>
                </c:pt>
                <c:pt idx="118">
                  <c:v>0.05260937903</c:v>
                </c:pt>
                <c:pt idx="119">
                  <c:v>0.06717234458</c:v>
                </c:pt>
                <c:pt idx="120">
                  <c:v>0.07921463939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JP"/>
                  <a:ea typeface="Noto Sans CJK JP"/>
                  <a:cs typeface="Noto Sans CJK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C8D4D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JP"/>
                    <a:ea typeface="Noto Sans CJK JP"/>
                    <a:cs typeface="Noto Sans CJK JP"/>
                  </a:rPr>
                  <a:t>Angle [deg]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JP"/>
                  <a:ea typeface="Noto Sans CJK JP"/>
                  <a:cs typeface="Noto Sans CJK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CJK JP"/>
                <a:ea typeface="Noto Sans CJK JP"/>
                <a:cs typeface="Noto Sans CJK JP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JP"/>
                    <a:ea typeface="Noto Sans CJK JP"/>
                    <a:cs typeface="Noto Sans CJK JP"/>
                  </a:rPr>
                  <a:t>Time [s]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JP"/>
                  <a:ea typeface="Noto Sans CJK JP"/>
                  <a:cs typeface="Noto Sans CJK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 CJK JP"/>
                <a:ea typeface="Noto Sans CJK JP"/>
                <a:cs typeface="Noto Sans CJK JP"/>
              </a:defRPr>
            </a:pPr>
          </a:p>
        </c:txPr>
        <c:crossAx val="48672768"/>
      </c:valAx>
      <c:spPr>
        <a:solidFill xmlns:a="http://schemas.openxmlformats.org/drawingml/2006/main">
          <a:srgbClr val="F7F5E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Noto Sans CJK JP"/>
              <a:ea typeface="Noto Sans CJK JP"/>
              <a:cs typeface="Noto Sans CJK JP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曹研究室 · B3 基礎教育">
            <a:extLst>
              <a:ext uri="{FF2B5EF4-FFF2-40B4-BE49-F238E27FC236}">
                <a16:creationId id="{F763DB7A-1339-4860-8647-4A2ADCE3C8B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65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曹研究室 · B3 基礎教育</a:t>
            </a:r>
          </a:p>
        </p:txBody>
      </p:sp>
      <p:sp>
        <p:nvSpPr>
          <p:cNvPr id="2" name="02">
            <a:extLst>
              <a:ext uri="{FF2B5EF4-FFF2-40B4-BE49-F238E27FC236}">
                <a16:creationId id="{378850FA-8338-48D1-AEC5-218CA9C7B5D2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219075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915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15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3" name="">
            <a:extLst>
              <a:ext uri="{FF2B5EF4-FFF2-40B4-BE49-F238E27FC236}">
                <a16:creationId id="{42E97743-DD4F-4A75-8857-517F5AFDF6ED}"/>
              </a:ext>
            </a:extLst>
          </p:cNvPr>
          <p:cNvSpPr>
            <a:spLocks noGrp="1"/>
          </p:cNvSpPr>
          <p:nvPr/>
        </p:nvSpPr>
        <p:spPr>
          <a:xfrm>
            <a:off x="2981325" y="1628775"/>
            <a:ext cx="28575" cy="3086100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4" name="関数・配列・グラフで データを読む"/>
          <p:cNvSpPr/>
          <p:nvPr/>
        </p:nvSpPr>
        <p:spPr>
          <a:xfrm>
            <a:off x="3476625" y="1524000"/>
            <a:ext cx="7905750" cy="1647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4464"/>
              </a:lnSpc>
            </a:pPr>
            <a:r>
              <a:rPr lang="ja-JP" sz="3600" b="1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TerminalでPythonを</a:t>
            </a:r>
            <a:br/>
            <a:r>
              <a:rPr lang="ja-JP" sz="3600" b="1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実行する</a:t>
            </a:r>
          </a:p>
        </p:txBody>
      </p:sp>
      <p:sp>
        <p:nvSpPr>
          <p:cNvPr id="5" name="同じ処理を使い直し、他の人に伝わる図にできるか。"/>
          <p:cNvSpPr/>
          <p:nvPr/>
        </p:nvSpPr>
        <p:spPr>
          <a:xfrm>
            <a:off x="3514725" y="3667125"/>
            <a:ext cx="7667625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32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第1回の計算をファイルへ保存し、自分で動かす。</a:t>
            </a:r>
          </a:p>
        </p:txBody>
      </p:sp>
      <p:sp>
        <p:nvSpPr>
          <p:cNvPr id="6" name="180分 / 反転学習">
            <a:extLst>
              <a:ext uri="{FF2B5EF4-FFF2-40B4-BE49-F238E27FC236}">
                <a16:creationId id="{566CC49F-FDDA-435F-8171-1AAD33970ED2}"/>
              </a:ext>
            </a:extLst>
          </p:cNvPr>
          <p:cNvSpPr>
            <a:spLocks noGrp="1"/>
          </p:cNvSpPr>
          <p:nvPr/>
        </p:nvSpPr>
        <p:spPr>
          <a:xfrm>
            <a:off x="3514725" y="5381625"/>
            <a:ext cx="7429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025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180分 / 反転学習</a:t>
            </a:r>
          </a:p>
        </p:txBody>
      </p:sp>
      <p:sp>
        <p:nvSpPr>
          <p:cNvPr id="7" name="PPT発表なし">
            <a:extLst>
              <a:ext uri="{FF2B5EF4-FFF2-40B4-BE49-F238E27FC236}">
                <a16:creationId id="{BB13455E-CFA5-434A-96E3-B638B649B164}"/>
              </a:ext>
            </a:extLst>
          </p:cNvPr>
          <p:cNvSpPr>
            <a:spLocks noGrp="1"/>
          </p:cNvSpPr>
          <p:nvPr/>
        </p:nvSpPr>
        <p:spPr>
          <a:xfrm>
            <a:off x="3514725" y="59055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7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PPT発表なし</a:t>
            </a:r>
          </a:p>
        </p:txBody>
      </p:sp>
    </p:spTree>
    <p:extLst>
      <p:ext uri="{BB962C8B-B14F-4D97-AF65-F5344CB8AC3E}">
        <p14:creationId val="192844695"/>
      </p:ext>
    </p:extLst>
  </p:cSld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曹研究室 / B3  |  第2回 · Colab / Python">
            <a:extLst>
              <a:ext uri="{FF2B5EF4-FFF2-40B4-BE49-F238E27FC236}">
                <a16:creationId id="{F6551813-8D2F-4C2F-94E0-07630D570EC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曹研究室 / B3  |  第2回 · Colab / Python</a:t>
            </a:r>
          </a:p>
        </p:txBody>
      </p:sp>
      <p:sp>
        <p:nvSpPr>
          <p:cNvPr id="2" name="今日、できるようにすること"/>
          <p:cNvSpPr/>
          <p:nvPr/>
        </p:nvSpPr>
        <p:spPr>
          <a:xfrm>
            <a:off x="609600" y="695325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3220" b="1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第1回から第2回へのつながり</a:t>
            </a:r>
          </a:p>
        </p:txBody>
      </p:sp>
      <p:sp>
        <p:nvSpPr>
          <p:cNvPr id="3" name="同じ処理を使い直し、他の人に伝わる図にできるか。"/>
          <p:cNvSpPr/>
          <p:nvPr/>
        </p:nvSpPr>
        <p:spPr>
          <a:xfrm>
            <a:off x="609600" y="1409700"/>
            <a:ext cx="109728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1720" dirty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計算内容は復習し、実行する場所とファイルの扱いを学ぶ。</a:t>
            </a:r>
          </a:p>
        </p:txBody>
      </p:sp>
      <p:sp>
        <p:nvSpPr>
          <p:cNvPr id="4" name="">
            <a:extLst>
              <a:ext uri="{FF2B5EF4-FFF2-40B4-BE49-F238E27FC236}">
                <a16:creationId id="{CBF3D3C5-5690-42AC-86ED-BC5A7093CF54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5" name="読む → 予想する → 実行する → 変える → 説明する">
            <a:extLst>
              <a:ext uri="{FF2B5EF4-FFF2-40B4-BE49-F238E27FC236}">
                <a16:creationId id="{509D93CC-DE9C-4F70-B8F6-6D05D29D1FE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読む → 予想する → 実行する → 変える → 説明する</a:t>
            </a:r>
          </a:p>
        </p:txBody>
      </p:sp>
      <p:sp>
        <p:nvSpPr>
          <p:cNvPr id="6" name="02">
            <a:extLst>
              <a:ext uri="{FF2B5EF4-FFF2-40B4-BE49-F238E27FC236}">
                <a16:creationId id="{FFAEDCEC-FD17-4684-841F-A5D4B083B66C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7" name="01">
            <a:extLst>
              <a:ext uri="{FF2B5EF4-FFF2-40B4-BE49-F238E27FC236}">
                <a16:creationId id="{81035463-44C8-47DD-9FA8-B5261FDF520B}"/>
              </a:ext>
            </a:extLst>
          </p:cNvPr>
          <p:cNvSpPr>
            <a:spLocks noGrp="1"/>
          </p:cNvSpPr>
          <p:nvPr/>
        </p:nvSpPr>
        <p:spPr>
          <a:xfrm>
            <a:off x="695325" y="220027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8" name="引数と戻り値を説明する"/>
          <p:cNvSpPr/>
          <p:nvPr/>
        </p:nvSpPr>
        <p:spPr>
          <a:xfrm>
            <a:off x="1647825" y="2219325"/>
            <a:ext cx="9810750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40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前回：セルで変数・if・関数を試した</a:t>
            </a:r>
          </a:p>
        </p:txBody>
      </p:sp>
      <p:sp>
        <p:nvSpPr>
          <p:cNvPr id="9" name="">
            <a:extLst>
              <a:ext uri="{FF2B5EF4-FFF2-40B4-BE49-F238E27FC236}">
                <a16:creationId id="{465FD815-A34C-4FB8-B77F-8E2C49EB0706}"/>
              </a:ext>
            </a:extLst>
          </p:cNvPr>
          <p:cNvSpPr>
            <a:spLocks noGrp="1"/>
          </p:cNvSpPr>
          <p:nvPr/>
        </p:nvSpPr>
        <p:spPr>
          <a:xfrm>
            <a:off x="1647825" y="3209925"/>
            <a:ext cx="981075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0" name="02">
            <a:extLst>
              <a:ext uri="{FF2B5EF4-FFF2-40B4-BE49-F238E27FC236}">
                <a16:creationId id="{75D7579C-7DC5-4143-AEAB-7822189805D7}"/>
              </a:ext>
            </a:extLst>
          </p:cNvPr>
          <p:cNvSpPr>
            <a:spLocks noGrp="1"/>
          </p:cNvSpPr>
          <p:nvPr/>
        </p:nvSpPr>
        <p:spPr>
          <a:xfrm>
            <a:off x="695325" y="3333750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11" name="配列から単位付きの図を作る"/>
          <p:cNvSpPr/>
          <p:nvPr/>
        </p:nvSpPr>
        <p:spPr>
          <a:xfrm>
            <a:off x="1647825" y="3352800"/>
            <a:ext cx="9810750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40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今回：.pyを保存し、Terminalで実行する</a:t>
            </a:r>
          </a:p>
        </p:txBody>
      </p:sp>
      <p:sp>
        <p:nvSpPr>
          <p:cNvPr id="12" name="">
            <a:extLst>
              <a:ext uri="{FF2B5EF4-FFF2-40B4-BE49-F238E27FC236}">
                <a16:creationId id="{C7F44FB6-FECA-45C5-8E43-A455FD2BFBFA}"/>
              </a:ext>
            </a:extLst>
          </p:cNvPr>
          <p:cNvSpPr>
            <a:spLocks noGrp="1"/>
          </p:cNvSpPr>
          <p:nvPr/>
        </p:nvSpPr>
        <p:spPr>
          <a:xfrm>
            <a:off x="1647825" y="4343400"/>
            <a:ext cx="981075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3" name="03">
            <a:extLst>
              <a:ext uri="{FF2B5EF4-FFF2-40B4-BE49-F238E27FC236}">
                <a16:creationId id="{4B149429-F75E-4D13-AAFF-4650AAA855F8}"/>
              </a:ext>
            </a:extLst>
          </p:cNvPr>
          <p:cNvSpPr>
            <a:spLocks noGrp="1"/>
          </p:cNvSpPr>
          <p:nvPr/>
        </p:nvSpPr>
        <p:spPr>
          <a:xfrm>
            <a:off x="695325" y="44672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14" name="CSVを保存して読み直す"/>
          <p:cNvSpPr/>
          <p:nvPr/>
        </p:nvSpPr>
        <p:spPr>
          <a:xfrm>
            <a:off x="1647825" y="4486275"/>
            <a:ext cx="9810750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40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共通：予想・変更・結果を自分で確かめる</a:t>
            </a:r>
          </a:p>
        </p:txBody>
      </p:sp>
    </p:spTree>
    <p:extLst>
      <p:ext uri="{BB962C8B-B14F-4D97-AF65-F5344CB8AC3E}">
        <p14:creationId val="426129169"/>
      </p:ext>
    </p:extLst>
  </p:cSld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曹研究室 / B3  |  第2回 · Colab / Python">
            <a:extLst>
              <a:ext uri="{FF2B5EF4-FFF2-40B4-BE49-F238E27FC236}">
                <a16:creationId id="{A11145B2-ED06-4CF3-831F-EE76E2A429C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曹研究室 / B3  |  第2回 · Colab / Python</a:t>
            </a:r>
          </a:p>
        </p:txBody>
      </p:sp>
      <p:sp>
        <p:nvSpPr>
          <p:cNvPr id="2" name="180分の使い方">
            <a:extLst>
              <a:ext uri="{FF2B5EF4-FFF2-40B4-BE49-F238E27FC236}">
                <a16:creationId id="{D90C9B86-C298-4EFC-9785-7FD46575A88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3225" b="1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180分の使い方</a:t>
            </a:r>
          </a:p>
        </p:txBody>
      </p:sp>
      <p:sp>
        <p:nvSpPr>
          <p:cNvPr id="3" name="各自で進め、指定の時刻に説明・確認する。"/>
          <p:cNvSpPr/>
          <p:nvPr/>
        </p:nvSpPr>
        <p:spPr>
          <a:xfrm>
            <a:off x="609600" y="1409700"/>
            <a:ext cx="109728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1720" dirty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Terminalを中心に、各自で実行・変更・確認する。</a:t>
            </a:r>
          </a:p>
        </p:txBody>
      </p:sp>
      <p:sp>
        <p:nvSpPr>
          <p:cNvPr id="4" name="">
            <a:extLst>
              <a:ext uri="{FF2B5EF4-FFF2-40B4-BE49-F238E27FC236}">
                <a16:creationId id="{ECF7DF9B-13AF-4DC1-B89D-D82F58CB3429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5" name="読む → 予想する → 実行する → 変える → 説明する">
            <a:extLst>
              <a:ext uri="{FF2B5EF4-FFF2-40B4-BE49-F238E27FC236}">
                <a16:creationId id="{1B7DC3C7-432B-4F6A-889B-CB8AE1A4008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読む → 予想する → 実行する → 変える → 説明する</a:t>
            </a:r>
          </a:p>
        </p:txBody>
      </p:sp>
      <p:sp>
        <p:nvSpPr>
          <p:cNvPr id="6" name="03">
            <a:extLst>
              <a:ext uri="{FF2B5EF4-FFF2-40B4-BE49-F238E27FC236}">
                <a16:creationId id="{A1CE3135-7756-4E07-B841-0542B5388478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graphicFrame>
        <p:nvGraphicFramePr>
          <p:cNvPr id="18" name="lesson02-schedule"/>
          <p:cNvGraphicFramePr>
            <a:graphicFrameLocks noGrp="1"/>
          </p:cNvGraphicFramePr>
          <p:nvPr/>
        </p:nvGraphicFramePr>
        <p:xfrm>
          <a:off x="609600" y="1933575"/>
          <a:ext cx="6096000" cy="4095750"/>
        </p:xfrm>
        <a:graphic>
          <a:graphicData uri="http://schemas.openxmlformats.org/drawingml/2006/table">
            <a:tbl>
              <a:tblPr firstRow="0" bandRow="1">
</a:tblPr>
              <a:tblGrid>
                <a:gridCol w="1733550"/>
                <a:gridCol w="4362450"/>
              </a:tblGrid>
              <a:tr h="409575">
                <a:tc>
                  <a:txBody>
                    <a:bodyPr/>
                    <a:lstStyle/>
                    <a:p>
                      <a:pPr/>
                      <a:r>
                        <a:rPr lang="ja-JP" sz="180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時間 [分]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80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活動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17323B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0–15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第1回の復習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15–35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Terminalを開く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35–60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場所とファイル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60–85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.pyへ保存・実行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85–95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休憩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95–120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引数・保存・再実行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120–140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エラー・コンパイル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140–165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図とCSVを確認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165–180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800" b="0">
                          <a:solidFill>
                            <a:srgbClr val="17323B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記録・説明・提出</a:t>
                      </a:r>
                    </a:p>
                  </a:txBody>
                  <a:tcPr anchor="ctr" marL="91440" marR="91440" marT="44767" marB="44767">
                    <a:lnL w="6668">
                      <a:solidFill>
                        <a:srgbClr val="C8D4D0"/>
                      </a:solidFill>
                      <a:prstDash val="solid"/>
                    </a:lnL>
                    <a:lnR w="6668">
                      <a:solidFill>
                        <a:srgbClr val="C8D4D0"/>
                      </a:solidFill>
                      <a:prstDash val="solid"/>
                    </a:lnR>
                    <a:lnT w="6668">
                      <a:solidFill>
                        <a:srgbClr val="C8D4D0"/>
                      </a:solidFill>
                      <a:prstDash val="solid"/>
                    </a:lnT>
                    <a:lnB w="6668">
                      <a:solidFill>
                        <a:srgbClr val="C8D4D0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8" name="授業前">
            <a:extLst>
              <a:ext uri="{FF2B5EF4-FFF2-40B4-BE49-F238E27FC236}">
                <a16:creationId id="{4369A084-F2BF-4EF6-92B1-90334949D5EE}"/>
              </a:ext>
            </a:extLst>
          </p:cNvPr>
          <p:cNvSpPr>
            <a:spLocks noGrp="1"/>
          </p:cNvSpPr>
          <p:nvPr/>
        </p:nvSpPr>
        <p:spPr>
          <a:xfrm>
            <a:off x="7419975" y="20764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1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授業前</a:t>
            </a:r>
          </a:p>
        </p:txBody>
      </p:sp>
      <p:sp>
        <p:nvSpPr>
          <p:cNvPr id="9" name="第1回のif・for・リストを復習する。"/>
          <p:cNvSpPr/>
          <p:nvPr/>
        </p:nvSpPr>
        <p:spPr>
          <a:xfrm>
            <a:off x="7419975" y="2600325"/>
            <a:ext cx="4095750" cy="140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511"/>
              </a:lnSpc>
            </a:pPr>
            <a:r>
              <a:rPr lang="ja-JP" sz="202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第1回の速度×時間、</a:t>
            </a:r>
            <a:br/>
            <a:r>
              <a:rPr lang="ja-JP" sz="202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変数・if・関数を見直す。</a:t>
            </a:r>
          </a:p>
        </p:txBody>
      </p:sp>
      <p:sp>
        <p:nvSpPr>
          <p:cNvPr id="10" name="発表">
            <a:extLst>
              <a:ext uri="{FF2B5EF4-FFF2-40B4-BE49-F238E27FC236}">
                <a16:creationId id="{8197A95E-B119-4D32-8A9E-37E7BFE7CC9C}"/>
              </a:ext>
            </a:extLst>
          </p:cNvPr>
          <p:cNvSpPr>
            <a:spLocks noGrp="1"/>
          </p:cNvSpPr>
          <p:nvPr/>
        </p:nvSpPr>
        <p:spPr>
          <a:xfrm>
            <a:off x="7419975" y="4295775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100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発表</a:t>
            </a:r>
          </a:p>
        </p:txBody>
      </p:sp>
      <p:sp>
        <p:nvSpPr>
          <p:cNvPr id="11" name="PPT発表なし">
            <a:extLst>
              <a:ext uri="{FF2B5EF4-FFF2-40B4-BE49-F238E27FC236}">
                <a16:creationId id="{80BEBA43-FA31-423E-87F0-04D5846ED2F7}"/>
              </a:ext>
            </a:extLst>
          </p:cNvPr>
          <p:cNvSpPr>
            <a:spLocks noGrp="1"/>
          </p:cNvSpPr>
          <p:nvPr/>
        </p:nvSpPr>
        <p:spPr>
          <a:xfrm>
            <a:off x="7419975" y="4800600"/>
            <a:ext cx="409575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950" b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PPT発表なし</a:t>
            </a:r>
          </a:p>
        </p:txBody>
      </p:sp>
    </p:spTree>
    <p:extLst>
      <p:ext uri="{BB962C8B-B14F-4D97-AF65-F5344CB8AC3E}">
        <p14:creationId val="1580931991"/>
      </p:ext>
    </p:extLst>
  </p:cSld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曹研究室 / B3  |  第2回 · Colab / Python">
            <a:extLst>
              <a:ext uri="{FF2B5EF4-FFF2-40B4-BE49-F238E27FC236}">
                <a16:creationId id="{5805ECA6-AA5E-476B-916F-7572ED79ACF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曹研究室 / B3  |  第2回 · Colab / Python</a:t>
            </a:r>
          </a:p>
        </p:txBody>
      </p:sp>
      <p:sp>
        <p:nvSpPr>
          <p:cNvPr id="2" name="関数は処理のまとまり"/>
          <p:cNvSpPr/>
          <p:nvPr/>
        </p:nvSpPr>
        <p:spPr>
          <a:xfrm>
            <a:off x="609600" y="695325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3220" b="1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ColabのTerminalを開く</a:t>
            </a:r>
          </a:p>
        </p:txBody>
      </p:sp>
      <p:sp>
        <p:nvSpPr>
          <p:cNvPr id="3" name="Notebookを読む前に、この三点を確認する。"/>
          <p:cNvSpPr/>
          <p:nvPr/>
        </p:nvSpPr>
        <p:spPr>
          <a:xfrm>
            <a:off x="609600" y="1409700"/>
            <a:ext cx="109728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1720" dirty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ランタイムに接続し、画面下部のTerminalを開く。</a:t>
            </a:r>
          </a:p>
        </p:txBody>
      </p:sp>
      <p:sp>
        <p:nvSpPr>
          <p:cNvPr id="4" name="">
            <a:extLst>
              <a:ext uri="{FF2B5EF4-FFF2-40B4-BE49-F238E27FC236}">
                <a16:creationId id="{2C74FE89-F79E-4F41-832C-40E30DB7B235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5" name="読む → 予想する → 実行する → 変える → 説明する">
            <a:extLst>
              <a:ext uri="{FF2B5EF4-FFF2-40B4-BE49-F238E27FC236}">
                <a16:creationId id="{6B1B9DB8-2C1D-44CC-8A0B-F898F6941DA5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読む → 予想する → 実行する → 変える → 説明する</a:t>
            </a:r>
          </a:p>
        </p:txBody>
      </p:sp>
      <p:sp>
        <p:nvSpPr>
          <p:cNvPr id="6" name="04">
            <a:extLst>
              <a:ext uri="{FF2B5EF4-FFF2-40B4-BE49-F238E27FC236}">
                <a16:creationId id="{9F25DF41-E935-4537-A5FF-AE3669442A6B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7" name="01">
            <a:extLst>
              <a:ext uri="{FF2B5EF4-FFF2-40B4-BE49-F238E27FC236}">
                <a16:creationId id="{9F8E7658-5066-4F2D-A6F4-37132898C67A}"/>
              </a:ext>
            </a:extLst>
          </p:cNvPr>
          <p:cNvSpPr>
            <a:spLocks noGrp="1"/>
          </p:cNvSpPr>
          <p:nvPr/>
        </p:nvSpPr>
        <p:spPr>
          <a:xfrm>
            <a:off x="714375" y="21812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8" name="defで名前と引数を決める"/>
          <p:cNvSpPr/>
          <p:nvPr/>
        </p:nvSpPr>
        <p:spPr>
          <a:xfrm>
            <a:off x="1666875" y="22002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25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Terminal：pwdやpythonを入力する</a:t>
            </a:r>
          </a:p>
        </p:txBody>
      </p:sp>
      <p:sp>
        <p:nvSpPr>
          <p:cNvPr id="9" name="">
            <a:extLst>
              <a:ext uri="{FF2B5EF4-FFF2-40B4-BE49-F238E27FC236}">
                <a16:creationId id="{902E4AB1-F4BE-4EDA-87C7-78DEC9B98CC9}"/>
              </a:ext>
            </a:extLst>
          </p:cNvPr>
          <p:cNvSpPr>
            <a:spLocks noGrp="1"/>
          </p:cNvSpPr>
          <p:nvPr/>
        </p:nvSpPr>
        <p:spPr>
          <a:xfrm>
            <a:off x="1666875" y="3124200"/>
            <a:ext cx="9667875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0" name="02">
            <a:extLst>
              <a:ext uri="{FF2B5EF4-FFF2-40B4-BE49-F238E27FC236}">
                <a16:creationId id="{8A566D82-306A-4C9F-9A67-DE038E495540}"/>
              </a:ext>
            </a:extLst>
          </p:cNvPr>
          <p:cNvSpPr>
            <a:spLocks noGrp="1"/>
          </p:cNvSpPr>
          <p:nvPr/>
        </p:nvSpPr>
        <p:spPr>
          <a:xfrm>
            <a:off x="714375" y="32480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11" name="returnで呼び出し元へ結果を返す"/>
          <p:cNvSpPr/>
          <p:nvPr/>
        </p:nvSpPr>
        <p:spPr>
          <a:xfrm>
            <a:off x="1666875" y="32670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25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Pythonセル：printや計算式を書く</a:t>
            </a:r>
          </a:p>
        </p:txBody>
      </p:sp>
      <p:sp>
        <p:nvSpPr>
          <p:cNvPr id="12" name="">
            <a:extLst>
              <a:ext uri="{FF2B5EF4-FFF2-40B4-BE49-F238E27FC236}">
                <a16:creationId id="{38F56D6C-7C83-4D32-BDB9-4305639B673F}"/>
              </a:ext>
            </a:extLst>
          </p:cNvPr>
          <p:cNvSpPr>
            <a:spLocks noGrp="1"/>
          </p:cNvSpPr>
          <p:nvPr/>
        </p:nvSpPr>
        <p:spPr>
          <a:xfrm>
            <a:off x="1666875" y="4191000"/>
            <a:ext cx="9667875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3" name="03">
            <a:extLst>
              <a:ext uri="{FF2B5EF4-FFF2-40B4-BE49-F238E27FC236}">
                <a16:creationId id="{5784EE92-2738-44CA-AC37-EB21E134F1A7}"/>
              </a:ext>
            </a:extLst>
          </p:cNvPr>
          <p:cNvSpPr>
            <a:spLocks noGrp="1"/>
          </p:cNvSpPr>
          <p:nvPr/>
        </p:nvSpPr>
        <p:spPr>
          <a:xfrm>
            <a:off x="714375" y="43148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14" name="データが変わっても同じ関数を使う"/>
          <p:cNvSpPr/>
          <p:nvPr/>
        </p:nvSpPr>
        <p:spPr>
          <a:xfrm>
            <a:off x="1666875" y="43338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25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&gt;&gt;&gt;はPython対話画面。exit()で戻る</a:t>
            </a:r>
          </a:p>
        </p:txBody>
      </p:sp>
    </p:spTree>
    <p:extLst>
      <p:ext uri="{BB962C8B-B14F-4D97-AF65-F5344CB8AC3E}">
        <p14:creationId val="1425166886"/>
      </p:ext>
    </p:extLst>
  </p:cSld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曹研究室 / B3  |  第2回 · Colab / Python">
            <a:extLst>
              <a:ext uri="{FF2B5EF4-FFF2-40B4-BE49-F238E27FC236}">
                <a16:creationId id="{D439BDB9-4750-4DA0-A8CE-9D03E511CE4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曹研究室 / B3  |  第2回 · Colab / Python</a:t>
            </a:r>
          </a:p>
        </p:txBody>
      </p:sp>
      <p:sp>
        <p:nvSpPr>
          <p:cNvPr id="2" name="リストから配列へ"/>
          <p:cNvSpPr/>
          <p:nvPr/>
        </p:nvSpPr>
        <p:spPr>
          <a:xfrm>
            <a:off x="609600" y="695325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3220" b="1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場所とファイルを確認する命令</a:t>
            </a:r>
          </a:p>
        </p:txBody>
      </p:sp>
      <p:sp>
        <p:nvSpPr>
          <p:cNvPr id="3" name="Notebookを読む前に、この三点を確認する。"/>
          <p:cNvSpPr/>
          <p:nvPr/>
        </p:nvSpPr>
        <p:spPr>
          <a:xfrm>
            <a:off x="609600" y="1409700"/>
            <a:ext cx="109728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1720" dirty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1行ずつ入力し、表示された結果をNotebookへ記録する。</a:t>
            </a:r>
          </a:p>
        </p:txBody>
      </p:sp>
      <p:sp>
        <p:nvSpPr>
          <p:cNvPr id="4" name="">
            <a:extLst>
              <a:ext uri="{FF2B5EF4-FFF2-40B4-BE49-F238E27FC236}">
                <a16:creationId id="{1B360A41-E145-4601-B50A-ABA86C90E8DB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5" name="読む → 予想する → 実行する → 変える → 説明する">
            <a:extLst>
              <a:ext uri="{FF2B5EF4-FFF2-40B4-BE49-F238E27FC236}">
                <a16:creationId id="{8DD3AB59-52F8-4AF7-8B44-890D3691200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読む → 予想する → 実行する → 変える → 説明する</a:t>
            </a:r>
          </a:p>
        </p:txBody>
      </p:sp>
      <p:sp>
        <p:nvSpPr>
          <p:cNvPr id="6" name="05">
            <a:extLst>
              <a:ext uri="{FF2B5EF4-FFF2-40B4-BE49-F238E27FC236}">
                <a16:creationId id="{4BED8BDA-3977-4DBB-B3D7-701AD8C8050E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7" name="01">
            <a:extLst>
              <a:ext uri="{FF2B5EF4-FFF2-40B4-BE49-F238E27FC236}">
                <a16:creationId id="{FD3C78E5-4EE5-48A4-9945-44ED22011BF8}"/>
              </a:ext>
            </a:extLst>
          </p:cNvPr>
          <p:cNvSpPr>
            <a:spLocks noGrp="1"/>
          </p:cNvSpPr>
          <p:nvPr/>
        </p:nvSpPr>
        <p:spPr>
          <a:xfrm>
            <a:off x="714375" y="21812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8" name="importでライブラリを読み込む"/>
          <p:cNvSpPr/>
          <p:nvPr/>
        </p:nvSpPr>
        <p:spPr>
          <a:xfrm>
            <a:off x="1666875" y="22002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25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pwd：今いる場所　ls：中身の一覧</a:t>
            </a:r>
          </a:p>
        </p:txBody>
      </p:sp>
      <p:sp>
        <p:nvSpPr>
          <p:cNvPr id="9" name="">
            <a:extLst>
              <a:ext uri="{FF2B5EF4-FFF2-40B4-BE49-F238E27FC236}">
                <a16:creationId id="{B583D325-814B-47BF-B2CE-3E8B3C7B5FA1}"/>
              </a:ext>
            </a:extLst>
          </p:cNvPr>
          <p:cNvSpPr>
            <a:spLocks noGrp="1"/>
          </p:cNvSpPr>
          <p:nvPr/>
        </p:nvSpPr>
        <p:spPr>
          <a:xfrm>
            <a:off x="1666875" y="3124200"/>
            <a:ext cx="9667875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0" name="02">
            <a:extLst>
              <a:ext uri="{FF2B5EF4-FFF2-40B4-BE49-F238E27FC236}">
                <a16:creationId id="{E73CA2E8-BFAA-41FC-AC67-E73EDC808BD5}"/>
              </a:ext>
            </a:extLst>
          </p:cNvPr>
          <p:cNvSpPr>
            <a:spLocks noGrp="1"/>
          </p:cNvSpPr>
          <p:nvPr/>
        </p:nvSpPr>
        <p:spPr>
          <a:xfrm>
            <a:off x="714375" y="32480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11" name="配列では複数の値をまとめて計算できる"/>
          <p:cNvSpPr/>
          <p:nvPr/>
        </p:nvSpPr>
        <p:spPr>
          <a:xfrm>
            <a:off x="1666875" y="32670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25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cd：移動　mkdir -p：フォルダ作成</a:t>
            </a:r>
          </a:p>
        </p:txBody>
      </p:sp>
      <p:sp>
        <p:nvSpPr>
          <p:cNvPr id="12" name="">
            <a:extLst>
              <a:ext uri="{FF2B5EF4-FFF2-40B4-BE49-F238E27FC236}">
                <a16:creationId id="{61D0064E-2A2C-441F-8772-0B5EE19E532E}"/>
              </a:ext>
            </a:extLst>
          </p:cNvPr>
          <p:cNvSpPr>
            <a:spLocks noGrp="1"/>
          </p:cNvSpPr>
          <p:nvPr/>
        </p:nvSpPr>
        <p:spPr>
          <a:xfrm>
            <a:off x="1666875" y="4191000"/>
            <a:ext cx="9667875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3" name="03">
            <a:extLst>
              <a:ext uri="{FF2B5EF4-FFF2-40B4-BE49-F238E27FC236}">
                <a16:creationId id="{ED9603DF-253F-48D9-8486-64B88D9CB5FB}"/>
              </a:ext>
            </a:extLst>
          </p:cNvPr>
          <p:cNvSpPr>
            <a:spLocks noGrp="1"/>
          </p:cNvSpPr>
          <p:nvPr/>
        </p:nvSpPr>
        <p:spPr>
          <a:xfrm>
            <a:off x="714375" y="43148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14" name="lenとshapeでデータ数を確かめる"/>
          <p:cNvSpPr/>
          <p:nvPr/>
        </p:nvSpPr>
        <p:spPr>
          <a:xfrm>
            <a:off x="1666875" y="43338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25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cat：中身　cp：コピー　mv：名前変更</a:t>
            </a:r>
          </a:p>
        </p:txBody>
      </p:sp>
    </p:spTree>
    <p:extLst>
      <p:ext uri="{BB962C8B-B14F-4D97-AF65-F5344CB8AC3E}">
        <p14:creationId val="507403817"/>
      </p:ext>
    </p:extLst>
  </p:cSld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曹研究室 / B3  |  第2回 · Colab / Python">
            <a:extLst>
              <a:ext uri="{FF2B5EF4-FFF2-40B4-BE49-F238E27FC236}">
                <a16:creationId id="{FDE53C67-6985-430B-B147-4E99C9F10F3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曹研究室 / B3  |  第2回 · Colab / Python</a:t>
            </a:r>
          </a:p>
        </p:txBody>
      </p:sp>
      <p:sp>
        <p:nvSpPr>
          <p:cNvPr id="2" name="図には条件と単位を付ける"/>
          <p:cNvSpPr/>
          <p:nvPr/>
        </p:nvSpPr>
        <p:spPr>
          <a:xfrm>
            <a:off x="609600" y="695325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3220" b="1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第1回の計算を.pyへ保存する</a:t>
            </a:r>
          </a:p>
        </p:txBody>
      </p:sp>
      <p:sp>
        <p:nvSpPr>
          <p:cNvPr id="3" name="Notebookを読む前に、この三点を確認する。"/>
          <p:cNvSpPr/>
          <p:nvPr/>
        </p:nvSpPr>
        <p:spPr>
          <a:xfrm>
            <a:off x="609600" y="1409700"/>
            <a:ext cx="109728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1720" dirty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速度1.2 m/s × 時間5 s。まず手計算してから確かめる。</a:t>
            </a:r>
          </a:p>
        </p:txBody>
      </p:sp>
      <p:sp>
        <p:nvSpPr>
          <p:cNvPr id="4" name="">
            <a:extLst>
              <a:ext uri="{FF2B5EF4-FFF2-40B4-BE49-F238E27FC236}">
                <a16:creationId id="{5759ABCF-4BEB-470C-ACEE-672DB3D9CE6E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5" name="読む → 予想する → 実行する → 変える → 説明する">
            <a:extLst>
              <a:ext uri="{FF2B5EF4-FFF2-40B4-BE49-F238E27FC236}">
                <a16:creationId id="{22BA666D-0748-456C-BDA4-3738969990C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読む → 予想する → 実行する → 変える → 説明する</a:t>
            </a:r>
          </a:p>
        </p:txBody>
      </p:sp>
      <p:sp>
        <p:nvSpPr>
          <p:cNvPr id="6" name="06">
            <a:extLst>
              <a:ext uri="{FF2B5EF4-FFF2-40B4-BE49-F238E27FC236}">
                <a16:creationId id="{C103CD0E-8897-4914-8BEF-AA047A0F154A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7" name="01">
            <a:extLst>
              <a:ext uri="{FF2B5EF4-FFF2-40B4-BE49-F238E27FC236}">
                <a16:creationId id="{E38DBB22-0716-4F33-B91B-76A070025447}"/>
              </a:ext>
            </a:extLst>
          </p:cNvPr>
          <p:cNvSpPr>
            <a:spLocks noGrp="1"/>
          </p:cNvSpPr>
          <p:nvPr/>
        </p:nvSpPr>
        <p:spPr>
          <a:xfrm>
            <a:off x="714375" y="21812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8" name="横軸：時間 [s]、縦軸：角度 [deg]"/>
          <p:cNvSpPr/>
          <p:nvPr/>
        </p:nvSpPr>
        <p:spPr>
          <a:xfrm>
            <a:off x="1666875" y="22002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25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Notebookの保存セルで.pyを作る</a:t>
            </a:r>
          </a:p>
        </p:txBody>
      </p:sp>
      <p:sp>
        <p:nvSpPr>
          <p:cNvPr id="9" name="">
            <a:extLst>
              <a:ext uri="{FF2B5EF4-FFF2-40B4-BE49-F238E27FC236}">
                <a16:creationId id="{40EB94E3-30EB-4F95-86D6-102AF16A4395}"/>
              </a:ext>
            </a:extLst>
          </p:cNvPr>
          <p:cNvSpPr>
            <a:spLocks noGrp="1"/>
          </p:cNvSpPr>
          <p:nvPr/>
        </p:nvSpPr>
        <p:spPr>
          <a:xfrm>
            <a:off x="1666875" y="3124200"/>
            <a:ext cx="9667875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0" name="02">
            <a:extLst>
              <a:ext uri="{FF2B5EF4-FFF2-40B4-BE49-F238E27FC236}">
                <a16:creationId id="{89AFC5AC-8ED3-4D1C-8AE1-AB1B848DD3E9}"/>
              </a:ext>
            </a:extLst>
          </p:cNvPr>
          <p:cNvSpPr>
            <a:spLocks noGrp="1"/>
          </p:cNvSpPr>
          <p:nvPr/>
        </p:nvSpPr>
        <p:spPr>
          <a:xfrm>
            <a:off x="714375" y="32480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11" name="比較する系列としきい値を凡例で区別する"/>
          <p:cNvSpPr/>
          <p:nvPr/>
        </p:nvSpPr>
        <p:spPr>
          <a:xfrm>
            <a:off x="1666875" y="32670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25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Terminalのlsとcatでファイルを確認</a:t>
            </a:r>
          </a:p>
        </p:txBody>
      </p:sp>
      <p:sp>
        <p:nvSpPr>
          <p:cNvPr id="12" name="">
            <a:extLst>
              <a:ext uri="{FF2B5EF4-FFF2-40B4-BE49-F238E27FC236}">
                <a16:creationId id="{F438B355-0E08-4517-82EB-19EC61A408C2}"/>
              </a:ext>
            </a:extLst>
          </p:cNvPr>
          <p:cNvSpPr>
            <a:spLocks noGrp="1"/>
          </p:cNvSpPr>
          <p:nvPr/>
        </p:nvSpPr>
        <p:spPr>
          <a:xfrm>
            <a:off x="1666875" y="4191000"/>
            <a:ext cx="9667875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3" name="03">
            <a:extLst>
              <a:ext uri="{FF2B5EF4-FFF2-40B4-BE49-F238E27FC236}">
                <a16:creationId id="{B192C7BC-EEB6-49AC-9CFC-5D4E9E97049E}"/>
              </a:ext>
            </a:extLst>
          </p:cNvPr>
          <p:cNvSpPr>
            <a:spLocks noGrp="1"/>
          </p:cNvSpPr>
          <p:nvPr/>
        </p:nvSpPr>
        <p:spPr>
          <a:xfrm>
            <a:off x="714375" y="43148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14" name="架空データと実測・シミュレーションデータを区別する"/>
          <p:cNvSpPr/>
          <p:nvPr/>
        </p:nvSpPr>
        <p:spPr>
          <a:xfrm>
            <a:off x="1666875" y="43338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25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編集後は保存し直してから実行する</a:t>
            </a:r>
          </a:p>
        </p:txBody>
      </p:sp>
    </p:spTree>
    <p:extLst>
      <p:ext uri="{BB962C8B-B14F-4D97-AF65-F5344CB8AC3E}">
        <p14:creationId val="46093968"/>
      </p:ext>
    </p:extLst>
  </p:cSld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曹研究室 / B3  |  第2回 · Colab / Python">
            <a:extLst>
              <a:ext uri="{FF2B5EF4-FFF2-40B4-BE49-F238E27FC236}">
                <a16:creationId id="{AEC59936-B44B-42C6-99F9-790CB692FCA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曹研究室 / B3  |  第2回 · Colab / Python</a:t>
            </a:r>
          </a:p>
        </p:txBody>
      </p:sp>
      <p:sp>
        <p:nvSpPr>
          <p:cNvPr id="2" name="コードを読む：変える前に予想する"/>
          <p:cNvSpPr/>
          <p:nvPr/>
        </p:nvSpPr>
        <p:spPr>
          <a:xfrm>
            <a:off x="609600" y="695325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3220" b="1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TerminalからPythonを実行する</a:t>
            </a:r>
          </a:p>
        </p:txBody>
      </p:sp>
      <p:sp>
        <p:nvSpPr>
          <p:cNvPr id="3" name="抜粋です。完全な実行コードは配布Notebookにあります。"/>
          <p:cNvSpPr/>
          <p:nvPr/>
        </p:nvSpPr>
        <p:spPr>
          <a:xfrm>
            <a:off x="609600" y="1409700"/>
            <a:ext cx="109728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1720" dirty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Notebookでdistance_demo.pyを保存した後、Terminalへ入力する。</a:t>
            </a:r>
          </a:p>
        </p:txBody>
      </p:sp>
      <p:sp>
        <p:nvSpPr>
          <p:cNvPr id="4" name="">
            <a:extLst>
              <a:ext uri="{FF2B5EF4-FFF2-40B4-BE49-F238E27FC236}">
                <a16:creationId id="{65127A01-C134-4604-8027-27F693DFFA5A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5" name="読む → 予想する → 実行する → 変える → 説明する">
            <a:extLst>
              <a:ext uri="{FF2B5EF4-FFF2-40B4-BE49-F238E27FC236}">
                <a16:creationId id="{50040676-E69A-4C9E-BE60-0A99C2012778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読む → 予想する → 実行する → 変える → 説明する</a:t>
            </a:r>
          </a:p>
        </p:txBody>
      </p:sp>
      <p:sp>
        <p:nvSpPr>
          <p:cNvPr id="6" name="07">
            <a:extLst>
              <a:ext uri="{FF2B5EF4-FFF2-40B4-BE49-F238E27FC236}">
                <a16:creationId id="{0BCDA3C4-2155-4420-8DB7-C6B569E1A7A4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7" name="">
            <a:extLst>
              <a:ext uri="{FF2B5EF4-FFF2-40B4-BE49-F238E27FC236}">
                <a16:creationId id="{B5D5332D-4BE8-4F25-B0FF-A10225E5A33B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6638925" cy="3429000"/>
          </a:xfrm>
          <a:prstGeom prst="rect">
            <a:avLst/>
          </a:prstGeom>
          <a:solidFill>
            <a:srgbClr val="E5EEEA"/>
          </a:solidFill>
          <a:ln w="0">
            <a:noFill/>
          </a:ln>
        </p:spPr>
      </p:sp>
      <p:sp>
        <p:nvSpPr>
          <p:cNvPr id="8" name="def count_outside(angles, limit):"/>
          <p:cNvSpPr/>
          <p:nvPr/>
        </p:nvSpPr>
        <p:spPr>
          <a:xfrm>
            <a:off x="838200" y="2343150"/>
            <a:ext cx="6191250" cy="286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325"/>
              </a:lnSpc>
            </a:pPr>
            <a:r>
              <a:rPr lang="en-US" sz="18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cd /content/b3_lesson02</a:t>
            </a:r>
            <a:br/>
            <a:r>
              <a:rPr lang="en-US" sz="18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pwd</a:t>
            </a:r>
            <a:br/>
            <a:r>
              <a:rPr lang="en-US" sz="18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ls</a:t>
            </a:r>
            <a:br/>
            <a:r>
              <a:rPr lang="en-US" sz="18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cat distance_demo.py</a:t>
            </a:r>
            <a:br/>
            <a:r>
              <a:rPr lang="en-US" sz="18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python distance_demo.py</a:t>
            </a:r>
            <a:br/>
            <a:r>
              <a:rPr lang="en-US" sz="18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python distance_demo.py 10</a:t>
            </a:r>
          </a:p>
        </p:txBody>
      </p:sp>
      <p:sp>
        <p:nvSpPr>
          <p:cNvPr id="9" name="1  入力は何か"/>
          <p:cNvSpPr/>
          <p:nvPr/>
        </p:nvSpPr>
        <p:spPr>
          <a:xfrm>
            <a:off x="7734300" y="2295525"/>
            <a:ext cx="36957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180" b="1" dirty="0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 xml:space="preserve">1  命令の意味</a:t>
            </a:r>
          </a:p>
        </p:txBody>
      </p:sp>
      <p:sp>
        <p:nvSpPr>
          <p:cNvPr id="10" name="データ・状態・設定を区別する。"/>
          <p:cNvSpPr/>
          <p:nvPr/>
        </p:nvSpPr>
        <p:spPr>
          <a:xfrm>
            <a:off x="7734300" y="2819400"/>
            <a:ext cx="36957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325"/>
              </a:lnSpc>
            </a:pPr>
            <a:r>
              <a:rPr lang="ja-JP" sz="18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python：実行するプログラム</a:t>
            </a:r>
            <a:br/>
            <a:r>
              <a:rPr lang="ja-JP" sz="18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.py：読むファイル</a:t>
            </a:r>
          </a:p>
        </p:txBody>
      </p:sp>
      <p:sp>
        <p:nvSpPr>
          <p:cNvPr id="11" name="2  何を変更するか"/>
          <p:cNvSpPr/>
          <p:nvPr/>
        </p:nvSpPr>
        <p:spPr>
          <a:xfrm>
            <a:off x="7734300" y="3743325"/>
            <a:ext cx="36957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180" b="1" dirty="0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 xml:space="preserve">2  入力を変える</a:t>
            </a:r>
          </a:p>
        </p:txBody>
      </p:sp>
      <p:sp>
        <p:nvSpPr>
          <p:cNvPr id="12" name="一つの変数を選び、結果を予想する。"/>
          <p:cNvSpPr/>
          <p:nvPr/>
        </p:nvSpPr>
        <p:spPr>
          <a:xfrm>
            <a:off x="7734300" y="4276725"/>
            <a:ext cx="36957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325"/>
              </a:lnSpc>
            </a:pPr>
            <a:r>
              <a:rPr lang="ja-JP" sz="18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10：時間の引数［s］</a:t>
            </a:r>
            <a:br/>
            <a:r>
              <a:rPr lang="ja-JP" sz="18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予想と実際の距離を比べる</a:t>
            </a:r>
          </a:p>
        </p:txBody>
      </p:sp>
      <p:sp>
        <p:nvSpPr>
          <p:cNvPr id="13" name="実行しただけで終わらず、変更した行と結果を自分の言葉で説明する。"/>
          <p:cNvSpPr/>
          <p:nvPr/>
        </p:nvSpPr>
        <p:spPr>
          <a:xfrm>
            <a:off x="704850" y="5791200"/>
            <a:ext cx="10810875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1880" b="1" dirty="0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Terminalでは ! や %%bash を付けない。プロンプトも入力しない。</a:t>
            </a:r>
          </a:p>
        </p:txBody>
      </p:sp>
    </p:spTree>
    <p:extLst>
      <p:ext uri="{BB962C8B-B14F-4D97-AF65-F5344CB8AC3E}">
        <p14:creationId val="566435706"/>
      </p:ext>
    </p:extLst>
  </p:cSld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曹研究室 / B3  |  第2回 · Colab / Python">
            <a:extLst>
              <a:ext uri="{FF2B5EF4-FFF2-40B4-BE49-F238E27FC236}">
                <a16:creationId id="{EA75DEAE-793D-48CF-8D38-597F1695FDD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曹研究室 / B3  |  第2回 · Colab / Python</a:t>
            </a:r>
          </a:p>
        </p:txBody>
      </p:sp>
      <p:sp>
        <p:nvSpPr>
          <p:cNvPr id="2" name="今日の必須タスク"/>
          <p:cNvSpPr/>
          <p:nvPr/>
        </p:nvSpPr>
        <p:spPr>
          <a:xfrm>
            <a:off x="609600" y="695325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3220" b="1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エラーの原因を切り分ける</a:t>
            </a:r>
          </a:p>
        </p:txBody>
      </p:sp>
      <p:sp>
        <p:nvSpPr>
          <p:cNvPr id="3" name="予想・設定・結果・解釈をNotebookへ残す。"/>
          <p:cNvSpPr/>
          <p:nvPr/>
        </p:nvSpPr>
        <p:spPr>
          <a:xfrm>
            <a:off x="609600" y="1409700"/>
            <a:ext cx="109728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1720" dirty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存在しないファイル名や数値でない入力を試し、直して再実行する。</a:t>
            </a:r>
          </a:p>
        </p:txBody>
      </p:sp>
      <p:sp>
        <p:nvSpPr>
          <p:cNvPr id="4" name="">
            <a:extLst>
              <a:ext uri="{FF2B5EF4-FFF2-40B4-BE49-F238E27FC236}">
                <a16:creationId id="{E6FD4E2D-39D7-46AA-9485-0CAC000C3F30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5" name="読む → 予想する → 実行する → 変える → 説明する">
            <a:extLst>
              <a:ext uri="{FF2B5EF4-FFF2-40B4-BE49-F238E27FC236}">
                <a16:creationId id="{8F585E1B-0AFD-487F-883E-C3156D039886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読む → 予想する → 実行する → 変える → 説明する</a:t>
            </a:r>
          </a:p>
        </p:txBody>
      </p:sp>
      <p:sp>
        <p:nvSpPr>
          <p:cNvPr id="6" name="08">
            <a:extLst>
              <a:ext uri="{FF2B5EF4-FFF2-40B4-BE49-F238E27FC236}">
                <a16:creationId id="{A4CD154C-003D-4214-AB7C-B9D6F6148CB6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7" name="01">
            <a:extLst>
              <a:ext uri="{FF2B5EF4-FFF2-40B4-BE49-F238E27FC236}">
                <a16:creationId id="{CB94CC38-C78B-4F84-AA37-FD9B03FD793D}"/>
              </a:ext>
            </a:extLst>
          </p:cNvPr>
          <p:cNvSpPr>
            <a:spLocks noGrp="1"/>
          </p:cNvSpPr>
          <p:nvPr/>
        </p:nvSpPr>
        <p:spPr>
          <a:xfrm>
            <a:off x="714375" y="21812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8" name="count_outsideの境界値を確かめる"/>
          <p:cNvSpPr/>
          <p:nvPr/>
        </p:nvSpPr>
        <p:spPr>
          <a:xfrm>
            <a:off x="1666875" y="22002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25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No such file：pwd・ls・保存を確認</a:t>
            </a:r>
          </a:p>
        </p:txBody>
      </p:sp>
      <p:sp>
        <p:nvSpPr>
          <p:cNvPr id="9" name="">
            <a:extLst>
              <a:ext uri="{FF2B5EF4-FFF2-40B4-BE49-F238E27FC236}">
                <a16:creationId id="{CE470EEB-5DA8-4B6F-8B86-C6874F80CB33}"/>
              </a:ext>
            </a:extLst>
          </p:cNvPr>
          <p:cNvSpPr>
            <a:spLocks noGrp="1"/>
          </p:cNvSpPr>
          <p:nvPr/>
        </p:nvSpPr>
        <p:spPr>
          <a:xfrm>
            <a:off x="1666875" y="3124200"/>
            <a:ext cx="9667875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0" name="02">
            <a:extLst>
              <a:ext uri="{FF2B5EF4-FFF2-40B4-BE49-F238E27FC236}">
                <a16:creationId id="{58FB995D-5FA2-4845-8617-453D5C9BDDF8}"/>
              </a:ext>
            </a:extLst>
          </p:cNvPr>
          <p:cNvSpPr>
            <a:spLocks noGrp="1"/>
          </p:cNvSpPr>
          <p:nvPr/>
        </p:nvSpPr>
        <p:spPr>
          <a:xfrm>
            <a:off x="714375" y="32480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11" name="二つの時系列を同じ軸で比べる"/>
          <p:cNvSpPr/>
          <p:nvPr/>
        </p:nvSpPr>
        <p:spPr>
          <a:xfrm>
            <a:off x="1666875" y="32670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25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NameError：変数やimportの定義を確認</a:t>
            </a:r>
          </a:p>
        </p:txBody>
      </p:sp>
      <p:sp>
        <p:nvSpPr>
          <p:cNvPr id="12" name="">
            <a:extLst>
              <a:ext uri="{FF2B5EF4-FFF2-40B4-BE49-F238E27FC236}">
                <a16:creationId id="{6CE78C3E-B212-470D-BC7B-955CF691B696}"/>
              </a:ext>
            </a:extLst>
          </p:cNvPr>
          <p:cNvSpPr>
            <a:spLocks noGrp="1"/>
          </p:cNvSpPr>
          <p:nvPr/>
        </p:nvSpPr>
        <p:spPr>
          <a:xfrm>
            <a:off x="1666875" y="4191000"/>
            <a:ext cx="9667875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3" name="03">
            <a:extLst>
              <a:ext uri="{FF2B5EF4-FFF2-40B4-BE49-F238E27FC236}">
                <a16:creationId id="{5E42BA45-3C92-4454-B5C0-7CB2E47237A4}"/>
              </a:ext>
            </a:extLst>
          </p:cNvPr>
          <p:cNvSpPr>
            <a:spLocks noGrp="1"/>
          </p:cNvSpPr>
          <p:nvPr/>
        </p:nvSpPr>
        <p:spPr>
          <a:xfrm>
            <a:off x="714375" y="43148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14" name="CSVを読み直し、元の値と照合する"/>
          <p:cNvSpPr/>
          <p:nvPr/>
        </p:nvSpPr>
        <p:spPr>
          <a:xfrm>
            <a:off x="1666875" y="43338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25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ValueError：引数fiveを5へ直して確認</a:t>
            </a:r>
          </a:p>
        </p:txBody>
      </p:sp>
    </p:spTree>
    <p:extLst>
      <p:ext uri="{BB962C8B-B14F-4D97-AF65-F5344CB8AC3E}">
        <p14:creationId val="11278199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曹研究室 / B3  |  第2回 · Colab / Python">
            <a:extLst xmlns:a="http://schemas.openxmlformats.org/drawingml/2006/main">
              <a:ext uri="{FF2B5EF4-FFF2-40B4-BE49-F238E27FC236}">
                <a16:creationId xmlns:a16="http://schemas.microsoft.com/office/drawing/2014/main" id="{FFD984D7-6854-4273-97FB-B914059E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曹研究室 / B3  |  第2回 · Colab / Python</a:t>
            </a:r>
          </a:p>
        </p:txBody>
      </p:sp>
      <p:sp>
        <p:nvSpPr>
          <p:cNvPr id="2" name="実行例から、確認のしかたを学ぶ">
            <a:extLst xmlns:a="http://schemas.openxmlformats.org/drawingml/2006/main">
              <a:ext uri="{FF2B5EF4-FFF2-40B4-BE49-F238E27FC236}">
                <a16:creationId xmlns:a16="http://schemas.microsoft.com/office/drawing/2014/main" id="{3B9D1BE4-8656-40CC-AEF8-FF81BB03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225" b="1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実行例から、確認のしかたを学ぶ</a:t>
            </a:r>
          </a:p>
        </p:txBody>
      </p:sp>
      <p:sp>
        <p:nvSpPr>
          <p:cNvPr id="3" name="教材の既定条件による例。自分の変更結果も確認する。">
            <a:extLst xmlns:a="http://schemas.openxmlformats.org/drawingml/2006/main">
              <a:ext uri="{FF2B5EF4-FFF2-40B4-BE49-F238E27FC236}">
                <a16:creationId xmlns:a16="http://schemas.microsoft.com/office/drawing/2014/main" id="{9AAA60C9-2729-41AB-942F-E76614F0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7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教材の既定条件による例。自分の変更結果も確認する。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48C96-79F6-48AD-9C3A-99AC54A3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0"/>
          </a:solidFill>
          <a:ln xmlns:a="http://schemas.openxmlformats.org/drawingml/2006/main" w="0">
            <a:noFill/>
          </a:ln>
        </p:spPr>
      </p:sp>
      <p:sp>
        <p:nvSpPr>
          <p:cNvPr id="5" name="読む → 予想する → 実行する → 変える → 説明する">
            <a:extLst xmlns:a="http://schemas.openxmlformats.org/drawingml/2006/main">
              <a:ext uri="{FF2B5EF4-FFF2-40B4-BE49-F238E27FC236}">
                <a16:creationId xmlns:a16="http://schemas.microsoft.com/office/drawing/2014/main" id="{9675C3C7-F29B-440C-81C4-5161F9E0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読む → 予想する → 実行する → 変える → 説明する</a:t>
            </a:r>
          </a:p>
        </p:txBody>
      </p:sp>
      <p:sp>
        <p:nvSpPr>
          <p:cNvPr id="6" name="09">
            <a:extLst xmlns:a="http://schemas.openxmlformats.org/drawingml/2006/main">
              <a:ext uri="{FF2B5EF4-FFF2-40B4-BE49-F238E27FC236}">
                <a16:creationId xmlns:a16="http://schemas.microsoft.com/office/drawing/2014/main" id="{F57AE0A4-23A0-4A34-92E4-7DC8536E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7334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3032a98b134536"/>
          </a:graphicData>
        </a:graphic>
      </p:graphicFrame>
      <p:sp>
        <p:nvSpPr>
          <p:cNvPr id="8" name="実測・制御結果ではなく、&#10;描画練習の架空データ。&#10;&#10;凡例・単位・しきい">
            <a:extLst xmlns:a="http://schemas.openxmlformats.org/drawingml/2006/main">
              <a:ext uri="{FF2B5EF4-FFF2-40B4-BE49-F238E27FC236}">
                <a16:creationId xmlns:a16="http://schemas.microsoft.com/office/drawing/2014/main" id="{76860CF3-AF76-4A57-86C6-57ECD231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31146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実測・制御結果ではなく、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描画練習の架空データ。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凡例・単位・しきい値を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自分の図にも付ける。</a:t>
            </a:r>
          </a:p>
        </p:txBody>
      </p:sp>
    </p:spTree>
    <p:extLst>
      <p:ext uri="{BB962C8B-B14F-4D97-AF65-F5344CB8AC3E}">
        <p14:creationId xmlns:p14="http://schemas.microsoft.com/office/powerpoint/2010/main" val="1388805983"/>
      </p:ext>
    </p:extLst>
  </p:cSld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曹研究室 / B3  |  第2回 · Colab / Python">
            <a:extLst>
              <a:ext uri="{FF2B5EF4-FFF2-40B4-BE49-F238E27FC236}">
                <a16:creationId id="{65899F92-64A6-49F2-BD8E-E8311237302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曹研究室 / B3  |  第2回 · Colab / Python</a:t>
            </a:r>
          </a:p>
        </p:txBody>
      </p:sp>
      <p:sp>
        <p:nvSpPr>
          <p:cNvPr id="2" name="提出前のチェック"/>
          <p:cNvSpPr/>
          <p:nvPr/>
        </p:nvSpPr>
        <p:spPr>
          <a:xfrm>
            <a:off x="609600" y="695325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3220" b="1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実行とコンパイルの違い</a:t>
            </a:r>
          </a:p>
        </p:txBody>
      </p:sp>
      <p:sp>
        <p:nvSpPr>
          <p:cNvPr id="3" name="チェックだけでなく、根拠のセルや図を示す。"/>
          <p:cNvSpPr/>
          <p:nvPr/>
        </p:nvSpPr>
        <p:spPr>
          <a:xfrm>
            <a:off x="609600" y="1409700"/>
            <a:ext cx="109728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1720" dirty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通常はpythonで実行。py_compileは構文を確認し、バイトコードを作る。</a:t>
            </a:r>
          </a:p>
        </p:txBody>
      </p:sp>
      <p:sp>
        <p:nvSpPr>
          <p:cNvPr id="4" name="">
            <a:extLst>
              <a:ext uri="{FF2B5EF4-FFF2-40B4-BE49-F238E27FC236}">
                <a16:creationId id="{63F3A7B1-0E89-4A0B-BB69-4BED8DE10D8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5" name="読む → 予想する → 実行する → 変える → 説明する">
            <a:extLst>
              <a:ext uri="{FF2B5EF4-FFF2-40B4-BE49-F238E27FC236}">
                <a16:creationId id="{0AE0FDB2-53E0-492D-8CB8-681E8AC2FF6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読む → 予想する → 実行する → 変える → 説明する</a:t>
            </a:r>
          </a:p>
        </p:txBody>
      </p:sp>
      <p:sp>
        <p:nvSpPr>
          <p:cNvPr id="6" name="10">
            <a:extLst>
              <a:ext uri="{FF2B5EF4-FFF2-40B4-BE49-F238E27FC236}">
                <a16:creationId id="{CF28DBC7-44C7-4878-BC43-E5E9393F4E40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7" name="01">
            <a:extLst>
              <a:ext uri="{FF2B5EF4-FFF2-40B4-BE49-F238E27FC236}">
                <a16:creationId id="{02849E33-91EA-4D61-A24C-07B50AA1A03B}"/>
              </a:ext>
            </a:extLst>
          </p:cNvPr>
          <p:cNvSpPr>
            <a:spLocks noGrp="1"/>
          </p:cNvSpPr>
          <p:nvPr/>
        </p:nvSpPr>
        <p:spPr>
          <a:xfrm>
            <a:off x="714375" y="21812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8" name="±limitと等しい値は数えない"/>
          <p:cNvSpPr/>
          <p:nvPr/>
        </p:nvSpPr>
        <p:spPr>
          <a:xfrm>
            <a:off x="1666875" y="22002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1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実行：python distance_demo.py</a:t>
            </a:r>
          </a:p>
        </p:txBody>
      </p:sp>
      <p:sp>
        <p:nvSpPr>
          <p:cNvPr id="9" name="">
            <a:extLst>
              <a:ext uri="{FF2B5EF4-FFF2-40B4-BE49-F238E27FC236}">
                <a16:creationId id="{6081AF3D-B6B2-4E95-BAE3-18ECC236AD83}"/>
              </a:ext>
            </a:extLst>
          </p:cNvPr>
          <p:cNvSpPr>
            <a:spLocks noGrp="1"/>
          </p:cNvSpPr>
          <p:nvPr/>
        </p:nvSpPr>
        <p:spPr>
          <a:xfrm>
            <a:off x="1666875" y="3124200"/>
            <a:ext cx="9667875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0" name="02">
            <a:extLst>
              <a:ext uri="{FF2B5EF4-FFF2-40B4-BE49-F238E27FC236}">
                <a16:creationId id="{1114ED8F-21B3-4B47-8AE3-7929D0CBD480}"/>
              </a:ext>
            </a:extLst>
          </p:cNvPr>
          <p:cNvSpPr>
            <a:spLocks noGrp="1"/>
          </p:cNvSpPr>
          <p:nvPr/>
        </p:nvSpPr>
        <p:spPr>
          <a:xfrm>
            <a:off x="714375" y="32480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11" name="二つの図に単位と凡例がある"/>
          <p:cNvSpPr/>
          <p:nvPr/>
        </p:nvSpPr>
        <p:spPr>
          <a:xfrm>
            <a:off x="1666875" y="32670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1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確認：python -m py_compile distance_demo.py</a:t>
            </a:r>
          </a:p>
        </p:txBody>
      </p:sp>
      <p:sp>
        <p:nvSpPr>
          <p:cNvPr id="12" name="">
            <a:extLst>
              <a:ext uri="{FF2B5EF4-FFF2-40B4-BE49-F238E27FC236}">
                <a16:creationId id="{20D7B3FF-B714-4025-A2B4-2D5C9DEE79FD}"/>
              </a:ext>
            </a:extLst>
          </p:cNvPr>
          <p:cNvSpPr>
            <a:spLocks noGrp="1"/>
          </p:cNvSpPr>
          <p:nvPr/>
        </p:nvSpPr>
        <p:spPr>
          <a:xfrm>
            <a:off x="1666875" y="4191000"/>
            <a:ext cx="9667875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3" name="03">
            <a:extLst>
              <a:ext uri="{FF2B5EF4-FFF2-40B4-BE49-F238E27FC236}">
                <a16:creationId id="{129BF117-DB46-4FA3-9AC2-AFB159A25B03}"/>
              </a:ext>
            </a:extLst>
          </p:cNvPr>
          <p:cNvSpPr>
            <a:spLocks noGrp="1"/>
          </p:cNvSpPr>
          <p:nvPr/>
        </p:nvSpPr>
        <p:spPr>
          <a:xfrm>
            <a:off x="714375" y="4314825"/>
            <a:ext cx="6477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6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14" name="CSVの列名と行数を説明できる"/>
          <p:cNvSpPr/>
          <p:nvPr/>
        </p:nvSpPr>
        <p:spPr>
          <a:xfrm>
            <a:off x="1666875" y="4333875"/>
            <a:ext cx="96678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1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コンパイル成功後も、入力と出力を検証する</a:t>
            </a:r>
          </a:p>
        </p:txBody>
      </p:sp>
    </p:spTree>
    <p:extLst>
      <p:ext uri="{BB962C8B-B14F-4D97-AF65-F5344CB8AC3E}">
        <p14:creationId val="975513943"/>
      </p:ext>
    </p:extLst>
  </p:cSld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曹研究室 / B3  |  第2回 · Colab / Python">
            <a:extLst>
              <a:ext uri="{FF2B5EF4-FFF2-40B4-BE49-F238E27FC236}">
                <a16:creationId id="{BC51E19F-5415-4D8A-95F5-9D30C6AB9AF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曹研究室 / B3  |  第2回 · Colab / Python</a:t>
            </a:r>
          </a:p>
        </p:txBody>
      </p:sp>
      <p:sp>
        <p:nvSpPr>
          <p:cNvPr id="2" name="保存して、隣の人に説明する"/>
          <p:cNvSpPr/>
          <p:nvPr/>
        </p:nvSpPr>
        <p:spPr>
          <a:xfrm>
            <a:off x="609600" y="695325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3220" b="1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保存して、操作と結果を説明する</a:t>
            </a:r>
          </a:p>
        </p:txBody>
      </p:sp>
      <p:sp>
        <p:nvSpPr>
          <p:cNvPr id="3" name="結果の紹介に加えて、自分の変更と解釈を示す。"/>
          <p:cNvSpPr/>
          <p:nvPr/>
        </p:nvSpPr>
        <p:spPr>
          <a:xfrm>
            <a:off x="609600" y="1409700"/>
            <a:ext cx="109728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1720" dirty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Terminalの履歴はNotebookへ自動保存されない。命令と出力を残す。</a:t>
            </a:r>
          </a:p>
        </p:txBody>
      </p:sp>
      <p:sp>
        <p:nvSpPr>
          <p:cNvPr id="4" name="">
            <a:extLst>
              <a:ext uri="{FF2B5EF4-FFF2-40B4-BE49-F238E27FC236}">
                <a16:creationId id="{F44F6739-905A-451D-8E52-5F20B107AD9F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5" name="読む → 予想する → 実行する → 変える → 説明する">
            <a:extLst>
              <a:ext uri="{FF2B5EF4-FFF2-40B4-BE49-F238E27FC236}">
                <a16:creationId id="{0B27B648-6963-4FAC-A86B-D0CC71A6972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読む → 予想する → 実行する → 変える → 説明する</a:t>
            </a:r>
          </a:p>
        </p:txBody>
      </p:sp>
      <p:sp>
        <p:nvSpPr>
          <p:cNvPr id="6" name="11">
            <a:extLst>
              <a:ext uri="{FF2B5EF4-FFF2-40B4-BE49-F238E27FC236}">
                <a16:creationId id="{0B8FAA53-F479-472A-BFB5-F12790E9B612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7" name="残すもの">
            <a:extLst>
              <a:ext uri="{FF2B5EF4-FFF2-40B4-BE49-F238E27FC236}">
                <a16:creationId id="{0AC4DA21-C393-4A4E-AD95-294C64FBFFE1}"/>
              </a:ext>
            </a:extLst>
          </p:cNvPr>
          <p:cNvSpPr>
            <a:spLocks noGrp="1"/>
          </p:cNvSpPr>
          <p:nvPr/>
        </p:nvSpPr>
        <p:spPr>
          <a:xfrm>
            <a:off x="619125" y="2085975"/>
            <a:ext cx="5810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325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残すもの</a:t>
            </a:r>
          </a:p>
        </p:txBody>
      </p:sp>
      <p:sp>
        <p:nvSpPr>
          <p:cNvPr id="8" name="1  Notebook"/>
          <p:cNvSpPr/>
          <p:nvPr/>
        </p:nvSpPr>
        <p:spPr>
          <a:xfrm>
            <a:off x="619125" y="2686050"/>
            <a:ext cx="60198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1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 xml:space="preserve">1  T1–T5の回答・命令・結果</a:t>
            </a:r>
          </a:p>
        </p:txBody>
      </p:sp>
      <p:sp>
        <p:nvSpPr>
          <p:cNvPr id="9" name="2  時系列図・誤差の図"/>
          <p:cNvSpPr/>
          <p:nvPr/>
        </p:nvSpPr>
        <p:spPr>
          <a:xfrm>
            <a:off x="619125" y="3438525"/>
            <a:ext cx="60198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1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 xml:space="preserve">2  distance_demo.py・result.txt</a:t>
            </a:r>
          </a:p>
        </p:txBody>
      </p:sp>
      <p:sp>
        <p:nvSpPr>
          <p:cNvPr id="10" name="3  CSVと関数の説明"/>
          <p:cNvSpPr/>
          <p:nvPr/>
        </p:nvSpPr>
        <p:spPr>
          <a:xfrm>
            <a:off x="619125" y="4191000"/>
            <a:ext cx="60198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1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 xml:space="preserve">3  単位付きの図・CSV</a:t>
            </a:r>
          </a:p>
        </p:txBody>
      </p:sp>
      <p:sp>
        <p:nvSpPr>
          <p:cNvPr id="11" name="">
            <a:extLst>
              <a:ext uri="{FF2B5EF4-FFF2-40B4-BE49-F238E27FC236}">
                <a16:creationId id="{A9F76B55-96EC-466C-A1A4-3ED3F94456AC}"/>
              </a:ext>
            </a:extLst>
          </p:cNvPr>
          <p:cNvSpPr>
            <a:spLocks noGrp="1"/>
          </p:cNvSpPr>
          <p:nvPr/>
        </p:nvSpPr>
        <p:spPr>
          <a:xfrm>
            <a:off x="7105650" y="2076450"/>
            <a:ext cx="19050" cy="3257550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2" name="説明の順序">
            <a:extLst>
              <a:ext uri="{FF2B5EF4-FFF2-40B4-BE49-F238E27FC236}">
                <a16:creationId id="{4A664E83-4973-4411-B7C6-830B6865C6CB}"/>
              </a:ext>
            </a:extLst>
          </p:cNvPr>
          <p:cNvSpPr>
            <a:spLocks noGrp="1"/>
          </p:cNvSpPr>
          <p:nvPr/>
        </p:nvSpPr>
        <p:spPr>
          <a:xfrm>
            <a:off x="7562850" y="2085975"/>
            <a:ext cx="39338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3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説明の順序</a:t>
            </a:r>
          </a:p>
        </p:txBody>
      </p:sp>
      <p:sp>
        <p:nvSpPr>
          <p:cNvPr id="13" name="問いと予想 比較条件と自分の作業 根拠となる図・数値 解釈と残っている"/>
          <p:cNvSpPr/>
          <p:nvPr/>
        </p:nvSpPr>
        <p:spPr>
          <a:xfrm>
            <a:off x="7562850" y="2667000"/>
            <a:ext cx="3933825" cy="2219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697"/>
              </a:lnSpc>
            </a:pPr>
            <a:r>
              <a:rPr lang="ja-JP" sz="21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どこで、何を実行したか</a:t>
            </a:r>
            <a:br/>
            <a:r>
              <a:rPr lang="ja-JP" sz="21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何を変更したか</a:t>
            </a:r>
            <a:br/>
            <a:r>
              <a:rPr lang="ja-JP" sz="21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どんな結果だったか</a:t>
            </a:r>
            <a:br/>
            <a:r>
              <a:rPr lang="ja-JP" sz="218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エラーをどう直したか</a:t>
            </a:r>
          </a:p>
        </p:txBody>
      </p:sp>
      <p:sp>
        <p:nvSpPr>
          <p:cNvPr id="14" name="PPT発表なし">
            <a:extLst>
              <a:ext uri="{FF2B5EF4-FFF2-40B4-BE49-F238E27FC236}">
                <a16:creationId id="{0FC5857F-FC89-4D35-956A-177B77026E1E}"/>
              </a:ext>
            </a:extLst>
          </p:cNvPr>
          <p:cNvSpPr>
            <a:spLocks noGrp="1"/>
          </p:cNvSpPr>
          <p:nvPr/>
        </p:nvSpPr>
        <p:spPr>
          <a:xfrm>
            <a:off x="619125" y="56578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21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PPT発表なし</a:t>
            </a:r>
          </a:p>
        </p:txBody>
      </p:sp>
    </p:spTree>
    <p:extLst>
      <p:ext uri="{BB962C8B-B14F-4D97-AF65-F5344CB8AC3E}">
        <p14:creationId val="43899604"/>
      </p:ext>
    </p:extLst>
  </p:cSld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曹研究室 / B3  |  第2回 · Colab / Python">
            <a:extLst>
              <a:ext uri="{FF2B5EF4-FFF2-40B4-BE49-F238E27FC236}">
                <a16:creationId id="{8D062BB6-A9FE-4288-9784-BFF4DAA1F63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5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曹研究室 / B3  |  第2回 · Colab / Python</a:t>
            </a:r>
          </a:p>
        </p:txBody>
      </p:sp>
      <p:sp>
        <p:nvSpPr>
          <p:cNvPr id="2" name="最後に、自分の言葉で残す"/>
          <p:cNvSpPr/>
          <p:nvPr/>
        </p:nvSpPr>
        <p:spPr>
          <a:xfrm>
            <a:off x="609600" y="695325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3220" b="1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自分で実行・診断できるか</a:t>
            </a:r>
          </a:p>
        </p:txBody>
      </p:sp>
      <p:sp>
        <p:nvSpPr>
          <p:cNvPr id="3" name="プログラムと説明を同じNotebookに保存する。"/>
          <p:cNvSpPr/>
          <p:nvPr/>
        </p:nvSpPr>
        <p:spPr>
          <a:xfrm>
            <a:off x="609600" y="1409700"/>
            <a:ext cx="109728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1720" dirty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関数・配列・図・CSVは後半で確認する。Terminalの操作が中心。</a:t>
            </a:r>
          </a:p>
        </p:txBody>
      </p:sp>
      <p:sp>
        <p:nvSpPr>
          <p:cNvPr id="4" name="">
            <a:extLst>
              <a:ext uri="{FF2B5EF4-FFF2-40B4-BE49-F238E27FC236}">
                <a16:creationId id="{0D19909E-8B83-4423-830D-94BA0B9276BD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5" name="読む → 予想する → 実行する → 変える → 説明する">
            <a:extLst>
              <a:ext uri="{FF2B5EF4-FFF2-40B4-BE49-F238E27FC236}">
                <a16:creationId id="{CDBA7B04-8679-47A9-AA5B-A0E19D2A8D8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読む → 予想する → 実行する → 変える → 説明する</a:t>
            </a:r>
          </a:p>
        </p:txBody>
      </p:sp>
      <p:sp>
        <p:nvSpPr>
          <p:cNvPr id="6" name="12">
            <a:extLst>
              <a:ext uri="{FF2B5EF4-FFF2-40B4-BE49-F238E27FC236}">
                <a16:creationId id="{4CE0A583-CFF8-48A4-9FA0-EC69F326B5F8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5C6B6B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7" name="何を変え、何が分かったか。"/>
          <p:cNvSpPr/>
          <p:nvPr/>
        </p:nvSpPr>
        <p:spPr>
          <a:xfrm>
            <a:off x="638175" y="2238375"/>
            <a:ext cx="10668000" cy="657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3220" b="1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ファイルを探し、Pythonを動かせるか。</a:t>
            </a:r>
          </a:p>
        </p:txBody>
      </p:sp>
      <p:sp>
        <p:nvSpPr>
          <p:cNvPr id="8" name="今日の結果から、まだ言えないことは何か。"/>
          <p:cNvSpPr/>
          <p:nvPr/>
        </p:nvSpPr>
        <p:spPr>
          <a:xfrm>
            <a:off x="638175" y="3219450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620" b="1" dirty="0">
                <a:solidFill>
                  <a:srgbClr val="247C7A"/>
                </a:solidFill>
                <a:latin typeface="Noto Sans CJK JP"/>
                <a:ea typeface="Noto Sans CJK JP"/>
                <a:cs typeface="Noto Sans CJK JP"/>
              </a:rPr>
              <a:t>保存・実行・コンパイルの違いを説明できるか。</a:t>
            </a:r>
          </a:p>
        </p:txBody>
      </p:sp>
      <p:sp>
        <p:nvSpPr>
          <p:cNvPr id="9" name="">
            <a:extLst>
              <a:ext uri="{FF2B5EF4-FFF2-40B4-BE49-F238E27FC236}">
                <a16:creationId id="{A3645E3B-6AC0-4C8E-8EBC-AAAB33E67B21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10877550" cy="9525"/>
          </a:xfrm>
          <a:prstGeom prst="rect">
            <a:avLst/>
          </a:prstGeom>
          <a:solidFill>
            <a:srgbClr val="C8D4D0"/>
          </a:solidFill>
          <a:ln w="0">
            <a:noFill/>
          </a:ln>
        </p:spPr>
      </p:sp>
      <p:sp>
        <p:nvSpPr>
          <p:cNvPr id="10" name="次へ">
            <a:extLst>
              <a:ext uri="{FF2B5EF4-FFF2-40B4-BE49-F238E27FC236}">
                <a16:creationId id="{9122FA1E-01E5-4993-8465-CB150FD8A3FC}"/>
              </a:ext>
            </a:extLst>
          </p:cNvPr>
          <p:cNvSpPr>
            <a:spLocks noGrp="1"/>
          </p:cNvSpPr>
          <p:nvPr/>
        </p:nvSpPr>
        <p:spPr>
          <a:xfrm>
            <a:off x="638175" y="46767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sz="1950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C9633D"/>
                </a:solidFill>
                <a:latin typeface="Noto Sans CJK JP"/>
                <a:ea typeface="Noto Sans CJK JP"/>
                <a:cs typeface="Noto Sans CJK JP"/>
              </a:rPr>
              <a:t>次へ</a:t>
            </a:r>
          </a:p>
        </p:txBody>
      </p:sp>
      <p:sp>
        <p:nvSpPr>
          <p:cNvPr id="11" name="第3回：架空データからMuJoCoのログへ。"/>
          <p:cNvSpPr/>
          <p:nvPr/>
        </p:nvSpPr>
        <p:spPr>
          <a:xfrm>
            <a:off x="638175" y="5191125"/>
            <a:ext cx="10668000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ja-JP" sz="2400" dirty="0">
                <a:solidFill>
                  <a:srgbClr val="17323B"/>
                </a:solidFill>
                <a:latin typeface="Noto Sans CJK JP"/>
                <a:ea typeface="Noto Sans CJK JP"/>
                <a:cs typeface="Noto Sans CJK JP"/>
              </a:rPr>
              <a:t>第3回：この手順を使ってMuJoCoを動かす。</a:t>
            </a:r>
          </a:p>
        </p:txBody>
      </p:sp>
    </p:spTree>
    <p:extLst>
      <p:ext uri="{BB962C8B-B14F-4D97-AF65-F5344CB8AC3E}">
        <p14:creationId val="1228066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2026-09-23T08:22:38.7450000Z</dcterms:created>
  <dcterms:modified xsi:type="dcterms:W3CDTF">2026-09-23T08:22:38.7450000Z</dcterms:modified>
</coreProperties>
</file>